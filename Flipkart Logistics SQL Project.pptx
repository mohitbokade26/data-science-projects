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6" r:id="rId2"/>
    <p:sldId id="274" r:id="rId3"/>
    <p:sldId id="275" r:id="rId4"/>
    <p:sldId id="272" r:id="rId5"/>
    <p:sldId id="273" r:id="rId6"/>
    <p:sldId id="270" r:id="rId7"/>
    <p:sldId id="271" r:id="rId8"/>
    <p:sldId id="266" r:id="rId9"/>
    <p:sldId id="267" r:id="rId10"/>
    <p:sldId id="268" r:id="rId11"/>
    <p:sldId id="269" r:id="rId12"/>
    <p:sldId id="262" r:id="rId13"/>
    <p:sldId id="263" r:id="rId14"/>
    <p:sldId id="264" r:id="rId15"/>
    <p:sldId id="265" r:id="rId16"/>
    <p:sldId id="257" r:id="rId17"/>
    <p:sldId id="256" r:id="rId18"/>
    <p:sldId id="259" r:id="rId19"/>
    <p:sldId id="258" r:id="rId20"/>
    <p:sldId id="261" r:id="rId21"/>
    <p:sldId id="260"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2" d="100"/>
          <a:sy n="82" d="100"/>
        </p:scale>
        <p:origin x="72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mohit\Downloads\Shipment_Tracking_Analysis.csv"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mohit\Downloads\Average%20delivery%20delay%201.csv"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dirty="0">
                <a:solidFill>
                  <a:schemeClr val="tx1"/>
                </a:solidFill>
                <a:latin typeface="Calibri" panose="020F0502020204030204" pitchFamily="34" charset="0"/>
                <a:cs typeface="Calibri" panose="020F0502020204030204" pitchFamily="34" charset="0"/>
              </a:rPr>
              <a:t>Distance</a:t>
            </a:r>
            <a:r>
              <a:rPr lang="en-US" b="1" baseline="0" dirty="0">
                <a:solidFill>
                  <a:schemeClr val="tx1"/>
                </a:solidFill>
                <a:latin typeface="Calibri" panose="020F0502020204030204" pitchFamily="34" charset="0"/>
                <a:cs typeface="Calibri" panose="020F0502020204030204" pitchFamily="34" charset="0"/>
              </a:rPr>
              <a:t> </a:t>
            </a:r>
            <a:r>
              <a:rPr lang="en-US" b="1" dirty="0">
                <a:solidFill>
                  <a:schemeClr val="tx1"/>
                </a:solidFill>
                <a:latin typeface="Calibri" panose="020F0502020204030204" pitchFamily="34" charset="0"/>
                <a:cs typeface="Calibri" panose="020F0502020204030204" pitchFamily="34" charset="0"/>
              </a:rPr>
              <a:t>to</a:t>
            </a:r>
            <a:r>
              <a:rPr lang="en-US" b="1" baseline="0" dirty="0">
                <a:solidFill>
                  <a:schemeClr val="tx1"/>
                </a:solidFill>
                <a:latin typeface="Calibri" panose="020F0502020204030204" pitchFamily="34" charset="0"/>
                <a:cs typeface="Calibri" panose="020F0502020204030204" pitchFamily="34" charset="0"/>
              </a:rPr>
              <a:t> </a:t>
            </a:r>
            <a:r>
              <a:rPr lang="en-US" b="1" dirty="0">
                <a:solidFill>
                  <a:schemeClr val="tx1"/>
                </a:solidFill>
                <a:latin typeface="Calibri" panose="020F0502020204030204" pitchFamily="34" charset="0"/>
                <a:cs typeface="Calibri" panose="020F0502020204030204" pitchFamily="34" charset="0"/>
              </a:rPr>
              <a:t>time</a:t>
            </a:r>
            <a:r>
              <a:rPr lang="en-US" b="1" baseline="0" dirty="0">
                <a:solidFill>
                  <a:schemeClr val="tx1"/>
                </a:solidFill>
                <a:latin typeface="Calibri" panose="020F0502020204030204" pitchFamily="34" charset="0"/>
                <a:cs typeface="Calibri" panose="020F0502020204030204" pitchFamily="34" charset="0"/>
              </a:rPr>
              <a:t> </a:t>
            </a:r>
            <a:r>
              <a:rPr lang="en-US" b="1" dirty="0">
                <a:solidFill>
                  <a:schemeClr val="tx1"/>
                </a:solidFill>
                <a:latin typeface="Calibri" panose="020F0502020204030204" pitchFamily="34" charset="0"/>
                <a:cs typeface="Calibri" panose="020F0502020204030204" pitchFamily="34" charset="0"/>
              </a:rPr>
              <a:t>efficiency per route</a:t>
            </a:r>
          </a:p>
        </c:rich>
      </c:tx>
      <c:layout>
        <c:manualLayout>
          <c:xMode val="edge"/>
          <c:yMode val="edge"/>
          <c:x val="0.1102966487484254"/>
          <c:y val="4.5977011494252873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'worst distance to time efficien'!$F$1</c:f>
              <c:strCache>
                <c:ptCount val="1"/>
                <c:pt idx="0">
                  <c:v>distance_to_time_efficiency</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'worst distance to time efficien'!$A$2:$A$4</c:f>
              <c:strCache>
                <c:ptCount val="3"/>
                <c:pt idx="0">
                  <c:v>RT_13</c:v>
                </c:pt>
                <c:pt idx="1">
                  <c:v>RT_14</c:v>
                </c:pt>
                <c:pt idx="2">
                  <c:v>RT_03</c:v>
                </c:pt>
              </c:strCache>
            </c:strRef>
          </c:cat>
          <c:val>
            <c:numRef>
              <c:f>'worst distance to time efficien'!$F$2:$F$4</c:f>
              <c:numCache>
                <c:formatCode>General</c:formatCode>
                <c:ptCount val="3"/>
                <c:pt idx="0">
                  <c:v>0.73</c:v>
                </c:pt>
                <c:pt idx="1">
                  <c:v>1</c:v>
                </c:pt>
                <c:pt idx="2">
                  <c:v>1.1299999999999999</c:v>
                </c:pt>
              </c:numCache>
            </c:numRef>
          </c:val>
          <c:extLst>
            <c:ext xmlns:c16="http://schemas.microsoft.com/office/drawing/2014/chart" uri="{C3380CC4-5D6E-409C-BE32-E72D297353CC}">
              <c16:uniqueId val="{00000000-E2F2-46FD-8C8D-FB7840E00CFF}"/>
            </c:ext>
          </c:extLst>
        </c:ser>
        <c:dLbls>
          <c:dLblPos val="outEnd"/>
          <c:showLegendKey val="0"/>
          <c:showVal val="1"/>
          <c:showCatName val="0"/>
          <c:showSerName val="0"/>
          <c:showPercent val="0"/>
          <c:showBubbleSize val="0"/>
        </c:dLbls>
        <c:gapWidth val="219"/>
        <c:overlap val="-27"/>
        <c:axId val="1201457567"/>
        <c:axId val="1201462367"/>
      </c:barChart>
      <c:catAx>
        <c:axId val="1201457567"/>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r>
                  <a:rPr lang="en-US" b="1" dirty="0">
                    <a:solidFill>
                      <a:schemeClr val="tx1"/>
                    </a:solidFill>
                    <a:latin typeface="Calibri" panose="020F0502020204030204" pitchFamily="34" charset="0"/>
                    <a:cs typeface="Calibri" panose="020F0502020204030204" pitchFamily="34" charset="0"/>
                  </a:rPr>
                  <a:t>Routes</a:t>
                </a:r>
                <a:endParaRPr lang="en-IN" b="1" dirty="0">
                  <a:solidFill>
                    <a:schemeClr val="tx1"/>
                  </a:solidFill>
                  <a:latin typeface="Calibri" panose="020F0502020204030204" pitchFamily="34" charset="0"/>
                  <a:cs typeface="Calibri" panose="020F0502020204030204" pitchFamily="34" charset="0"/>
                </a:endParaRP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I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01462367"/>
        <c:crosses val="autoZero"/>
        <c:auto val="1"/>
        <c:lblAlgn val="ctr"/>
        <c:lblOffset val="100"/>
        <c:noMultiLvlLbl val="0"/>
      </c:catAx>
      <c:valAx>
        <c:axId val="1201462367"/>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b="1" dirty="0">
                    <a:solidFill>
                      <a:schemeClr val="tx1"/>
                    </a:solidFill>
                    <a:latin typeface="Calibri" panose="020F0502020204030204" pitchFamily="34" charset="0"/>
                    <a:cs typeface="Calibri" panose="020F0502020204030204" pitchFamily="34" charset="0"/>
                  </a:rPr>
                  <a:t>Distance</a:t>
                </a:r>
                <a:r>
                  <a:rPr lang="en-US" b="1" baseline="0" dirty="0">
                    <a:solidFill>
                      <a:schemeClr val="tx1"/>
                    </a:solidFill>
                    <a:latin typeface="Calibri" panose="020F0502020204030204" pitchFamily="34" charset="0"/>
                    <a:cs typeface="Calibri" panose="020F0502020204030204" pitchFamily="34" charset="0"/>
                  </a:rPr>
                  <a:t> to Time Efficiency Ratio</a:t>
                </a:r>
                <a:endParaRPr lang="en-IN" b="1" dirty="0">
                  <a:solidFill>
                    <a:schemeClr val="tx1"/>
                  </a:solidFill>
                  <a:latin typeface="Calibri" panose="020F0502020204030204" pitchFamily="34" charset="0"/>
                  <a:cs typeface="Calibri" panose="020F0502020204030204" pitchFamily="34" charset="0"/>
                </a:endParaRPr>
              </a:p>
            </c:rich>
          </c:tx>
          <c:layout>
            <c:manualLayout>
              <c:xMode val="edge"/>
              <c:yMode val="edge"/>
              <c:x val="3.1679117973534218E-2"/>
              <c:y val="0.17919540229885059"/>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0145756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accent1"/>
      </a:solid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r>
              <a:rPr lang="en-US" b="1" dirty="0">
                <a:solidFill>
                  <a:schemeClr val="tx1"/>
                </a:solidFill>
                <a:latin typeface="Calibri" panose="020F0502020204030204" pitchFamily="34" charset="0"/>
                <a:cs typeface="Calibri" panose="020F0502020204030204" pitchFamily="34" charset="0"/>
              </a:rPr>
              <a:t>Average</a:t>
            </a:r>
            <a:r>
              <a:rPr lang="en-US" b="1" baseline="0" dirty="0">
                <a:solidFill>
                  <a:schemeClr val="tx1"/>
                </a:solidFill>
                <a:latin typeface="Calibri" panose="020F0502020204030204" pitchFamily="34" charset="0"/>
                <a:cs typeface="Calibri" panose="020F0502020204030204" pitchFamily="34" charset="0"/>
              </a:rPr>
              <a:t> </a:t>
            </a:r>
            <a:r>
              <a:rPr lang="en-US" b="1" dirty="0">
                <a:solidFill>
                  <a:schemeClr val="tx1"/>
                </a:solidFill>
                <a:latin typeface="Calibri" panose="020F0502020204030204" pitchFamily="34" charset="0"/>
                <a:cs typeface="Calibri" panose="020F0502020204030204" pitchFamily="34" charset="0"/>
              </a:rPr>
              <a:t>Processing</a:t>
            </a:r>
            <a:r>
              <a:rPr lang="en-US" b="1" baseline="0" dirty="0">
                <a:solidFill>
                  <a:schemeClr val="tx1"/>
                </a:solidFill>
                <a:latin typeface="Calibri" panose="020F0502020204030204" pitchFamily="34" charset="0"/>
                <a:cs typeface="Calibri" panose="020F0502020204030204" pitchFamily="34" charset="0"/>
              </a:rPr>
              <a:t> </a:t>
            </a:r>
            <a:r>
              <a:rPr lang="en-US" b="1" dirty="0">
                <a:solidFill>
                  <a:schemeClr val="tx1"/>
                </a:solidFill>
                <a:latin typeface="Calibri" panose="020F0502020204030204" pitchFamily="34" charset="0"/>
                <a:cs typeface="Calibri" panose="020F0502020204030204" pitchFamily="34" charset="0"/>
              </a:rPr>
              <a:t>Time</a:t>
            </a:r>
            <a:r>
              <a:rPr lang="en-US" b="1" baseline="0" dirty="0">
                <a:solidFill>
                  <a:schemeClr val="tx1"/>
                </a:solidFill>
                <a:latin typeface="Calibri" panose="020F0502020204030204" pitchFamily="34" charset="0"/>
                <a:cs typeface="Calibri" panose="020F0502020204030204" pitchFamily="34" charset="0"/>
              </a:rPr>
              <a:t> (</a:t>
            </a:r>
            <a:r>
              <a:rPr lang="en-US" b="1" dirty="0">
                <a:solidFill>
                  <a:schemeClr val="tx1"/>
                </a:solidFill>
                <a:latin typeface="Calibri" panose="020F0502020204030204" pitchFamily="34" charset="0"/>
                <a:cs typeface="Calibri" panose="020F0502020204030204" pitchFamily="34" charset="0"/>
              </a:rPr>
              <a:t>Min) by</a:t>
            </a:r>
            <a:r>
              <a:rPr lang="en-US" b="1" baseline="0" dirty="0">
                <a:solidFill>
                  <a:schemeClr val="tx1"/>
                </a:solidFill>
                <a:latin typeface="Calibri" panose="020F0502020204030204" pitchFamily="34" charset="0"/>
                <a:cs typeface="Calibri" panose="020F0502020204030204" pitchFamily="34" charset="0"/>
              </a:rPr>
              <a:t> warehouses</a:t>
            </a:r>
            <a:endParaRPr lang="en-US" b="1" dirty="0">
              <a:solidFill>
                <a:schemeClr val="tx1"/>
              </a:solidFill>
              <a:latin typeface="Calibri" panose="020F0502020204030204" pitchFamily="34" charset="0"/>
              <a:cs typeface="Calibri" panose="020F0502020204030204" pitchFamily="34" charset="0"/>
            </a:endParaRPr>
          </a:p>
        </c:rich>
      </c:tx>
      <c:layout>
        <c:manualLayout>
          <c:xMode val="edge"/>
          <c:yMode val="edge"/>
          <c:x val="0.11579011844840492"/>
          <c:y val="2.7777884977803164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en-US"/>
        </a:p>
      </c:txPr>
    </c:title>
    <c:autoTitleDeleted val="0"/>
    <c:plotArea>
      <c:layout/>
      <c:barChart>
        <c:barDir val="col"/>
        <c:grouping val="clustered"/>
        <c:varyColors val="0"/>
        <c:ser>
          <c:idx val="0"/>
          <c:order val="0"/>
          <c:tx>
            <c:strRef>
              <c:f>'Average procesing time'!$C$1</c:f>
              <c:strCache>
                <c:ptCount val="1"/>
                <c:pt idx="0">
                  <c:v>Average_Processing_Time_Min</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'Average procesing time'!$A$2:$B$4</c:f>
              <c:multiLvlStrCache>
                <c:ptCount val="3"/>
                <c:lvl>
                  <c:pt idx="0">
                    <c:v>Flipkart Fulfillment Center Chennai</c:v>
                  </c:pt>
                  <c:pt idx="1">
                    <c:v>Flipkart Fulfillment Center Hyderabad</c:v>
                  </c:pt>
                  <c:pt idx="2">
                    <c:v>Flipkart Fulfillment Center Lucknow</c:v>
                  </c:pt>
                </c:lvl>
                <c:lvl>
                  <c:pt idx="0">
                    <c:v>WH_10</c:v>
                  </c:pt>
                  <c:pt idx="1">
                    <c:v>WH_09</c:v>
                  </c:pt>
                  <c:pt idx="2">
                    <c:v>WH_01</c:v>
                  </c:pt>
                </c:lvl>
              </c:multiLvlStrCache>
            </c:multiLvlStrRef>
          </c:cat>
          <c:val>
            <c:numRef>
              <c:f>'Average procesing time'!$C$2:$C$4</c:f>
              <c:numCache>
                <c:formatCode>General</c:formatCode>
                <c:ptCount val="3"/>
                <c:pt idx="0">
                  <c:v>117</c:v>
                </c:pt>
                <c:pt idx="1">
                  <c:v>110</c:v>
                </c:pt>
                <c:pt idx="2">
                  <c:v>101</c:v>
                </c:pt>
              </c:numCache>
            </c:numRef>
          </c:val>
          <c:extLst>
            <c:ext xmlns:c16="http://schemas.microsoft.com/office/drawing/2014/chart" uri="{C3380CC4-5D6E-409C-BE32-E72D297353CC}">
              <c16:uniqueId val="{00000000-4A6B-49FF-B511-22481F4E2754}"/>
            </c:ext>
          </c:extLst>
        </c:ser>
        <c:dLbls>
          <c:dLblPos val="outEnd"/>
          <c:showLegendKey val="0"/>
          <c:showVal val="1"/>
          <c:showCatName val="0"/>
          <c:showSerName val="0"/>
          <c:showPercent val="0"/>
          <c:showBubbleSize val="0"/>
        </c:dLbls>
        <c:gapWidth val="219"/>
        <c:overlap val="-27"/>
        <c:axId val="591856943"/>
        <c:axId val="617944255"/>
      </c:barChart>
      <c:catAx>
        <c:axId val="591856943"/>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b="1" dirty="0">
                    <a:solidFill>
                      <a:schemeClr val="tx1"/>
                    </a:solidFill>
                  </a:rPr>
                  <a:t>Warehouse</a:t>
                </a:r>
                <a:r>
                  <a:rPr lang="en-US" b="1" baseline="0" dirty="0">
                    <a:solidFill>
                      <a:schemeClr val="tx1"/>
                    </a:solidFill>
                  </a:rPr>
                  <a:t> Name and ID</a:t>
                </a:r>
                <a:endParaRPr lang="en-IN" b="1" dirty="0">
                  <a:solidFill>
                    <a:schemeClr val="tx1"/>
                  </a:solidFill>
                </a:endParaRPr>
              </a:p>
            </c:rich>
          </c:tx>
          <c:layout>
            <c:manualLayout>
              <c:xMode val="edge"/>
              <c:yMode val="edge"/>
              <c:x val="0.3930355986363378"/>
              <c:y val="0.9281362117826548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n-US"/>
          </a:p>
        </c:txPr>
        <c:crossAx val="617944255"/>
        <c:crosses val="autoZero"/>
        <c:auto val="0"/>
        <c:lblAlgn val="ctr"/>
        <c:lblOffset val="100"/>
        <c:noMultiLvlLbl val="0"/>
      </c:catAx>
      <c:valAx>
        <c:axId val="617944255"/>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b="1" dirty="0">
                    <a:solidFill>
                      <a:schemeClr val="tx1"/>
                    </a:solidFill>
                  </a:rPr>
                  <a:t>Average</a:t>
                </a:r>
                <a:r>
                  <a:rPr lang="en-US" b="1" baseline="0" dirty="0">
                    <a:solidFill>
                      <a:schemeClr val="tx1"/>
                    </a:solidFill>
                  </a:rPr>
                  <a:t> Processing Time Min</a:t>
                </a:r>
                <a:endParaRPr lang="en-IN" b="1" dirty="0">
                  <a:solidFill>
                    <a:schemeClr val="tx1"/>
                  </a:solidFill>
                </a:endParaRPr>
              </a:p>
            </c:rich>
          </c:tx>
          <c:layout>
            <c:manualLayout>
              <c:xMode val="edge"/>
              <c:yMode val="edge"/>
              <c:x val="1.0060119139166287E-2"/>
              <c:y val="0.15958631939004042"/>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n-US"/>
          </a:p>
        </c:txPr>
        <c:crossAx val="59185694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dirty="0">
                <a:solidFill>
                  <a:schemeClr val="tx1"/>
                </a:solidFill>
              </a:rPr>
              <a:t> Delay Reasons by Total Count</a:t>
            </a:r>
          </a:p>
        </c:rich>
      </c:tx>
      <c:layout>
        <c:manualLayout>
          <c:xMode val="edge"/>
          <c:yMode val="edge"/>
          <c:x val="0.26918044619422565"/>
          <c:y val="5.0926003203399926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Shipment_Tracking_Analysis!$B$1</c:f>
              <c:strCache>
                <c:ptCount val="1"/>
                <c:pt idx="0">
                  <c:v>total_occurrences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Shipment_Tracking_Analysis!$A$2:$A$4</c:f>
              <c:strCache>
                <c:ptCount val="3"/>
                <c:pt idx="0">
                  <c:v>Traffic</c:v>
                </c:pt>
                <c:pt idx="1">
                  <c:v>Weather</c:v>
                </c:pt>
                <c:pt idx="2">
                  <c:v>Technical Issue</c:v>
                </c:pt>
              </c:strCache>
            </c:strRef>
          </c:cat>
          <c:val>
            <c:numRef>
              <c:f>Shipment_Tracking_Analysis!$B$2:$B$4</c:f>
              <c:numCache>
                <c:formatCode>General</c:formatCode>
                <c:ptCount val="3"/>
                <c:pt idx="0">
                  <c:v>115</c:v>
                </c:pt>
                <c:pt idx="1">
                  <c:v>56</c:v>
                </c:pt>
                <c:pt idx="2">
                  <c:v>29</c:v>
                </c:pt>
              </c:numCache>
            </c:numRef>
          </c:val>
          <c:extLst>
            <c:ext xmlns:c16="http://schemas.microsoft.com/office/drawing/2014/chart" uri="{C3380CC4-5D6E-409C-BE32-E72D297353CC}">
              <c16:uniqueId val="{00000000-10AB-40B5-90ED-9525AFDE4271}"/>
            </c:ext>
          </c:extLst>
        </c:ser>
        <c:dLbls>
          <c:dLblPos val="outEnd"/>
          <c:showLegendKey val="0"/>
          <c:showVal val="1"/>
          <c:showCatName val="0"/>
          <c:showSerName val="0"/>
          <c:showPercent val="0"/>
          <c:showBubbleSize val="0"/>
        </c:dLbls>
        <c:gapWidth val="219"/>
        <c:overlap val="-27"/>
        <c:axId val="1472751087"/>
        <c:axId val="1472751567"/>
      </c:barChart>
      <c:catAx>
        <c:axId val="1472751087"/>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200" b="1" dirty="0">
                    <a:solidFill>
                      <a:schemeClr val="tx1"/>
                    </a:solidFill>
                  </a:rPr>
                  <a:t>Delay</a:t>
                </a:r>
                <a:r>
                  <a:rPr lang="en-US" sz="1200" b="1" baseline="0" dirty="0">
                    <a:solidFill>
                      <a:schemeClr val="tx1"/>
                    </a:solidFill>
                  </a:rPr>
                  <a:t> Reasons</a:t>
                </a:r>
                <a:endParaRPr lang="en-IN" sz="1200" b="1" dirty="0">
                  <a:solidFill>
                    <a:schemeClr val="tx1"/>
                  </a:solidFill>
                </a:endParaRP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72751567"/>
        <c:crosses val="autoZero"/>
        <c:auto val="1"/>
        <c:lblAlgn val="ctr"/>
        <c:lblOffset val="100"/>
        <c:noMultiLvlLbl val="0"/>
      </c:catAx>
      <c:valAx>
        <c:axId val="1472751567"/>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sz="1200" b="1" dirty="0">
                    <a:solidFill>
                      <a:schemeClr val="tx1"/>
                    </a:solidFill>
                  </a:rPr>
                  <a:t>Total Count</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7275108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baseline="0">
                <a:solidFill>
                  <a:schemeClr val="tx1"/>
                </a:solidFill>
                <a:latin typeface="+mn-lt"/>
                <a:ea typeface="+mn-ea"/>
                <a:cs typeface="+mn-cs"/>
              </a:defRPr>
            </a:pPr>
            <a:r>
              <a:rPr lang="en-US" dirty="0">
                <a:solidFill>
                  <a:schemeClr val="tx1"/>
                </a:solidFill>
              </a:rPr>
              <a:t>Average</a:t>
            </a:r>
            <a:r>
              <a:rPr lang="en-US" baseline="0" dirty="0">
                <a:solidFill>
                  <a:schemeClr val="tx1"/>
                </a:solidFill>
              </a:rPr>
              <a:t> </a:t>
            </a:r>
            <a:r>
              <a:rPr lang="en-US" dirty="0">
                <a:solidFill>
                  <a:schemeClr val="tx1"/>
                </a:solidFill>
              </a:rPr>
              <a:t>Delivery</a:t>
            </a:r>
            <a:r>
              <a:rPr lang="en-US" baseline="0" dirty="0">
                <a:solidFill>
                  <a:schemeClr val="tx1"/>
                </a:solidFill>
              </a:rPr>
              <a:t> </a:t>
            </a:r>
            <a:r>
              <a:rPr lang="en-US" dirty="0">
                <a:solidFill>
                  <a:schemeClr val="tx1"/>
                </a:solidFill>
              </a:rPr>
              <a:t>Delay by Start</a:t>
            </a:r>
            <a:r>
              <a:rPr lang="en-US" baseline="0" dirty="0">
                <a:solidFill>
                  <a:schemeClr val="tx1"/>
                </a:solidFill>
              </a:rPr>
              <a:t> Location</a:t>
            </a:r>
            <a:endParaRPr lang="en-US" dirty="0">
              <a:solidFill>
                <a:schemeClr val="tx1"/>
              </a:solidFill>
            </a:endParaRPr>
          </a:p>
        </c:rich>
      </c:tx>
      <c:overlay val="0"/>
      <c:spPr>
        <a:noFill/>
        <a:ln>
          <a:noFill/>
        </a:ln>
        <a:effectLst/>
      </c:spPr>
      <c:txPr>
        <a:bodyPr rot="0" spcFirstLastPara="1" vertOverflow="ellipsis" vert="horz" wrap="square" anchor="ctr" anchorCtr="1"/>
        <a:lstStyle/>
        <a:p>
          <a:pPr>
            <a:defRPr sz="1800" b="1" i="0" u="none" strike="noStrike" kern="1200" baseline="0">
              <a:solidFill>
                <a:schemeClr val="tx1"/>
              </a:solidFill>
              <a:latin typeface="+mn-lt"/>
              <a:ea typeface="+mn-ea"/>
              <a:cs typeface="+mn-cs"/>
            </a:defRPr>
          </a:pPr>
          <a:endParaRPr lang="en-US"/>
        </a:p>
      </c:txPr>
    </c:title>
    <c:autoTitleDeleted val="0"/>
    <c:plotArea>
      <c:layout/>
      <c:barChart>
        <c:barDir val="col"/>
        <c:grouping val="clustered"/>
        <c:varyColors val="0"/>
        <c:ser>
          <c:idx val="0"/>
          <c:order val="0"/>
          <c:tx>
            <c:strRef>
              <c:f>'Average delivery delay 1'!$B$1</c:f>
              <c:strCache>
                <c:ptCount val="1"/>
                <c:pt idx="0">
                  <c:v>Average_Delivery_Delay</c:v>
                </c:pt>
              </c:strCache>
            </c:strRef>
          </c:tx>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'Average delivery delay 1'!$A$2:$A$7</c:f>
              <c:strCache>
                <c:ptCount val="6"/>
                <c:pt idx="0">
                  <c:v>Pune</c:v>
                </c:pt>
                <c:pt idx="1">
                  <c:v>Lucknow</c:v>
                </c:pt>
                <c:pt idx="2">
                  <c:v>Ahmedabad</c:v>
                </c:pt>
                <c:pt idx="3">
                  <c:v>Mumbai</c:v>
                </c:pt>
                <c:pt idx="4">
                  <c:v>Hyderabad</c:v>
                </c:pt>
                <c:pt idx="5">
                  <c:v>Bengaluru</c:v>
                </c:pt>
              </c:strCache>
            </c:strRef>
          </c:cat>
          <c:val>
            <c:numRef>
              <c:f>'Average delivery delay 1'!$B$2:$B$7</c:f>
              <c:numCache>
                <c:formatCode>0.00</c:formatCode>
                <c:ptCount val="6"/>
                <c:pt idx="0">
                  <c:v>72.5</c:v>
                </c:pt>
                <c:pt idx="1">
                  <c:v>67</c:v>
                </c:pt>
                <c:pt idx="2">
                  <c:v>56.5</c:v>
                </c:pt>
                <c:pt idx="3">
                  <c:v>51.25</c:v>
                </c:pt>
                <c:pt idx="4">
                  <c:v>39.200000000000003</c:v>
                </c:pt>
                <c:pt idx="5">
                  <c:v>15</c:v>
                </c:pt>
              </c:numCache>
            </c:numRef>
          </c:val>
          <c:extLst>
            <c:ext xmlns:c16="http://schemas.microsoft.com/office/drawing/2014/chart" uri="{C3380CC4-5D6E-409C-BE32-E72D297353CC}">
              <c16:uniqueId val="{00000000-3294-4A40-AA8B-2583DA989B85}"/>
            </c:ext>
          </c:extLst>
        </c:ser>
        <c:dLbls>
          <c:dLblPos val="inEnd"/>
          <c:showLegendKey val="0"/>
          <c:showVal val="1"/>
          <c:showCatName val="0"/>
          <c:showSerName val="0"/>
          <c:showPercent val="0"/>
          <c:showBubbleSize val="0"/>
        </c:dLbls>
        <c:gapWidth val="65"/>
        <c:axId val="926466240"/>
        <c:axId val="926443200"/>
      </c:barChart>
      <c:catAx>
        <c:axId val="926466240"/>
        <c:scaling>
          <c:orientation val="minMax"/>
        </c:scaling>
        <c:delete val="0"/>
        <c:axPos val="b"/>
        <c:title>
          <c:tx>
            <c:rich>
              <a:bodyPr rot="0" spcFirstLastPara="1" vertOverflow="ellipsis" vert="horz" wrap="square" anchor="ctr" anchorCtr="1"/>
              <a:lstStyle/>
              <a:p>
                <a:pPr>
                  <a:defRPr sz="900" b="1" i="0" u="none" strike="noStrike" kern="1200" baseline="0">
                    <a:solidFill>
                      <a:schemeClr val="dk1">
                        <a:lumMod val="75000"/>
                        <a:lumOff val="25000"/>
                      </a:schemeClr>
                    </a:solidFill>
                    <a:latin typeface="+mn-lt"/>
                    <a:ea typeface="+mn-ea"/>
                    <a:cs typeface="+mn-cs"/>
                  </a:defRPr>
                </a:pPr>
                <a:r>
                  <a:rPr lang="en-US" sz="1050" b="1" i="0" dirty="0">
                    <a:solidFill>
                      <a:schemeClr val="tx1"/>
                    </a:solidFill>
                  </a:rPr>
                  <a:t>Start</a:t>
                </a:r>
                <a:r>
                  <a:rPr lang="en-US" sz="1050" b="1" i="0" baseline="0" dirty="0">
                    <a:solidFill>
                      <a:schemeClr val="tx1"/>
                    </a:solidFill>
                  </a:rPr>
                  <a:t> Location</a:t>
                </a:r>
                <a:endParaRPr lang="en-IN" sz="1050" b="1" i="0" dirty="0">
                  <a:solidFill>
                    <a:schemeClr val="tx1"/>
                  </a:solidFill>
                </a:endParaRPr>
              </a:p>
            </c:rich>
          </c:tx>
          <c:layout>
            <c:manualLayout>
              <c:xMode val="edge"/>
              <c:yMode val="edge"/>
              <c:x val="0.42736811023622046"/>
              <c:y val="0.90074074074074073"/>
            </c:manualLayout>
          </c:layout>
          <c:overlay val="0"/>
          <c:spPr>
            <a:noFill/>
            <a:ln>
              <a:noFill/>
            </a:ln>
            <a:effectLst/>
          </c:spPr>
          <c:txPr>
            <a:bodyPr rot="0" spcFirstLastPara="1" vertOverflow="ellipsis" vert="horz" wrap="square" anchor="ctr" anchorCtr="1"/>
            <a:lstStyle/>
            <a:p>
              <a:pPr>
                <a:defRPr sz="900" b="1" i="0" u="none" strike="noStrike" kern="1200" baseline="0">
                  <a:solidFill>
                    <a:schemeClr val="dk1">
                      <a:lumMod val="75000"/>
                      <a:lumOff val="25000"/>
                    </a:schemeClr>
                  </a:solidFill>
                  <a:latin typeface="+mn-lt"/>
                  <a:ea typeface="+mn-ea"/>
                  <a:cs typeface="+mn-cs"/>
                </a:defRPr>
              </a:pPr>
              <a:endParaRPr lang="en-IN"/>
            </a:p>
          </c:txPr>
        </c:title>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900" b="0" i="0" u="none" strike="noStrike" kern="1200" cap="all" baseline="0">
                <a:solidFill>
                  <a:schemeClr val="dk1">
                    <a:lumMod val="75000"/>
                    <a:lumOff val="25000"/>
                  </a:schemeClr>
                </a:solidFill>
                <a:latin typeface="+mn-lt"/>
                <a:ea typeface="+mn-ea"/>
                <a:cs typeface="+mn-cs"/>
              </a:defRPr>
            </a:pPr>
            <a:endParaRPr lang="en-US"/>
          </a:p>
        </c:txPr>
        <c:crossAx val="926443200"/>
        <c:crosses val="autoZero"/>
        <c:auto val="1"/>
        <c:lblAlgn val="ctr"/>
        <c:lblOffset val="100"/>
        <c:noMultiLvlLbl val="0"/>
      </c:catAx>
      <c:valAx>
        <c:axId val="926443200"/>
        <c:scaling>
          <c:orientation val="minMax"/>
        </c:scaling>
        <c:delete val="1"/>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title>
          <c:tx>
            <c:rich>
              <a:bodyPr rot="-5400000" spcFirstLastPara="1" vertOverflow="ellipsis" vert="horz" wrap="square" anchor="ctr" anchorCtr="1"/>
              <a:lstStyle/>
              <a:p>
                <a:pPr>
                  <a:defRPr sz="900" b="1" i="0" u="none" strike="noStrike" kern="1200" baseline="0">
                    <a:solidFill>
                      <a:schemeClr val="dk1">
                        <a:lumMod val="75000"/>
                        <a:lumOff val="25000"/>
                      </a:schemeClr>
                    </a:solidFill>
                    <a:latin typeface="+mn-lt"/>
                    <a:ea typeface="+mn-ea"/>
                    <a:cs typeface="+mn-cs"/>
                  </a:defRPr>
                </a:pPr>
                <a:r>
                  <a:rPr lang="en-IN" b="1" dirty="0">
                    <a:solidFill>
                      <a:schemeClr val="tx1"/>
                    </a:solidFill>
                  </a:rPr>
                  <a:t>Aver</a:t>
                </a:r>
                <a:r>
                  <a:rPr lang="en-IN" sz="1000" b="1" dirty="0">
                    <a:solidFill>
                      <a:schemeClr val="tx1"/>
                    </a:solidFill>
                  </a:rPr>
                  <a:t>age Delivery Delay</a:t>
                </a:r>
              </a:p>
            </c:rich>
          </c:tx>
          <c:overlay val="0"/>
          <c:spPr>
            <a:noFill/>
            <a:ln>
              <a:noFill/>
            </a:ln>
            <a:effectLst/>
          </c:spPr>
          <c:txPr>
            <a:bodyPr rot="-5400000" spcFirstLastPara="1" vertOverflow="ellipsis" vert="horz" wrap="square" anchor="ctr" anchorCtr="1"/>
            <a:lstStyle/>
            <a:p>
              <a:pPr>
                <a:defRPr sz="900" b="1" i="0" u="none" strike="noStrike" kern="1200" baseline="0">
                  <a:solidFill>
                    <a:schemeClr val="dk1">
                      <a:lumMod val="75000"/>
                      <a:lumOff val="25000"/>
                    </a:schemeClr>
                  </a:solidFill>
                  <a:latin typeface="+mn-lt"/>
                  <a:ea typeface="+mn-ea"/>
                  <a:cs typeface="+mn-cs"/>
                </a:defRPr>
              </a:pPr>
              <a:endParaRPr lang="en-US"/>
            </a:p>
          </c:txPr>
        </c:title>
        <c:numFmt formatCode="0.00" sourceLinked="1"/>
        <c:majorTickMark val="none"/>
        <c:minorTickMark val="none"/>
        <c:tickLblPos val="nextTo"/>
        <c:crossAx val="92646624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5">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09A3137-9A98-4915-81CA-FD7E06998F5F}" type="datetimeFigureOut">
              <a:rPr lang="en-IN" smtClean="0"/>
              <a:t>03-11-2025</a:t>
            </a:fld>
            <a:endParaRPr lang="en-IN" dirty="0"/>
          </a:p>
        </p:txBody>
      </p:sp>
      <p:sp>
        <p:nvSpPr>
          <p:cNvPr id="5" name="Footer Placeholder 4"/>
          <p:cNvSpPr>
            <a:spLocks noGrp="1"/>
          </p:cNvSpPr>
          <p:nvPr>
            <p:ph type="ftr" sz="quarter" idx="11"/>
          </p:nvPr>
        </p:nvSpPr>
        <p:spPr>
          <a:xfrm>
            <a:off x="2416500" y="329307"/>
            <a:ext cx="4973915" cy="309201"/>
          </a:xfrm>
        </p:spPr>
        <p:txBody>
          <a:bodyPr/>
          <a:lstStyle/>
          <a:p>
            <a:endParaRPr lang="en-IN" dirty="0"/>
          </a:p>
        </p:txBody>
      </p:sp>
      <p:sp>
        <p:nvSpPr>
          <p:cNvPr id="6" name="Slide Number Placeholder 5"/>
          <p:cNvSpPr>
            <a:spLocks noGrp="1"/>
          </p:cNvSpPr>
          <p:nvPr>
            <p:ph type="sldNum" sz="quarter" idx="12"/>
          </p:nvPr>
        </p:nvSpPr>
        <p:spPr>
          <a:xfrm>
            <a:off x="1437664" y="798973"/>
            <a:ext cx="811019" cy="503578"/>
          </a:xfrm>
        </p:spPr>
        <p:txBody>
          <a:bodyPr/>
          <a:lstStyle/>
          <a:p>
            <a:fld id="{C0FD5A8C-5DF3-47C5-8081-D38A80C6C619}" type="slidenum">
              <a:rPr lang="en-IN" smtClean="0"/>
              <a:t>‹#›</a:t>
            </a:fld>
            <a:endParaRPr lang="en-IN"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328429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09A3137-9A98-4915-81CA-FD7E06998F5F}" type="datetimeFigureOut">
              <a:rPr lang="en-IN" smtClean="0"/>
              <a:t>03-11-2025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C0FD5A8C-5DF3-47C5-8081-D38A80C6C619}" type="slidenum">
              <a:rPr lang="en-IN" smtClean="0"/>
              <a:t>‹#›</a:t>
            </a:fld>
            <a:endParaRPr lang="en-IN"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9754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09A3137-9A98-4915-81CA-FD7E06998F5F}" type="datetimeFigureOut">
              <a:rPr lang="en-IN" smtClean="0"/>
              <a:t>03-11-2025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C0FD5A8C-5DF3-47C5-8081-D38A80C6C619}" type="slidenum">
              <a:rPr lang="en-IN" smtClean="0"/>
              <a:t>‹#›</a:t>
            </a:fld>
            <a:endParaRPr lang="en-IN"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652936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09A3137-9A98-4915-81CA-FD7E06998F5F}" type="datetimeFigureOut">
              <a:rPr lang="en-IN" smtClean="0"/>
              <a:t>03-11-2025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C0FD5A8C-5DF3-47C5-8081-D38A80C6C619}" type="slidenum">
              <a:rPr lang="en-IN" smtClean="0"/>
              <a:t>‹#›</a:t>
            </a:fld>
            <a:endParaRPr lang="en-IN"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799383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09A3137-9A98-4915-81CA-FD7E06998F5F}" type="datetimeFigureOut">
              <a:rPr lang="en-IN" smtClean="0"/>
              <a:t>03-11-2025</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C0FD5A8C-5DF3-47C5-8081-D38A80C6C619}" type="slidenum">
              <a:rPr lang="en-IN" smtClean="0"/>
              <a:t>‹#›</a:t>
            </a:fld>
            <a:endParaRPr lang="en-IN"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283104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09A3137-9A98-4915-81CA-FD7E06998F5F}" type="datetimeFigureOut">
              <a:rPr lang="en-IN" smtClean="0"/>
              <a:t>03-11-2025</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C0FD5A8C-5DF3-47C5-8081-D38A80C6C619}" type="slidenum">
              <a:rPr lang="en-IN" smtClean="0"/>
              <a:t>‹#›</a:t>
            </a:fld>
            <a:endParaRPr lang="en-IN"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944522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9A3137-9A98-4915-81CA-FD7E06998F5F}" type="datetimeFigureOut">
              <a:rPr lang="en-IN" smtClean="0"/>
              <a:t>03-11-2025</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C0FD5A8C-5DF3-47C5-8081-D38A80C6C619}" type="slidenum">
              <a:rPr lang="en-IN" smtClean="0"/>
              <a:t>‹#›</a:t>
            </a:fld>
            <a:endParaRPr lang="en-IN" dirty="0"/>
          </a:p>
        </p:txBody>
      </p:sp>
    </p:spTree>
    <p:extLst>
      <p:ext uri="{BB962C8B-B14F-4D97-AF65-F5344CB8AC3E}">
        <p14:creationId xmlns:p14="http://schemas.microsoft.com/office/powerpoint/2010/main" val="17907276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09A3137-9A98-4915-81CA-FD7E06998F5F}" type="datetimeFigureOut">
              <a:rPr lang="en-IN" smtClean="0"/>
              <a:t>03-11-2025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C0FD5A8C-5DF3-47C5-8081-D38A80C6C619}" type="slidenum">
              <a:rPr lang="en-IN" smtClean="0"/>
              <a:t>‹#›</a:t>
            </a:fld>
            <a:endParaRPr lang="en-IN"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435873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a:lstStyle/>
            <a:p>
              <a:endParaRPr lang="en-IN" dirty="0"/>
            </a:p>
          </p:txBody>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609A3137-9A98-4915-81CA-FD7E06998F5F}" type="datetimeFigureOut">
              <a:rPr lang="en-IN" smtClean="0"/>
              <a:t>03-11-2025</a:t>
            </a:fld>
            <a:endParaRPr lang="en-IN" dirty="0"/>
          </a:p>
        </p:txBody>
      </p:sp>
      <p:sp>
        <p:nvSpPr>
          <p:cNvPr id="6" name="Footer Placeholder 5"/>
          <p:cNvSpPr>
            <a:spLocks noGrp="1"/>
          </p:cNvSpPr>
          <p:nvPr>
            <p:ph type="ftr" sz="quarter" idx="11"/>
          </p:nvPr>
        </p:nvSpPr>
        <p:spPr>
          <a:xfrm>
            <a:off x="1447382" y="318640"/>
            <a:ext cx="5541004" cy="320931"/>
          </a:xfrm>
        </p:spPr>
        <p:txBody>
          <a:bodyPr/>
          <a:lstStyle/>
          <a:p>
            <a:endParaRPr lang="en-IN" dirty="0"/>
          </a:p>
        </p:txBody>
      </p:sp>
      <p:sp>
        <p:nvSpPr>
          <p:cNvPr id="7" name="Slide Number Placeholder 6"/>
          <p:cNvSpPr>
            <a:spLocks noGrp="1"/>
          </p:cNvSpPr>
          <p:nvPr>
            <p:ph type="sldNum" sz="quarter" idx="12"/>
          </p:nvPr>
        </p:nvSpPr>
        <p:spPr/>
        <p:txBody>
          <a:bodyPr/>
          <a:lstStyle/>
          <a:p>
            <a:fld id="{C0FD5A8C-5DF3-47C5-8081-D38A80C6C619}" type="slidenum">
              <a:rPr lang="en-IN" smtClean="0"/>
              <a:t>‹#›</a:t>
            </a:fld>
            <a:endParaRPr lang="en-IN"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299643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09A3137-9A98-4915-81CA-FD7E06998F5F}" type="datetimeFigureOut">
              <a:rPr lang="en-IN" smtClean="0"/>
              <a:t>03-11-2025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C0FD5A8C-5DF3-47C5-8081-D38A80C6C619}" type="slidenum">
              <a:rPr lang="en-IN" smtClean="0"/>
              <a:t>‹#›</a:t>
            </a:fld>
            <a:endParaRPr lang="en-IN"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532016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09A3137-9A98-4915-81CA-FD7E06998F5F}" type="datetimeFigureOut">
              <a:rPr lang="en-IN" smtClean="0"/>
              <a:t>03-11-2025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C0FD5A8C-5DF3-47C5-8081-D38A80C6C619}" type="slidenum">
              <a:rPr lang="en-IN" smtClean="0"/>
              <a:t>‹#›</a:t>
            </a:fld>
            <a:endParaRPr lang="en-IN"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058320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dirty="0"/>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609A3137-9A98-4915-81CA-FD7E06998F5F}" type="datetimeFigureOut">
              <a:rPr lang="en-IN" smtClean="0"/>
              <a:t>03-11-2025</a:t>
            </a:fld>
            <a:endParaRPr lang="en-IN"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C0FD5A8C-5DF3-47C5-8081-D38A80C6C619}" type="slidenum">
              <a:rPr lang="en-IN" smtClean="0"/>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35152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www.loom.com/share/b921e5e364d04bfea5ed003c4304e8bc"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2770D-F80E-9854-3731-4B73E505CB9A}"/>
              </a:ext>
            </a:extLst>
          </p:cNvPr>
          <p:cNvSpPr>
            <a:spLocks noGrp="1"/>
          </p:cNvSpPr>
          <p:nvPr>
            <p:ph type="title"/>
          </p:nvPr>
        </p:nvSpPr>
        <p:spPr>
          <a:xfrm>
            <a:off x="1402417" y="2102377"/>
            <a:ext cx="9603275" cy="1049235"/>
          </a:xfrm>
        </p:spPr>
        <p:txBody>
          <a:bodyPr/>
          <a:lstStyle/>
          <a:p>
            <a:pPr algn="ctr"/>
            <a:r>
              <a:rPr lang="en-US" b="1" dirty="0">
                <a:solidFill>
                  <a:schemeClr val="accent1"/>
                </a:solidFill>
                <a:latin typeface="Calibri" panose="020F0502020204030204" pitchFamily="34" charset="0"/>
                <a:cs typeface="Calibri" panose="020F0502020204030204" pitchFamily="34" charset="0"/>
              </a:rPr>
              <a:t>FLIPKART LOGISTICS OPTIMIZATION FOR DELIVERY ROUTES</a:t>
            </a:r>
            <a:endParaRPr lang="en-IN" b="1" dirty="0">
              <a:solidFill>
                <a:schemeClr val="accent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70161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8EB0CD8-2B0D-55E2-AC41-BA970B6BD6D8}"/>
              </a:ext>
            </a:extLst>
          </p:cNvPr>
          <p:cNvSpPr/>
          <p:nvPr/>
        </p:nvSpPr>
        <p:spPr>
          <a:xfrm>
            <a:off x="339212" y="651247"/>
            <a:ext cx="6027176" cy="78841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latin typeface="Calibri" panose="020F0502020204030204" pitchFamily="34" charset="0"/>
                <a:cs typeface="Calibri" panose="020F0502020204030204" pitchFamily="34" charset="0"/>
              </a:rPr>
              <a:t>SELECT Order_ID, COUNT(*) AS count_of_orders FROM shipment_tracking GROUP BY Order_ID HAVING COUNT(*) &gt; 1;</a:t>
            </a:r>
            <a:endParaRPr lang="en-IN" dirty="0">
              <a:latin typeface="Calibri" panose="020F0502020204030204" pitchFamily="34" charset="0"/>
              <a:cs typeface="Calibri" panose="020F0502020204030204" pitchFamily="34" charset="0"/>
            </a:endParaRPr>
          </a:p>
        </p:txBody>
      </p:sp>
      <p:sp>
        <p:nvSpPr>
          <p:cNvPr id="3" name="Arrow: Down 2">
            <a:extLst>
              <a:ext uri="{FF2B5EF4-FFF2-40B4-BE49-F238E27FC236}">
                <a16:creationId xmlns:a16="http://schemas.microsoft.com/office/drawing/2014/main" id="{6251D015-E6EE-7C8D-10AE-F29A0F4FD017}"/>
              </a:ext>
            </a:extLst>
          </p:cNvPr>
          <p:cNvSpPr/>
          <p:nvPr/>
        </p:nvSpPr>
        <p:spPr>
          <a:xfrm>
            <a:off x="2536723" y="1529369"/>
            <a:ext cx="282677" cy="62957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TextBox 3">
            <a:extLst>
              <a:ext uri="{FF2B5EF4-FFF2-40B4-BE49-F238E27FC236}">
                <a16:creationId xmlns:a16="http://schemas.microsoft.com/office/drawing/2014/main" id="{57DC2A83-CABB-8B6C-79BD-5426C1BEF47B}"/>
              </a:ext>
            </a:extLst>
          </p:cNvPr>
          <p:cNvSpPr txBox="1"/>
          <p:nvPr/>
        </p:nvSpPr>
        <p:spPr>
          <a:xfrm>
            <a:off x="161593" y="2302995"/>
            <a:ext cx="5460021" cy="369332"/>
          </a:xfrm>
          <a:prstGeom prst="rect">
            <a:avLst/>
          </a:prstGeom>
          <a:noFill/>
        </p:spPr>
        <p:txBody>
          <a:bodyPr wrap="none" rtlCol="0">
            <a:spAutoFit/>
          </a:bodyPr>
          <a:lstStyle/>
          <a:p>
            <a:r>
              <a:rPr lang="en-US" b="1" dirty="0">
                <a:latin typeface="Calibri" panose="020F0502020204030204" pitchFamily="34" charset="0"/>
                <a:cs typeface="Calibri" panose="020F0502020204030204" pitchFamily="34" charset="0"/>
              </a:rPr>
              <a:t>Only column names Order ID, Count of Orders returned</a:t>
            </a:r>
            <a:endParaRPr lang="en-IN" b="1" dirty="0">
              <a:latin typeface="Calibri" panose="020F0502020204030204" pitchFamily="34" charset="0"/>
              <a:cs typeface="Calibri" panose="020F0502020204030204" pitchFamily="34" charset="0"/>
            </a:endParaRPr>
          </a:p>
        </p:txBody>
      </p:sp>
      <p:sp>
        <p:nvSpPr>
          <p:cNvPr id="5" name="Arrow: Down 4">
            <a:extLst>
              <a:ext uri="{FF2B5EF4-FFF2-40B4-BE49-F238E27FC236}">
                <a16:creationId xmlns:a16="http://schemas.microsoft.com/office/drawing/2014/main" id="{9950659A-611B-4A7D-2E8D-B35D0BB817EE}"/>
              </a:ext>
            </a:extLst>
          </p:cNvPr>
          <p:cNvSpPr/>
          <p:nvPr/>
        </p:nvSpPr>
        <p:spPr>
          <a:xfrm>
            <a:off x="2558846" y="2816378"/>
            <a:ext cx="260554" cy="5604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TextBox 5">
            <a:extLst>
              <a:ext uri="{FF2B5EF4-FFF2-40B4-BE49-F238E27FC236}">
                <a16:creationId xmlns:a16="http://schemas.microsoft.com/office/drawing/2014/main" id="{BCC53DBD-84C7-3DB5-B396-F439EA116D2D}"/>
              </a:ext>
            </a:extLst>
          </p:cNvPr>
          <p:cNvSpPr txBox="1"/>
          <p:nvPr/>
        </p:nvSpPr>
        <p:spPr>
          <a:xfrm>
            <a:off x="373624" y="3550449"/>
            <a:ext cx="5722376" cy="646331"/>
          </a:xfrm>
          <a:prstGeom prst="rect">
            <a:avLst/>
          </a:prstGeom>
          <a:noFill/>
        </p:spPr>
        <p:txBody>
          <a:bodyPr wrap="square" rtlCol="0">
            <a:spAutoFit/>
          </a:bodyPr>
          <a:lstStyle/>
          <a:p>
            <a:r>
              <a:rPr lang="en-US" b="1" dirty="0">
                <a:latin typeface="Calibri" panose="020F0502020204030204" pitchFamily="34" charset="0"/>
                <a:cs typeface="Calibri" panose="020F0502020204030204" pitchFamily="34" charset="0"/>
              </a:rPr>
              <a:t>No duplicate Order ID. No need to delete duplicate rows as data already has unique Order ID’S</a:t>
            </a:r>
            <a:endParaRPr lang="en-IN" b="1" dirty="0">
              <a:latin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45EDCCBC-F3E0-4EE3-8A2F-866C29968675}"/>
              </a:ext>
            </a:extLst>
          </p:cNvPr>
          <p:cNvSpPr/>
          <p:nvPr/>
        </p:nvSpPr>
        <p:spPr>
          <a:xfrm>
            <a:off x="7325032" y="632238"/>
            <a:ext cx="4660490" cy="6742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latin typeface="Calibri" panose="020F0502020204030204" pitchFamily="34" charset="0"/>
                <a:cs typeface="Calibri" panose="020F0502020204030204" pitchFamily="34" charset="0"/>
              </a:rPr>
              <a:t>Select count(*) as null_count from delivery_routes where Traffic_Delay_Min is null;</a:t>
            </a:r>
            <a:endParaRPr lang="en-IN" dirty="0">
              <a:latin typeface="Calibri" panose="020F0502020204030204" pitchFamily="34" charset="0"/>
              <a:cs typeface="Calibri" panose="020F0502020204030204" pitchFamily="34" charset="0"/>
            </a:endParaRPr>
          </a:p>
        </p:txBody>
      </p:sp>
      <p:sp>
        <p:nvSpPr>
          <p:cNvPr id="8" name="Arrow: Down 7">
            <a:extLst>
              <a:ext uri="{FF2B5EF4-FFF2-40B4-BE49-F238E27FC236}">
                <a16:creationId xmlns:a16="http://schemas.microsoft.com/office/drawing/2014/main" id="{1717D8ED-BAAA-7029-2B48-5302B63ED432}"/>
              </a:ext>
            </a:extLst>
          </p:cNvPr>
          <p:cNvSpPr/>
          <p:nvPr/>
        </p:nvSpPr>
        <p:spPr>
          <a:xfrm>
            <a:off x="9384898" y="1388499"/>
            <a:ext cx="282677" cy="62957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 name="TextBox 8">
            <a:extLst>
              <a:ext uri="{FF2B5EF4-FFF2-40B4-BE49-F238E27FC236}">
                <a16:creationId xmlns:a16="http://schemas.microsoft.com/office/drawing/2014/main" id="{5ABD8D81-3BF2-BECF-B9D0-39CCD7FBE831}"/>
              </a:ext>
            </a:extLst>
          </p:cNvPr>
          <p:cNvSpPr txBox="1"/>
          <p:nvPr/>
        </p:nvSpPr>
        <p:spPr>
          <a:xfrm>
            <a:off x="8879783" y="1941250"/>
            <a:ext cx="1428083" cy="369332"/>
          </a:xfrm>
          <a:prstGeom prst="rect">
            <a:avLst/>
          </a:prstGeom>
          <a:noFill/>
        </p:spPr>
        <p:txBody>
          <a:bodyPr wrap="none" rtlCol="0">
            <a:spAutoFit/>
          </a:bodyPr>
          <a:lstStyle/>
          <a:p>
            <a:r>
              <a:rPr lang="en-US" b="1" dirty="0">
                <a:latin typeface="Calibri" panose="020F0502020204030204" pitchFamily="34" charset="0"/>
                <a:cs typeface="Calibri" panose="020F0502020204030204" pitchFamily="34" charset="0"/>
              </a:rPr>
              <a:t>Null Count=0</a:t>
            </a:r>
            <a:endParaRPr lang="en-IN" b="1" dirty="0">
              <a:latin typeface="Calibri" panose="020F0502020204030204" pitchFamily="34" charset="0"/>
              <a:cs typeface="Calibri" panose="020F0502020204030204" pitchFamily="34" charset="0"/>
            </a:endParaRPr>
          </a:p>
        </p:txBody>
      </p:sp>
      <p:sp>
        <p:nvSpPr>
          <p:cNvPr id="10" name="Arrow: Down 9">
            <a:extLst>
              <a:ext uri="{FF2B5EF4-FFF2-40B4-BE49-F238E27FC236}">
                <a16:creationId xmlns:a16="http://schemas.microsoft.com/office/drawing/2014/main" id="{C1F30159-4B5C-4ABD-E326-6D25FAE65C98}"/>
              </a:ext>
            </a:extLst>
          </p:cNvPr>
          <p:cNvSpPr/>
          <p:nvPr/>
        </p:nvSpPr>
        <p:spPr>
          <a:xfrm>
            <a:off x="9387357" y="2326348"/>
            <a:ext cx="282677" cy="49003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TextBox 10">
            <a:extLst>
              <a:ext uri="{FF2B5EF4-FFF2-40B4-BE49-F238E27FC236}">
                <a16:creationId xmlns:a16="http://schemas.microsoft.com/office/drawing/2014/main" id="{C260CAF9-0530-B243-69D0-8D15193725BF}"/>
              </a:ext>
            </a:extLst>
          </p:cNvPr>
          <p:cNvSpPr txBox="1"/>
          <p:nvPr/>
        </p:nvSpPr>
        <p:spPr>
          <a:xfrm>
            <a:off x="6822347" y="2802179"/>
            <a:ext cx="5621613" cy="923330"/>
          </a:xfrm>
          <a:prstGeom prst="rect">
            <a:avLst/>
          </a:prstGeom>
          <a:noFill/>
        </p:spPr>
        <p:txBody>
          <a:bodyPr wrap="square" rtlCol="0">
            <a:spAutoFit/>
          </a:bodyPr>
          <a:lstStyle/>
          <a:p>
            <a:r>
              <a:rPr lang="en-US" b="1" dirty="0">
                <a:latin typeface="Calibri" panose="020F0502020204030204" pitchFamily="34" charset="0"/>
                <a:cs typeface="Calibri" panose="020F0502020204030204" pitchFamily="34" charset="0"/>
              </a:rPr>
              <a:t>No null values present for Traffic_Delay, thus no need to replace Null_Traffic_Delay_Min with Average_Delay for that route</a:t>
            </a:r>
            <a:endParaRPr lang="en-IN" b="1" dirty="0">
              <a:latin typeface="Calibri" panose="020F0502020204030204" pitchFamily="34" charset="0"/>
              <a:cs typeface="Calibri" panose="020F0502020204030204" pitchFamily="34" charset="0"/>
            </a:endParaRPr>
          </a:p>
        </p:txBody>
      </p:sp>
      <p:sp>
        <p:nvSpPr>
          <p:cNvPr id="12" name="Arrow: Down 11">
            <a:extLst>
              <a:ext uri="{FF2B5EF4-FFF2-40B4-BE49-F238E27FC236}">
                <a16:creationId xmlns:a16="http://schemas.microsoft.com/office/drawing/2014/main" id="{DD156F67-F325-C8AF-6060-92B48A4B64A2}"/>
              </a:ext>
            </a:extLst>
          </p:cNvPr>
          <p:cNvSpPr/>
          <p:nvPr/>
        </p:nvSpPr>
        <p:spPr>
          <a:xfrm>
            <a:off x="9410945" y="3719787"/>
            <a:ext cx="365760" cy="71703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3" name="TextBox 12">
            <a:extLst>
              <a:ext uri="{FF2B5EF4-FFF2-40B4-BE49-F238E27FC236}">
                <a16:creationId xmlns:a16="http://schemas.microsoft.com/office/drawing/2014/main" id="{8D8C91E3-C08D-3F0D-2C84-9EE70AD61DD4}"/>
              </a:ext>
            </a:extLst>
          </p:cNvPr>
          <p:cNvSpPr txBox="1"/>
          <p:nvPr/>
        </p:nvSpPr>
        <p:spPr>
          <a:xfrm>
            <a:off x="8601534" y="4491098"/>
            <a:ext cx="1984582" cy="369332"/>
          </a:xfrm>
          <a:prstGeom prst="rect">
            <a:avLst/>
          </a:prstGeom>
          <a:noFill/>
        </p:spPr>
        <p:txBody>
          <a:bodyPr wrap="none" rtlCol="0">
            <a:spAutoFit/>
          </a:bodyPr>
          <a:lstStyle/>
          <a:p>
            <a:r>
              <a:rPr lang="en-US" b="1" dirty="0">
                <a:latin typeface="Calibri" panose="020F0502020204030204" pitchFamily="34" charset="0"/>
                <a:cs typeface="Calibri" panose="020F0502020204030204" pitchFamily="34" charset="0"/>
              </a:rPr>
              <a:t>Data already exists</a:t>
            </a:r>
            <a:endParaRPr lang="en-IN" b="1" dirty="0">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05CF10BF-F142-6B04-6E07-F54B17AA9965}"/>
              </a:ext>
            </a:extLst>
          </p:cNvPr>
          <p:cNvSpPr txBox="1"/>
          <p:nvPr/>
        </p:nvSpPr>
        <p:spPr>
          <a:xfrm>
            <a:off x="4670322" y="118855"/>
            <a:ext cx="5320559" cy="461665"/>
          </a:xfrm>
          <a:prstGeom prst="rect">
            <a:avLst/>
          </a:prstGeom>
          <a:noFill/>
        </p:spPr>
        <p:txBody>
          <a:bodyPr wrap="none" rtlCol="0">
            <a:spAutoFit/>
          </a:bodyPr>
          <a:lstStyle/>
          <a:p>
            <a:r>
              <a:rPr lang="en-US" sz="2400" b="1" dirty="0">
                <a:solidFill>
                  <a:schemeClr val="accent1"/>
                </a:solidFill>
                <a:latin typeface="Calibri" panose="020F0502020204030204" pitchFamily="34" charset="0"/>
                <a:cs typeface="Calibri" panose="020F0502020204030204" pitchFamily="34" charset="0"/>
              </a:rPr>
              <a:t>TASK 1-DATA CLEANING &amp; PREPARATION</a:t>
            </a:r>
            <a:endParaRPr lang="en-IN" sz="2400" b="1" dirty="0">
              <a:solidFill>
                <a:schemeClr val="accent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182178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FE9FB315-7C7B-9AF5-2D95-1CC70F8C6A19}"/>
              </a:ext>
            </a:extLst>
          </p:cNvPr>
          <p:cNvGraphicFramePr>
            <a:graphicFrameLocks noGrp="1"/>
          </p:cNvGraphicFramePr>
          <p:nvPr>
            <p:extLst>
              <p:ext uri="{D42A27DB-BD31-4B8C-83A1-F6EECF244321}">
                <p14:modId xmlns:p14="http://schemas.microsoft.com/office/powerpoint/2010/main" val="1440986087"/>
              </p:ext>
            </p:extLst>
          </p:nvPr>
        </p:nvGraphicFramePr>
        <p:xfrm>
          <a:off x="1102361" y="3746713"/>
          <a:ext cx="4399278" cy="2010796"/>
        </p:xfrm>
        <a:graphic>
          <a:graphicData uri="http://schemas.openxmlformats.org/drawingml/2006/table">
            <a:tbl>
              <a:tblPr firstRow="1" bandRow="1">
                <a:tableStyleId>{5C22544A-7EE6-4342-B048-85BDC9FD1C3A}</a:tableStyleId>
              </a:tblPr>
              <a:tblGrid>
                <a:gridCol w="1300480">
                  <a:extLst>
                    <a:ext uri="{9D8B030D-6E8A-4147-A177-3AD203B41FA5}">
                      <a16:colId xmlns:a16="http://schemas.microsoft.com/office/drawing/2014/main" val="2291909728"/>
                    </a:ext>
                  </a:extLst>
                </a:gridCol>
                <a:gridCol w="1727200">
                  <a:extLst>
                    <a:ext uri="{9D8B030D-6E8A-4147-A177-3AD203B41FA5}">
                      <a16:colId xmlns:a16="http://schemas.microsoft.com/office/drawing/2014/main" val="3576556466"/>
                    </a:ext>
                  </a:extLst>
                </a:gridCol>
                <a:gridCol w="1371598">
                  <a:extLst>
                    <a:ext uri="{9D8B030D-6E8A-4147-A177-3AD203B41FA5}">
                      <a16:colId xmlns:a16="http://schemas.microsoft.com/office/drawing/2014/main" val="588806323"/>
                    </a:ext>
                  </a:extLst>
                </a:gridCol>
              </a:tblGrid>
              <a:tr h="369681">
                <a:tc>
                  <a:txBody>
                    <a:bodyPr/>
                    <a:lstStyle/>
                    <a:p>
                      <a:pPr algn="ctr" fontAlgn="b">
                        <a:buNone/>
                      </a:pPr>
                      <a:r>
                        <a:rPr lang="en-IN" sz="1100" b="1" i="0" u="none" strike="noStrike" dirty="0">
                          <a:solidFill>
                            <a:schemeClr val="bg1"/>
                          </a:solidFill>
                          <a:effectLst/>
                          <a:latin typeface="Calibri" panose="020F0502020204030204" pitchFamily="34" charset="0"/>
                        </a:rPr>
                        <a:t>Order Date</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Expected Delivery Date</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Actual Delivery Date</a:t>
                      </a:r>
                    </a:p>
                  </a:txBody>
                  <a:tcPr marL="7620" marR="7620" marT="7620" marB="0" anchor="b">
                    <a:solidFill>
                      <a:schemeClr val="accent1"/>
                    </a:solidFill>
                  </a:tcPr>
                </a:tc>
                <a:extLst>
                  <a:ext uri="{0D108BD9-81ED-4DB2-BD59-A6C34878D82A}">
                    <a16:rowId xmlns:a16="http://schemas.microsoft.com/office/drawing/2014/main" val="2182901067"/>
                  </a:ext>
                </a:extLst>
              </a:tr>
              <a:tr h="369681">
                <a:tc>
                  <a:txBody>
                    <a:bodyPr/>
                    <a:lstStyle/>
                    <a:p>
                      <a:pPr algn="ctr" fontAlgn="b">
                        <a:buNone/>
                      </a:pPr>
                      <a:r>
                        <a:rPr lang="en-IN" sz="1100" b="0" i="0" u="none" strike="noStrike" dirty="0">
                          <a:solidFill>
                            <a:schemeClr val="bg1"/>
                          </a:solidFill>
                          <a:effectLst/>
                          <a:latin typeface="Calibri" panose="020F0502020204030204" pitchFamily="34" charset="0"/>
                        </a:rPr>
                        <a:t>2025-07-08</a:t>
                      </a:r>
                    </a:p>
                  </a:txBody>
                  <a:tcPr marL="7620" marR="7620" marT="7620" marB="0" anchor="b">
                    <a:solidFill>
                      <a:schemeClr val="accent1"/>
                    </a:solidFill>
                  </a:tcPr>
                </a:tc>
                <a:tc>
                  <a:txBody>
                    <a:bodyPr/>
                    <a:lstStyle/>
                    <a:p>
                      <a:pPr algn="ctr" fontAlgn="b">
                        <a:buNone/>
                      </a:pPr>
                      <a:r>
                        <a:rPr lang="en-IN" sz="1100" b="0" i="0" u="none" strike="noStrike" dirty="0">
                          <a:solidFill>
                            <a:schemeClr val="bg1"/>
                          </a:solidFill>
                          <a:effectLst/>
                          <a:latin typeface="Calibri" panose="020F0502020204030204" pitchFamily="34" charset="0"/>
                        </a:rPr>
                        <a:t>2025-07-13</a:t>
                      </a:r>
                    </a:p>
                  </a:txBody>
                  <a:tcPr marL="7620" marR="7620" marT="7620" marB="0" anchor="b">
                    <a:solidFill>
                      <a:schemeClr val="accent1"/>
                    </a:solidFill>
                  </a:tcPr>
                </a:tc>
                <a:tc>
                  <a:txBody>
                    <a:bodyPr/>
                    <a:lstStyle/>
                    <a:p>
                      <a:pPr algn="ctr" fontAlgn="b">
                        <a:buNone/>
                      </a:pPr>
                      <a:r>
                        <a:rPr lang="en-IN" sz="1100" b="0" i="0" u="none" strike="noStrike" dirty="0">
                          <a:solidFill>
                            <a:schemeClr val="bg1"/>
                          </a:solidFill>
                          <a:effectLst/>
                          <a:latin typeface="Calibri" panose="020F0502020204030204" pitchFamily="34" charset="0"/>
                        </a:rPr>
                        <a:t>2025-07-14</a:t>
                      </a:r>
                    </a:p>
                  </a:txBody>
                  <a:tcPr marL="7620" marR="7620" marT="7620" marB="0" anchor="b">
                    <a:solidFill>
                      <a:schemeClr val="accent1"/>
                    </a:solidFill>
                  </a:tcPr>
                </a:tc>
                <a:extLst>
                  <a:ext uri="{0D108BD9-81ED-4DB2-BD59-A6C34878D82A}">
                    <a16:rowId xmlns:a16="http://schemas.microsoft.com/office/drawing/2014/main" val="1017152008"/>
                  </a:ext>
                </a:extLst>
              </a:tr>
              <a:tr h="449358">
                <a:tc>
                  <a:txBody>
                    <a:bodyPr/>
                    <a:lstStyle/>
                    <a:p>
                      <a:pPr algn="ctr" fontAlgn="b">
                        <a:buNone/>
                      </a:pPr>
                      <a:r>
                        <a:rPr lang="en-IN" sz="1100" b="0" i="0" u="none" strike="noStrike" dirty="0">
                          <a:solidFill>
                            <a:schemeClr val="bg1"/>
                          </a:solidFill>
                          <a:effectLst/>
                          <a:latin typeface="Calibri" panose="020F0502020204030204" pitchFamily="34" charset="0"/>
                        </a:rPr>
                        <a:t>2025-08-03</a:t>
                      </a:r>
                    </a:p>
                  </a:txBody>
                  <a:tcPr marL="7620" marR="7620" marT="7620" marB="0" anchor="b">
                    <a:solidFill>
                      <a:schemeClr val="accent1"/>
                    </a:solidFill>
                  </a:tcPr>
                </a:tc>
                <a:tc>
                  <a:txBody>
                    <a:bodyPr/>
                    <a:lstStyle/>
                    <a:p>
                      <a:pPr algn="ctr" fontAlgn="b">
                        <a:buNone/>
                      </a:pPr>
                      <a:r>
                        <a:rPr lang="en-IN" sz="1100" b="0" i="0" u="none" strike="noStrike" dirty="0">
                          <a:solidFill>
                            <a:schemeClr val="bg1"/>
                          </a:solidFill>
                          <a:effectLst/>
                          <a:latin typeface="Calibri" panose="020F0502020204030204" pitchFamily="34" charset="0"/>
                        </a:rPr>
                        <a:t>2025-08-09</a:t>
                      </a:r>
                    </a:p>
                  </a:txBody>
                  <a:tcPr marL="7620" marR="7620" marT="7620" marB="0" anchor="b">
                    <a:solidFill>
                      <a:schemeClr val="accent1"/>
                    </a:solidFill>
                  </a:tcPr>
                </a:tc>
                <a:tc>
                  <a:txBody>
                    <a:bodyPr/>
                    <a:lstStyle/>
                    <a:p>
                      <a:pPr algn="ctr" fontAlgn="b">
                        <a:buNone/>
                      </a:pPr>
                      <a:r>
                        <a:rPr lang="en-IN" sz="1100" b="0" i="0" u="none" strike="noStrike" dirty="0">
                          <a:solidFill>
                            <a:schemeClr val="bg1"/>
                          </a:solidFill>
                          <a:effectLst/>
                          <a:latin typeface="Calibri" panose="020F0502020204030204" pitchFamily="34" charset="0"/>
                        </a:rPr>
                        <a:t>2025-08-09</a:t>
                      </a:r>
                    </a:p>
                  </a:txBody>
                  <a:tcPr marL="7620" marR="7620" marT="7620" marB="0" anchor="b">
                    <a:solidFill>
                      <a:schemeClr val="accent1"/>
                    </a:solidFill>
                  </a:tcPr>
                </a:tc>
                <a:extLst>
                  <a:ext uri="{0D108BD9-81ED-4DB2-BD59-A6C34878D82A}">
                    <a16:rowId xmlns:a16="http://schemas.microsoft.com/office/drawing/2014/main" val="2493775717"/>
                  </a:ext>
                </a:extLst>
              </a:tr>
              <a:tr h="452395">
                <a:tc>
                  <a:txBody>
                    <a:bodyPr/>
                    <a:lstStyle/>
                    <a:p>
                      <a:pPr algn="ctr" fontAlgn="b">
                        <a:buNone/>
                      </a:pPr>
                      <a:r>
                        <a:rPr lang="en-IN" sz="1100" b="0" i="0" u="none" strike="noStrike" dirty="0">
                          <a:solidFill>
                            <a:schemeClr val="bg1"/>
                          </a:solidFill>
                          <a:effectLst/>
                          <a:latin typeface="Calibri" panose="020F0502020204030204" pitchFamily="34" charset="0"/>
                        </a:rPr>
                        <a:t>2025-07-05</a:t>
                      </a:r>
                    </a:p>
                  </a:txBody>
                  <a:tcPr marL="7620" marR="7620" marT="7620" marB="0" anchor="b">
                    <a:solidFill>
                      <a:schemeClr val="accent1"/>
                    </a:solidFill>
                  </a:tcPr>
                </a:tc>
                <a:tc>
                  <a:txBody>
                    <a:bodyPr/>
                    <a:lstStyle/>
                    <a:p>
                      <a:pPr algn="ctr" fontAlgn="b">
                        <a:buNone/>
                      </a:pPr>
                      <a:r>
                        <a:rPr lang="en-IN" sz="1100" b="0" i="0" u="none" strike="noStrike" dirty="0">
                          <a:solidFill>
                            <a:schemeClr val="bg1"/>
                          </a:solidFill>
                          <a:effectLst/>
                          <a:latin typeface="Calibri" panose="020F0502020204030204" pitchFamily="34" charset="0"/>
                        </a:rPr>
                        <a:t>2025-07-09</a:t>
                      </a:r>
                    </a:p>
                  </a:txBody>
                  <a:tcPr marL="7620" marR="7620" marT="7620" marB="0" anchor="b">
                    <a:solidFill>
                      <a:schemeClr val="accent1"/>
                    </a:solidFill>
                  </a:tcPr>
                </a:tc>
                <a:tc>
                  <a:txBody>
                    <a:bodyPr/>
                    <a:lstStyle/>
                    <a:p>
                      <a:pPr algn="ctr" fontAlgn="b">
                        <a:buNone/>
                      </a:pPr>
                      <a:r>
                        <a:rPr lang="en-IN" sz="1100" b="0" i="0" u="none" strike="noStrike" dirty="0">
                          <a:solidFill>
                            <a:schemeClr val="bg1"/>
                          </a:solidFill>
                          <a:effectLst/>
                          <a:latin typeface="Calibri" panose="020F0502020204030204" pitchFamily="34" charset="0"/>
                        </a:rPr>
                        <a:t>2025-07-09</a:t>
                      </a:r>
                    </a:p>
                  </a:txBody>
                  <a:tcPr marL="7620" marR="7620" marT="7620" marB="0" anchor="b">
                    <a:solidFill>
                      <a:schemeClr val="accent1"/>
                    </a:solidFill>
                  </a:tcPr>
                </a:tc>
                <a:extLst>
                  <a:ext uri="{0D108BD9-81ED-4DB2-BD59-A6C34878D82A}">
                    <a16:rowId xmlns:a16="http://schemas.microsoft.com/office/drawing/2014/main" val="4250896652"/>
                  </a:ext>
                </a:extLst>
              </a:tr>
              <a:tr h="369681">
                <a:tc>
                  <a:txBody>
                    <a:bodyPr/>
                    <a:lstStyle/>
                    <a:p>
                      <a:pPr algn="ctr" fontAlgn="b">
                        <a:buNone/>
                      </a:pPr>
                      <a:r>
                        <a:rPr lang="en-IN" sz="1100" b="0" i="0" u="none" strike="noStrike" dirty="0">
                          <a:solidFill>
                            <a:schemeClr val="bg1"/>
                          </a:solidFill>
                          <a:effectLst/>
                          <a:latin typeface="Calibri" panose="020F0502020204030204" pitchFamily="34" charset="0"/>
                        </a:rPr>
                        <a:t>2025-07-20</a:t>
                      </a:r>
                    </a:p>
                  </a:txBody>
                  <a:tcPr marL="7620" marR="7620" marT="7620" marB="0" anchor="b">
                    <a:solidFill>
                      <a:schemeClr val="accent1"/>
                    </a:solidFill>
                  </a:tcPr>
                </a:tc>
                <a:tc>
                  <a:txBody>
                    <a:bodyPr/>
                    <a:lstStyle/>
                    <a:p>
                      <a:pPr algn="ctr" fontAlgn="b">
                        <a:buNone/>
                      </a:pPr>
                      <a:r>
                        <a:rPr lang="en-IN" sz="1100" b="0" i="0" u="none" strike="noStrike" dirty="0">
                          <a:solidFill>
                            <a:schemeClr val="bg1"/>
                          </a:solidFill>
                          <a:effectLst/>
                          <a:latin typeface="Calibri" panose="020F0502020204030204" pitchFamily="34" charset="0"/>
                        </a:rPr>
                        <a:t>2025-07-25</a:t>
                      </a:r>
                    </a:p>
                  </a:txBody>
                  <a:tcPr marL="7620" marR="7620" marT="7620" marB="0" anchor="b">
                    <a:solidFill>
                      <a:schemeClr val="accent1"/>
                    </a:solidFill>
                  </a:tcPr>
                </a:tc>
                <a:tc>
                  <a:txBody>
                    <a:bodyPr/>
                    <a:lstStyle/>
                    <a:p>
                      <a:pPr algn="ctr" fontAlgn="b">
                        <a:buNone/>
                      </a:pPr>
                      <a:r>
                        <a:rPr lang="en-IN" sz="1100" b="0" i="0" u="none" strike="noStrike" dirty="0">
                          <a:solidFill>
                            <a:schemeClr val="bg1"/>
                          </a:solidFill>
                          <a:effectLst/>
                          <a:latin typeface="Calibri" panose="020F0502020204030204" pitchFamily="34" charset="0"/>
                        </a:rPr>
                        <a:t>2025-07-25</a:t>
                      </a:r>
                    </a:p>
                  </a:txBody>
                  <a:tcPr marL="7620" marR="7620" marT="7620" marB="0" anchor="b">
                    <a:solidFill>
                      <a:schemeClr val="accent1"/>
                    </a:solidFill>
                  </a:tcPr>
                </a:tc>
                <a:extLst>
                  <a:ext uri="{0D108BD9-81ED-4DB2-BD59-A6C34878D82A}">
                    <a16:rowId xmlns:a16="http://schemas.microsoft.com/office/drawing/2014/main" val="1172137084"/>
                  </a:ext>
                </a:extLst>
              </a:tr>
            </a:tbl>
          </a:graphicData>
        </a:graphic>
      </p:graphicFrame>
      <p:sp>
        <p:nvSpPr>
          <p:cNvPr id="3" name="Rectangle 2">
            <a:extLst>
              <a:ext uri="{FF2B5EF4-FFF2-40B4-BE49-F238E27FC236}">
                <a16:creationId xmlns:a16="http://schemas.microsoft.com/office/drawing/2014/main" id="{47E07D51-D118-F3D6-F786-07CACC3505E5}"/>
              </a:ext>
            </a:extLst>
          </p:cNvPr>
          <p:cNvSpPr/>
          <p:nvPr/>
        </p:nvSpPr>
        <p:spPr>
          <a:xfrm>
            <a:off x="975360" y="386080"/>
            <a:ext cx="5334000" cy="11785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select Order_Date,Expected_Delivery_Date,Actual_Delivery_Date from flipkart_orders;</a:t>
            </a:r>
            <a:endParaRPr lang="en-IN" dirty="0"/>
          </a:p>
        </p:txBody>
      </p:sp>
      <p:sp>
        <p:nvSpPr>
          <p:cNvPr id="5" name="Arrow: Down 4">
            <a:extLst>
              <a:ext uri="{FF2B5EF4-FFF2-40B4-BE49-F238E27FC236}">
                <a16:creationId xmlns:a16="http://schemas.microsoft.com/office/drawing/2014/main" id="{DCBEC276-98AE-F796-35FE-FEC23A08B5FA}"/>
              </a:ext>
            </a:extLst>
          </p:cNvPr>
          <p:cNvSpPr/>
          <p:nvPr/>
        </p:nvSpPr>
        <p:spPr>
          <a:xfrm>
            <a:off x="3108960" y="1742440"/>
            <a:ext cx="386080" cy="82296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TextBox 5">
            <a:extLst>
              <a:ext uri="{FF2B5EF4-FFF2-40B4-BE49-F238E27FC236}">
                <a16:creationId xmlns:a16="http://schemas.microsoft.com/office/drawing/2014/main" id="{34AF394F-7E11-58FA-17CF-BFA8A441665D}"/>
              </a:ext>
            </a:extLst>
          </p:cNvPr>
          <p:cNvSpPr txBox="1"/>
          <p:nvPr/>
        </p:nvSpPr>
        <p:spPr>
          <a:xfrm>
            <a:off x="975360" y="2743200"/>
            <a:ext cx="7252370" cy="646331"/>
          </a:xfrm>
          <a:prstGeom prst="rect">
            <a:avLst/>
          </a:prstGeom>
          <a:noFill/>
        </p:spPr>
        <p:txBody>
          <a:bodyPr wrap="none" rtlCol="0">
            <a:spAutoFit/>
          </a:bodyPr>
          <a:lstStyle/>
          <a:p>
            <a:r>
              <a:rPr lang="en-US" b="1" dirty="0">
                <a:latin typeface="Calibri" panose="020F0502020204030204" pitchFamily="34" charset="0"/>
                <a:cs typeface="Calibri" panose="020F0502020204030204" pitchFamily="34" charset="0"/>
              </a:rPr>
              <a:t>Since all date columns are already in YYYY-MM-DD format, it is kept as it is</a:t>
            </a:r>
          </a:p>
          <a:p>
            <a:r>
              <a:rPr lang="en-US" b="1" dirty="0">
                <a:latin typeface="Calibri" panose="020F0502020204030204" pitchFamily="34" charset="0"/>
                <a:cs typeface="Calibri" panose="020F0502020204030204" pitchFamily="34" charset="0"/>
              </a:rPr>
              <a:t>Indicating Data already cleaned</a:t>
            </a:r>
            <a:endParaRPr lang="en-IN" b="1" dirty="0">
              <a:latin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4E182432-00DF-2A72-A96A-84BB7FE6A2FC}"/>
              </a:ext>
            </a:extLst>
          </p:cNvPr>
          <p:cNvSpPr/>
          <p:nvPr/>
        </p:nvSpPr>
        <p:spPr>
          <a:xfrm>
            <a:off x="6908801" y="386080"/>
            <a:ext cx="4866639" cy="11023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select count(*) as Invalid from flipkart_orders where Actual_Delivery_Date&lt;Order_Date;</a:t>
            </a:r>
            <a:endParaRPr lang="en-IN" dirty="0"/>
          </a:p>
        </p:txBody>
      </p:sp>
      <p:sp>
        <p:nvSpPr>
          <p:cNvPr id="8" name="Arrow: Down 7">
            <a:extLst>
              <a:ext uri="{FF2B5EF4-FFF2-40B4-BE49-F238E27FC236}">
                <a16:creationId xmlns:a16="http://schemas.microsoft.com/office/drawing/2014/main" id="{E3FB51EA-06CB-4EFE-A7CF-D5ABF6572BCB}"/>
              </a:ext>
            </a:extLst>
          </p:cNvPr>
          <p:cNvSpPr/>
          <p:nvPr/>
        </p:nvSpPr>
        <p:spPr>
          <a:xfrm>
            <a:off x="9174480" y="1564640"/>
            <a:ext cx="386080" cy="82296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 name="TextBox 9">
            <a:extLst>
              <a:ext uri="{FF2B5EF4-FFF2-40B4-BE49-F238E27FC236}">
                <a16:creationId xmlns:a16="http://schemas.microsoft.com/office/drawing/2014/main" id="{677EAC60-F742-6322-222E-F452322D3A35}"/>
              </a:ext>
            </a:extLst>
          </p:cNvPr>
          <p:cNvSpPr txBox="1"/>
          <p:nvPr/>
        </p:nvSpPr>
        <p:spPr>
          <a:xfrm>
            <a:off x="8319072" y="2387600"/>
            <a:ext cx="3577959" cy="646331"/>
          </a:xfrm>
          <a:prstGeom prst="rect">
            <a:avLst/>
          </a:prstGeom>
          <a:noFill/>
        </p:spPr>
        <p:txBody>
          <a:bodyPr wrap="square" rtlCol="0">
            <a:spAutoFit/>
          </a:bodyPr>
          <a:lstStyle/>
          <a:p>
            <a:r>
              <a:rPr lang="en-US" b="1" dirty="0">
                <a:latin typeface="Calibri" panose="020F0502020204030204" pitchFamily="34" charset="0"/>
                <a:cs typeface="Calibri" panose="020F0502020204030204" pitchFamily="34" charset="0"/>
              </a:rPr>
              <a:t>Count of Actual Delivery Date&lt;Order Date=0</a:t>
            </a:r>
            <a:endParaRPr lang="en-IN" b="1"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88DB4512-0DE2-C80E-80D8-479A3C11A293}"/>
              </a:ext>
            </a:extLst>
          </p:cNvPr>
          <p:cNvSpPr txBox="1"/>
          <p:nvPr/>
        </p:nvSpPr>
        <p:spPr>
          <a:xfrm>
            <a:off x="8073167" y="3800168"/>
            <a:ext cx="3976986" cy="369332"/>
          </a:xfrm>
          <a:prstGeom prst="rect">
            <a:avLst/>
          </a:prstGeom>
          <a:noFill/>
        </p:spPr>
        <p:txBody>
          <a:bodyPr wrap="none" rtlCol="0">
            <a:spAutoFit/>
          </a:bodyPr>
          <a:lstStyle/>
          <a:p>
            <a:r>
              <a:rPr lang="en-US" b="1" dirty="0">
                <a:latin typeface="Calibri" panose="020F0502020204030204" pitchFamily="34" charset="0"/>
                <a:cs typeface="Calibri" panose="020F0502020204030204" pitchFamily="34" charset="0"/>
              </a:rPr>
              <a:t>No Order is delivered before Order da</a:t>
            </a:r>
            <a:r>
              <a:rPr lang="en-US" dirty="0"/>
              <a:t>te</a:t>
            </a:r>
            <a:endParaRPr lang="en-IN" dirty="0"/>
          </a:p>
        </p:txBody>
      </p:sp>
      <p:sp>
        <p:nvSpPr>
          <p:cNvPr id="12" name="Arrow: Down 11">
            <a:extLst>
              <a:ext uri="{FF2B5EF4-FFF2-40B4-BE49-F238E27FC236}">
                <a16:creationId xmlns:a16="http://schemas.microsoft.com/office/drawing/2014/main" id="{47531BEF-9871-72A2-05F0-01BE2FBBEFE0}"/>
              </a:ext>
            </a:extLst>
          </p:cNvPr>
          <p:cNvSpPr/>
          <p:nvPr/>
        </p:nvSpPr>
        <p:spPr>
          <a:xfrm>
            <a:off x="9215857" y="2984430"/>
            <a:ext cx="362319" cy="86523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3" name="Arrow: Down 12">
            <a:extLst>
              <a:ext uri="{FF2B5EF4-FFF2-40B4-BE49-F238E27FC236}">
                <a16:creationId xmlns:a16="http://schemas.microsoft.com/office/drawing/2014/main" id="{1DA58708-94E2-506D-7362-EC3A0CFFD37D}"/>
              </a:ext>
            </a:extLst>
          </p:cNvPr>
          <p:cNvSpPr/>
          <p:nvPr/>
        </p:nvSpPr>
        <p:spPr>
          <a:xfrm>
            <a:off x="9233473" y="4240952"/>
            <a:ext cx="344703" cy="67836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4" name="TextBox 13">
            <a:extLst>
              <a:ext uri="{FF2B5EF4-FFF2-40B4-BE49-F238E27FC236}">
                <a16:creationId xmlns:a16="http://schemas.microsoft.com/office/drawing/2014/main" id="{C9C4C2C6-2518-AB74-44FF-C5D952AADAA6}"/>
              </a:ext>
            </a:extLst>
          </p:cNvPr>
          <p:cNvSpPr txBox="1"/>
          <p:nvPr/>
        </p:nvSpPr>
        <p:spPr>
          <a:xfrm>
            <a:off x="8073167" y="4921501"/>
            <a:ext cx="3700208" cy="923330"/>
          </a:xfrm>
          <a:prstGeom prst="rect">
            <a:avLst/>
          </a:prstGeom>
          <a:noFill/>
        </p:spPr>
        <p:txBody>
          <a:bodyPr wrap="square" rtlCol="0">
            <a:spAutoFit/>
          </a:bodyPr>
          <a:lstStyle/>
          <a:p>
            <a:r>
              <a:rPr lang="en-US" b="1" dirty="0">
                <a:latin typeface="Calibri" panose="020F0502020204030204" pitchFamily="34" charset="0"/>
                <a:cs typeface="Calibri" panose="020F0502020204030204" pitchFamily="34" charset="0"/>
              </a:rPr>
              <a:t>Orders are delivered either on order date or after that.ie Actual Delivery Date</a:t>
            </a:r>
            <a:endParaRPr lang="en-IN"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396352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3D576CD-3A50-96DE-4D47-160C4FB054A7}"/>
              </a:ext>
            </a:extLst>
          </p:cNvPr>
          <p:cNvSpPr/>
          <p:nvPr/>
        </p:nvSpPr>
        <p:spPr>
          <a:xfrm>
            <a:off x="361874" y="594897"/>
            <a:ext cx="5791200" cy="163215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latin typeface="Calibri" panose="020F0502020204030204" pitchFamily="34" charset="0"/>
                <a:cs typeface="Calibri" panose="020F0502020204030204" pitchFamily="34" charset="0"/>
              </a:rPr>
              <a:t>SELECT  order_id,route_id,warehouse_id,order_date,    expected_delivery_date,actual_delivery_date,    DATEDIFF(actual_delivery_date, expected_delivery_date) AS delivery_delay_days FROM flipkart_orders;</a:t>
            </a:r>
            <a:endParaRPr lang="en-IN" dirty="0">
              <a:latin typeface="Calibri" panose="020F0502020204030204" pitchFamily="34" charset="0"/>
              <a:cs typeface="Calibri" panose="020F0502020204030204" pitchFamily="34" charset="0"/>
            </a:endParaRPr>
          </a:p>
        </p:txBody>
      </p:sp>
      <p:graphicFrame>
        <p:nvGraphicFramePr>
          <p:cNvPr id="3" name="Table 2">
            <a:extLst>
              <a:ext uri="{FF2B5EF4-FFF2-40B4-BE49-F238E27FC236}">
                <a16:creationId xmlns:a16="http://schemas.microsoft.com/office/drawing/2014/main" id="{8621B349-050F-474B-2CFF-20F5546F5304}"/>
              </a:ext>
            </a:extLst>
          </p:cNvPr>
          <p:cNvGraphicFramePr>
            <a:graphicFrameLocks noGrp="1"/>
          </p:cNvGraphicFramePr>
          <p:nvPr>
            <p:extLst>
              <p:ext uri="{D42A27DB-BD31-4B8C-83A1-F6EECF244321}">
                <p14:modId xmlns:p14="http://schemas.microsoft.com/office/powerpoint/2010/main" val="601464083"/>
              </p:ext>
            </p:extLst>
          </p:nvPr>
        </p:nvGraphicFramePr>
        <p:xfrm>
          <a:off x="361874" y="2997122"/>
          <a:ext cx="2792361" cy="2595880"/>
        </p:xfrm>
        <a:graphic>
          <a:graphicData uri="http://schemas.openxmlformats.org/drawingml/2006/table">
            <a:tbl>
              <a:tblPr firstRow="1" bandRow="1">
                <a:tableStyleId>{5C22544A-7EE6-4342-B048-85BDC9FD1C3A}</a:tableStyleId>
              </a:tblPr>
              <a:tblGrid>
                <a:gridCol w="970708">
                  <a:extLst>
                    <a:ext uri="{9D8B030D-6E8A-4147-A177-3AD203B41FA5}">
                      <a16:colId xmlns:a16="http://schemas.microsoft.com/office/drawing/2014/main" val="1181898911"/>
                    </a:ext>
                  </a:extLst>
                </a:gridCol>
                <a:gridCol w="1821653">
                  <a:extLst>
                    <a:ext uri="{9D8B030D-6E8A-4147-A177-3AD203B41FA5}">
                      <a16:colId xmlns:a16="http://schemas.microsoft.com/office/drawing/2014/main" val="2092377785"/>
                    </a:ext>
                  </a:extLst>
                </a:gridCol>
              </a:tblGrid>
              <a:tr h="370840">
                <a:tc>
                  <a:txBody>
                    <a:bodyPr/>
                    <a:lstStyle/>
                    <a:p>
                      <a:pPr algn="ctr" fontAlgn="b">
                        <a:buNone/>
                      </a:pPr>
                      <a:r>
                        <a:rPr lang="en-US" sz="1100" b="1" i="0" u="none" strike="noStrike" dirty="0">
                          <a:solidFill>
                            <a:schemeClr val="bg1"/>
                          </a:solidFill>
                          <a:effectLst/>
                          <a:latin typeface="Calibri" panose="020F0502020204030204" pitchFamily="34" charset="0"/>
                        </a:rPr>
                        <a:t>Order ID</a:t>
                      </a:r>
                      <a:endParaRPr lang="en-IN" sz="1100" b="1" i="0" u="none" strike="noStrike" dirty="0">
                        <a:solidFill>
                          <a:schemeClr val="bg1"/>
                        </a:solidFill>
                        <a:effectLst/>
                        <a:latin typeface="Calibri" panose="020F0502020204030204" pitchFamily="34" charset="0"/>
                      </a:endParaRP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Delivery Delay Days</a:t>
                      </a:r>
                    </a:p>
                  </a:txBody>
                  <a:tcPr marL="7620" marR="7620" marT="7620" marB="0" anchor="b">
                    <a:solidFill>
                      <a:schemeClr val="accent1"/>
                    </a:solidFill>
                  </a:tcPr>
                </a:tc>
                <a:extLst>
                  <a:ext uri="{0D108BD9-81ED-4DB2-BD59-A6C34878D82A}">
                    <a16:rowId xmlns:a16="http://schemas.microsoft.com/office/drawing/2014/main" val="500030292"/>
                  </a:ext>
                </a:extLst>
              </a:tr>
              <a:tr h="370840">
                <a:tc>
                  <a:txBody>
                    <a:bodyPr/>
                    <a:lstStyle/>
                    <a:p>
                      <a:pPr algn="ctr" fontAlgn="b">
                        <a:buNone/>
                      </a:pPr>
                      <a:r>
                        <a:rPr lang="en-IN" sz="1100" b="1" i="0" u="none" strike="noStrike" dirty="0">
                          <a:solidFill>
                            <a:schemeClr val="bg1"/>
                          </a:solidFill>
                          <a:effectLst/>
                          <a:latin typeface="Calibri" panose="020F0502020204030204" pitchFamily="34" charset="0"/>
                        </a:rPr>
                        <a:t>FLP-ORD-0001</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1</a:t>
                      </a:r>
                    </a:p>
                  </a:txBody>
                  <a:tcPr marL="7620" marR="7620" marT="7620" marB="0" anchor="b">
                    <a:solidFill>
                      <a:schemeClr val="accent1"/>
                    </a:solidFill>
                  </a:tcPr>
                </a:tc>
                <a:extLst>
                  <a:ext uri="{0D108BD9-81ED-4DB2-BD59-A6C34878D82A}">
                    <a16:rowId xmlns:a16="http://schemas.microsoft.com/office/drawing/2014/main" val="1376410550"/>
                  </a:ext>
                </a:extLst>
              </a:tr>
              <a:tr h="370840">
                <a:tc>
                  <a:txBody>
                    <a:bodyPr/>
                    <a:lstStyle/>
                    <a:p>
                      <a:pPr algn="ctr" fontAlgn="b">
                        <a:buNone/>
                      </a:pPr>
                      <a:r>
                        <a:rPr lang="en-IN" sz="1100" b="1" i="0" u="none" strike="noStrike" dirty="0">
                          <a:solidFill>
                            <a:schemeClr val="bg1"/>
                          </a:solidFill>
                          <a:effectLst/>
                          <a:latin typeface="Calibri" panose="020F0502020204030204" pitchFamily="34" charset="0"/>
                        </a:rPr>
                        <a:t>FLP-ORD-0002</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0</a:t>
                      </a:r>
                    </a:p>
                  </a:txBody>
                  <a:tcPr marL="7620" marR="7620" marT="7620" marB="0" anchor="b">
                    <a:solidFill>
                      <a:schemeClr val="accent1"/>
                    </a:solidFill>
                  </a:tcPr>
                </a:tc>
                <a:extLst>
                  <a:ext uri="{0D108BD9-81ED-4DB2-BD59-A6C34878D82A}">
                    <a16:rowId xmlns:a16="http://schemas.microsoft.com/office/drawing/2014/main" val="1997382051"/>
                  </a:ext>
                </a:extLst>
              </a:tr>
              <a:tr h="370840">
                <a:tc>
                  <a:txBody>
                    <a:bodyPr/>
                    <a:lstStyle/>
                    <a:p>
                      <a:pPr algn="ctr" fontAlgn="b">
                        <a:buNone/>
                      </a:pPr>
                      <a:r>
                        <a:rPr lang="en-IN" sz="1100" b="1" i="0" u="none" strike="noStrike" dirty="0">
                          <a:solidFill>
                            <a:schemeClr val="bg1"/>
                          </a:solidFill>
                          <a:effectLst/>
                          <a:latin typeface="Calibri" panose="020F0502020204030204" pitchFamily="34" charset="0"/>
                        </a:rPr>
                        <a:t>FLP-ORD-0003</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0</a:t>
                      </a:r>
                    </a:p>
                  </a:txBody>
                  <a:tcPr marL="7620" marR="7620" marT="7620" marB="0" anchor="b">
                    <a:solidFill>
                      <a:schemeClr val="accent1"/>
                    </a:solidFill>
                  </a:tcPr>
                </a:tc>
                <a:extLst>
                  <a:ext uri="{0D108BD9-81ED-4DB2-BD59-A6C34878D82A}">
                    <a16:rowId xmlns:a16="http://schemas.microsoft.com/office/drawing/2014/main" val="2704880486"/>
                  </a:ext>
                </a:extLst>
              </a:tr>
              <a:tr h="370840">
                <a:tc>
                  <a:txBody>
                    <a:bodyPr/>
                    <a:lstStyle/>
                    <a:p>
                      <a:pPr algn="ctr" fontAlgn="b">
                        <a:buNone/>
                      </a:pPr>
                      <a:r>
                        <a:rPr lang="en-IN" sz="1100" b="1" i="0" u="none" strike="noStrike" dirty="0">
                          <a:solidFill>
                            <a:schemeClr val="bg1"/>
                          </a:solidFill>
                          <a:effectLst/>
                          <a:latin typeface="Calibri" panose="020F0502020204030204" pitchFamily="34" charset="0"/>
                        </a:rPr>
                        <a:t>FLP-ORD-0004</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0</a:t>
                      </a:r>
                    </a:p>
                  </a:txBody>
                  <a:tcPr marL="7620" marR="7620" marT="7620" marB="0" anchor="b">
                    <a:solidFill>
                      <a:schemeClr val="accent1"/>
                    </a:solidFill>
                  </a:tcPr>
                </a:tc>
                <a:extLst>
                  <a:ext uri="{0D108BD9-81ED-4DB2-BD59-A6C34878D82A}">
                    <a16:rowId xmlns:a16="http://schemas.microsoft.com/office/drawing/2014/main" val="3455452301"/>
                  </a:ext>
                </a:extLst>
              </a:tr>
              <a:tr h="370840">
                <a:tc>
                  <a:txBody>
                    <a:bodyPr/>
                    <a:lstStyle/>
                    <a:p>
                      <a:pPr algn="ctr" fontAlgn="b">
                        <a:buNone/>
                      </a:pPr>
                      <a:r>
                        <a:rPr lang="en-IN" sz="1100" b="1" i="0" u="none" strike="noStrike" dirty="0">
                          <a:solidFill>
                            <a:schemeClr val="bg1"/>
                          </a:solidFill>
                          <a:effectLst/>
                          <a:latin typeface="Calibri" panose="020F0502020204030204" pitchFamily="34" charset="0"/>
                        </a:rPr>
                        <a:t>FLP-ORD-0005</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0</a:t>
                      </a:r>
                    </a:p>
                  </a:txBody>
                  <a:tcPr marL="7620" marR="7620" marT="7620" marB="0" anchor="b">
                    <a:solidFill>
                      <a:schemeClr val="accent1"/>
                    </a:solidFill>
                  </a:tcPr>
                </a:tc>
                <a:extLst>
                  <a:ext uri="{0D108BD9-81ED-4DB2-BD59-A6C34878D82A}">
                    <a16:rowId xmlns:a16="http://schemas.microsoft.com/office/drawing/2014/main" val="3600777819"/>
                  </a:ext>
                </a:extLst>
              </a:tr>
              <a:tr h="370840">
                <a:tc>
                  <a:txBody>
                    <a:bodyPr/>
                    <a:lstStyle/>
                    <a:p>
                      <a:pPr algn="ctr" fontAlgn="b">
                        <a:buNone/>
                      </a:pPr>
                      <a:r>
                        <a:rPr lang="en-IN" sz="1100" b="1" i="0" u="none" strike="noStrike" dirty="0">
                          <a:solidFill>
                            <a:schemeClr val="bg1"/>
                          </a:solidFill>
                          <a:effectLst/>
                          <a:latin typeface="Calibri" panose="020F0502020204030204" pitchFamily="34" charset="0"/>
                        </a:rPr>
                        <a:t>FLP-ORD-0006</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1</a:t>
                      </a:r>
                    </a:p>
                  </a:txBody>
                  <a:tcPr marL="7620" marR="7620" marT="7620" marB="0" anchor="b">
                    <a:solidFill>
                      <a:schemeClr val="accent1"/>
                    </a:solidFill>
                  </a:tcPr>
                </a:tc>
                <a:extLst>
                  <a:ext uri="{0D108BD9-81ED-4DB2-BD59-A6C34878D82A}">
                    <a16:rowId xmlns:a16="http://schemas.microsoft.com/office/drawing/2014/main" val="768130107"/>
                  </a:ext>
                </a:extLst>
              </a:tr>
            </a:tbl>
          </a:graphicData>
        </a:graphic>
      </p:graphicFrame>
      <p:sp>
        <p:nvSpPr>
          <p:cNvPr id="5" name="TextBox 4">
            <a:extLst>
              <a:ext uri="{FF2B5EF4-FFF2-40B4-BE49-F238E27FC236}">
                <a16:creationId xmlns:a16="http://schemas.microsoft.com/office/drawing/2014/main" id="{05F2F413-E636-BD66-EF69-2B901D06D129}"/>
              </a:ext>
            </a:extLst>
          </p:cNvPr>
          <p:cNvSpPr txBox="1"/>
          <p:nvPr/>
        </p:nvSpPr>
        <p:spPr>
          <a:xfrm>
            <a:off x="265471" y="2518969"/>
            <a:ext cx="3162148" cy="369332"/>
          </a:xfrm>
          <a:prstGeom prst="rect">
            <a:avLst/>
          </a:prstGeom>
          <a:noFill/>
        </p:spPr>
        <p:txBody>
          <a:bodyPr wrap="none" rtlCol="0">
            <a:spAutoFit/>
          </a:bodyPr>
          <a:lstStyle/>
          <a:p>
            <a:r>
              <a:rPr lang="en-US" b="1" dirty="0">
                <a:latin typeface="Calibri" panose="020F0502020204030204" pitchFamily="34" charset="0"/>
                <a:cs typeface="Calibri" panose="020F0502020204030204" pitchFamily="34" charset="0"/>
              </a:rPr>
              <a:t>Delivery Delay(Days) per order </a:t>
            </a:r>
            <a:endParaRPr lang="en-IN" b="1" dirty="0">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BF3A4829-034E-69AE-78FD-EC7B1CD52420}"/>
              </a:ext>
            </a:extLst>
          </p:cNvPr>
          <p:cNvSpPr/>
          <p:nvPr/>
        </p:nvSpPr>
        <p:spPr>
          <a:xfrm>
            <a:off x="6402720" y="594897"/>
            <a:ext cx="5427406" cy="183500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latin typeface="Calibri" panose="020F0502020204030204" pitchFamily="34" charset="0"/>
                <a:cs typeface="Calibri" panose="020F0502020204030204" pitchFamily="34" charset="0"/>
              </a:rPr>
              <a:t>SELECT route_id,ROUND(AVG(DATEDIFF(actual_delivery_date, expected_delivery_date)), 2) AS avg_delay_days  </a:t>
            </a:r>
          </a:p>
          <a:p>
            <a:r>
              <a:rPr lang="en-US" dirty="0">
                <a:latin typeface="Calibri" panose="020F0502020204030204" pitchFamily="34" charset="0"/>
                <a:cs typeface="Calibri" panose="020F0502020204030204" pitchFamily="34" charset="0"/>
              </a:rPr>
              <a:t>FROM flipkart_orders GROUP BY route_id </a:t>
            </a:r>
          </a:p>
          <a:p>
            <a:r>
              <a:rPr lang="en-US" dirty="0">
                <a:latin typeface="Calibri" panose="020F0502020204030204" pitchFamily="34" charset="0"/>
                <a:cs typeface="Calibri" panose="020F0502020204030204" pitchFamily="34" charset="0"/>
              </a:rPr>
              <a:t>ORDER BY avg_delay_days DESC LIMIT 10;</a:t>
            </a:r>
            <a:endParaRPr lang="en-IN" dirty="0">
              <a:latin typeface="Calibri" panose="020F0502020204030204" pitchFamily="34" charset="0"/>
              <a:cs typeface="Calibri" panose="020F0502020204030204" pitchFamily="34" charset="0"/>
            </a:endParaRPr>
          </a:p>
        </p:txBody>
      </p:sp>
      <p:graphicFrame>
        <p:nvGraphicFramePr>
          <p:cNvPr id="7" name="Table 6">
            <a:extLst>
              <a:ext uri="{FF2B5EF4-FFF2-40B4-BE49-F238E27FC236}">
                <a16:creationId xmlns:a16="http://schemas.microsoft.com/office/drawing/2014/main" id="{650991CE-A462-F225-5B71-B3E3F25ABAA1}"/>
              </a:ext>
            </a:extLst>
          </p:cNvPr>
          <p:cNvGraphicFramePr>
            <a:graphicFrameLocks noGrp="1"/>
          </p:cNvGraphicFramePr>
          <p:nvPr>
            <p:extLst>
              <p:ext uri="{D42A27DB-BD31-4B8C-83A1-F6EECF244321}">
                <p14:modId xmlns:p14="http://schemas.microsoft.com/office/powerpoint/2010/main" val="2808137212"/>
              </p:ext>
            </p:extLst>
          </p:nvPr>
        </p:nvGraphicFramePr>
        <p:xfrm>
          <a:off x="6587613" y="3116826"/>
          <a:ext cx="2344993" cy="3100405"/>
        </p:xfrm>
        <a:graphic>
          <a:graphicData uri="http://schemas.openxmlformats.org/drawingml/2006/table">
            <a:tbl>
              <a:tblPr firstRow="1" bandRow="1">
                <a:tableStyleId>{5C22544A-7EE6-4342-B048-85BDC9FD1C3A}</a:tableStyleId>
              </a:tblPr>
              <a:tblGrid>
                <a:gridCol w="718626">
                  <a:extLst>
                    <a:ext uri="{9D8B030D-6E8A-4147-A177-3AD203B41FA5}">
                      <a16:colId xmlns:a16="http://schemas.microsoft.com/office/drawing/2014/main" val="4270940254"/>
                    </a:ext>
                  </a:extLst>
                </a:gridCol>
                <a:gridCol w="1626367">
                  <a:extLst>
                    <a:ext uri="{9D8B030D-6E8A-4147-A177-3AD203B41FA5}">
                      <a16:colId xmlns:a16="http://schemas.microsoft.com/office/drawing/2014/main" val="4122082710"/>
                    </a:ext>
                  </a:extLst>
                </a:gridCol>
              </a:tblGrid>
              <a:tr h="281855">
                <a:tc>
                  <a:txBody>
                    <a:bodyPr/>
                    <a:lstStyle/>
                    <a:p>
                      <a:pPr algn="ctr" fontAlgn="b">
                        <a:buNone/>
                      </a:pPr>
                      <a:r>
                        <a:rPr lang="en-US" sz="1100" b="1" i="0" u="none" strike="noStrike" dirty="0">
                          <a:solidFill>
                            <a:schemeClr val="bg1"/>
                          </a:solidFill>
                          <a:effectLst/>
                          <a:latin typeface="Calibri" panose="020F0502020204030204" pitchFamily="34" charset="0"/>
                        </a:rPr>
                        <a:t>Route ID</a:t>
                      </a:r>
                      <a:endParaRPr lang="en-IN" sz="1100" b="1" i="0" u="none" strike="noStrike" dirty="0">
                        <a:solidFill>
                          <a:schemeClr val="bg1"/>
                        </a:solidFill>
                        <a:effectLst/>
                        <a:latin typeface="Calibri" panose="020F0502020204030204" pitchFamily="34" charset="0"/>
                      </a:endParaRP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Average Delay Days</a:t>
                      </a:r>
                    </a:p>
                  </a:txBody>
                  <a:tcPr marL="7620" marR="7620" marT="7620" marB="0" anchor="b">
                    <a:solidFill>
                      <a:schemeClr val="accent1"/>
                    </a:solidFill>
                  </a:tcPr>
                </a:tc>
                <a:extLst>
                  <a:ext uri="{0D108BD9-81ED-4DB2-BD59-A6C34878D82A}">
                    <a16:rowId xmlns:a16="http://schemas.microsoft.com/office/drawing/2014/main" val="3569859267"/>
                  </a:ext>
                </a:extLst>
              </a:tr>
              <a:tr h="281855">
                <a:tc>
                  <a:txBody>
                    <a:bodyPr/>
                    <a:lstStyle/>
                    <a:p>
                      <a:pPr algn="ctr" fontAlgn="b">
                        <a:buNone/>
                      </a:pPr>
                      <a:r>
                        <a:rPr lang="en-IN" sz="1100" b="1" i="0" u="none" strike="noStrike" dirty="0">
                          <a:solidFill>
                            <a:schemeClr val="bg1"/>
                          </a:solidFill>
                          <a:effectLst/>
                          <a:latin typeface="Calibri" panose="020F0502020204030204" pitchFamily="34" charset="0"/>
                        </a:rPr>
                        <a:t>RT_13</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1.09</a:t>
                      </a:r>
                    </a:p>
                  </a:txBody>
                  <a:tcPr marL="7620" marR="7620" marT="7620" marB="0" anchor="b">
                    <a:solidFill>
                      <a:schemeClr val="accent1"/>
                    </a:solidFill>
                  </a:tcPr>
                </a:tc>
                <a:extLst>
                  <a:ext uri="{0D108BD9-81ED-4DB2-BD59-A6C34878D82A}">
                    <a16:rowId xmlns:a16="http://schemas.microsoft.com/office/drawing/2014/main" val="2902769908"/>
                  </a:ext>
                </a:extLst>
              </a:tr>
              <a:tr h="281855">
                <a:tc>
                  <a:txBody>
                    <a:bodyPr/>
                    <a:lstStyle/>
                    <a:p>
                      <a:pPr algn="ctr" fontAlgn="b">
                        <a:buNone/>
                      </a:pPr>
                      <a:r>
                        <a:rPr lang="en-IN" sz="1100" b="1" i="0" u="none" strike="noStrike" dirty="0">
                          <a:solidFill>
                            <a:schemeClr val="bg1"/>
                          </a:solidFill>
                          <a:effectLst/>
                          <a:latin typeface="Calibri" panose="020F0502020204030204" pitchFamily="34" charset="0"/>
                        </a:rPr>
                        <a:t>RT_14</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0.65</a:t>
                      </a:r>
                    </a:p>
                  </a:txBody>
                  <a:tcPr marL="7620" marR="7620" marT="7620" marB="0" anchor="b">
                    <a:solidFill>
                      <a:schemeClr val="accent1"/>
                    </a:solidFill>
                  </a:tcPr>
                </a:tc>
                <a:extLst>
                  <a:ext uri="{0D108BD9-81ED-4DB2-BD59-A6C34878D82A}">
                    <a16:rowId xmlns:a16="http://schemas.microsoft.com/office/drawing/2014/main" val="3338043965"/>
                  </a:ext>
                </a:extLst>
              </a:tr>
              <a:tr h="281855">
                <a:tc>
                  <a:txBody>
                    <a:bodyPr/>
                    <a:lstStyle/>
                    <a:p>
                      <a:pPr algn="ctr" fontAlgn="b">
                        <a:buNone/>
                      </a:pPr>
                      <a:r>
                        <a:rPr lang="en-IN" sz="1100" b="1" i="0" u="none" strike="noStrike" dirty="0">
                          <a:solidFill>
                            <a:schemeClr val="bg1"/>
                          </a:solidFill>
                          <a:effectLst/>
                          <a:latin typeface="Calibri" panose="020F0502020204030204" pitchFamily="34" charset="0"/>
                        </a:rPr>
                        <a:t>RT_05</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0.65</a:t>
                      </a:r>
                    </a:p>
                  </a:txBody>
                  <a:tcPr marL="7620" marR="7620" marT="7620" marB="0" anchor="b">
                    <a:solidFill>
                      <a:schemeClr val="accent1"/>
                    </a:solidFill>
                  </a:tcPr>
                </a:tc>
                <a:extLst>
                  <a:ext uri="{0D108BD9-81ED-4DB2-BD59-A6C34878D82A}">
                    <a16:rowId xmlns:a16="http://schemas.microsoft.com/office/drawing/2014/main" val="2530735184"/>
                  </a:ext>
                </a:extLst>
              </a:tr>
              <a:tr h="281855">
                <a:tc>
                  <a:txBody>
                    <a:bodyPr/>
                    <a:lstStyle/>
                    <a:p>
                      <a:pPr algn="ctr" fontAlgn="b">
                        <a:buNone/>
                      </a:pPr>
                      <a:r>
                        <a:rPr lang="en-IN" sz="1100" b="1" i="0" u="none" strike="noStrike" dirty="0">
                          <a:solidFill>
                            <a:schemeClr val="bg1"/>
                          </a:solidFill>
                          <a:effectLst/>
                          <a:latin typeface="Calibri" panose="020F0502020204030204" pitchFamily="34" charset="0"/>
                        </a:rPr>
                        <a:t>RT_09</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0.63</a:t>
                      </a:r>
                    </a:p>
                  </a:txBody>
                  <a:tcPr marL="7620" marR="7620" marT="7620" marB="0" anchor="b">
                    <a:solidFill>
                      <a:schemeClr val="accent1"/>
                    </a:solidFill>
                  </a:tcPr>
                </a:tc>
                <a:extLst>
                  <a:ext uri="{0D108BD9-81ED-4DB2-BD59-A6C34878D82A}">
                    <a16:rowId xmlns:a16="http://schemas.microsoft.com/office/drawing/2014/main" val="2797304966"/>
                  </a:ext>
                </a:extLst>
              </a:tr>
              <a:tr h="281855">
                <a:tc>
                  <a:txBody>
                    <a:bodyPr/>
                    <a:lstStyle/>
                    <a:p>
                      <a:pPr algn="ctr" fontAlgn="b">
                        <a:buNone/>
                      </a:pPr>
                      <a:r>
                        <a:rPr lang="en-IN" sz="1100" b="1" i="0" u="none" strike="noStrike" dirty="0">
                          <a:solidFill>
                            <a:schemeClr val="bg1"/>
                          </a:solidFill>
                          <a:effectLst/>
                          <a:latin typeface="Calibri" panose="020F0502020204030204" pitchFamily="34" charset="0"/>
                        </a:rPr>
                        <a:t>RT_02</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0.59</a:t>
                      </a:r>
                    </a:p>
                  </a:txBody>
                  <a:tcPr marL="7620" marR="7620" marT="7620" marB="0" anchor="b">
                    <a:solidFill>
                      <a:schemeClr val="accent1"/>
                    </a:solidFill>
                  </a:tcPr>
                </a:tc>
                <a:extLst>
                  <a:ext uri="{0D108BD9-81ED-4DB2-BD59-A6C34878D82A}">
                    <a16:rowId xmlns:a16="http://schemas.microsoft.com/office/drawing/2014/main" val="1653210555"/>
                  </a:ext>
                </a:extLst>
              </a:tr>
              <a:tr h="281855">
                <a:tc>
                  <a:txBody>
                    <a:bodyPr/>
                    <a:lstStyle/>
                    <a:p>
                      <a:pPr algn="ctr" fontAlgn="b">
                        <a:buNone/>
                      </a:pPr>
                      <a:r>
                        <a:rPr lang="en-IN" sz="1100" b="1" i="0" u="none" strike="noStrike" dirty="0">
                          <a:solidFill>
                            <a:schemeClr val="bg1"/>
                          </a:solidFill>
                          <a:effectLst/>
                          <a:latin typeface="Calibri" panose="020F0502020204030204" pitchFamily="34" charset="0"/>
                        </a:rPr>
                        <a:t>RT_18</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0.57</a:t>
                      </a:r>
                    </a:p>
                  </a:txBody>
                  <a:tcPr marL="7620" marR="7620" marT="7620" marB="0" anchor="b">
                    <a:solidFill>
                      <a:schemeClr val="accent1"/>
                    </a:solidFill>
                  </a:tcPr>
                </a:tc>
                <a:extLst>
                  <a:ext uri="{0D108BD9-81ED-4DB2-BD59-A6C34878D82A}">
                    <a16:rowId xmlns:a16="http://schemas.microsoft.com/office/drawing/2014/main" val="3352266530"/>
                  </a:ext>
                </a:extLst>
              </a:tr>
              <a:tr h="281855">
                <a:tc>
                  <a:txBody>
                    <a:bodyPr/>
                    <a:lstStyle/>
                    <a:p>
                      <a:pPr algn="ctr" fontAlgn="b">
                        <a:buNone/>
                      </a:pPr>
                      <a:r>
                        <a:rPr lang="en-IN" sz="1100" b="1" i="0" u="none" strike="noStrike" dirty="0">
                          <a:solidFill>
                            <a:schemeClr val="bg1"/>
                          </a:solidFill>
                          <a:effectLst/>
                          <a:latin typeface="Calibri" panose="020F0502020204030204" pitchFamily="34" charset="0"/>
                        </a:rPr>
                        <a:t>RT_01</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0.54</a:t>
                      </a:r>
                    </a:p>
                  </a:txBody>
                  <a:tcPr marL="7620" marR="7620" marT="7620" marB="0" anchor="b">
                    <a:solidFill>
                      <a:schemeClr val="accent1"/>
                    </a:solidFill>
                  </a:tcPr>
                </a:tc>
                <a:extLst>
                  <a:ext uri="{0D108BD9-81ED-4DB2-BD59-A6C34878D82A}">
                    <a16:rowId xmlns:a16="http://schemas.microsoft.com/office/drawing/2014/main" val="3766591381"/>
                  </a:ext>
                </a:extLst>
              </a:tr>
              <a:tr h="281855">
                <a:tc>
                  <a:txBody>
                    <a:bodyPr/>
                    <a:lstStyle/>
                    <a:p>
                      <a:pPr algn="ctr" fontAlgn="b">
                        <a:buNone/>
                      </a:pPr>
                      <a:r>
                        <a:rPr lang="en-IN" sz="1100" b="1" i="0" u="none" strike="noStrike" dirty="0">
                          <a:solidFill>
                            <a:schemeClr val="bg1"/>
                          </a:solidFill>
                          <a:effectLst/>
                          <a:latin typeface="Calibri" panose="020F0502020204030204" pitchFamily="34" charset="0"/>
                        </a:rPr>
                        <a:t>RT_12</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0.5</a:t>
                      </a:r>
                    </a:p>
                  </a:txBody>
                  <a:tcPr marL="7620" marR="7620" marT="7620" marB="0" anchor="b">
                    <a:solidFill>
                      <a:schemeClr val="accent1"/>
                    </a:solidFill>
                  </a:tcPr>
                </a:tc>
                <a:extLst>
                  <a:ext uri="{0D108BD9-81ED-4DB2-BD59-A6C34878D82A}">
                    <a16:rowId xmlns:a16="http://schemas.microsoft.com/office/drawing/2014/main" val="3347653570"/>
                  </a:ext>
                </a:extLst>
              </a:tr>
              <a:tr h="281855">
                <a:tc>
                  <a:txBody>
                    <a:bodyPr/>
                    <a:lstStyle/>
                    <a:p>
                      <a:pPr algn="ctr" fontAlgn="b">
                        <a:buNone/>
                      </a:pPr>
                      <a:r>
                        <a:rPr lang="en-IN" sz="1100" b="1" i="0" u="none" strike="noStrike" dirty="0">
                          <a:solidFill>
                            <a:schemeClr val="bg1"/>
                          </a:solidFill>
                          <a:effectLst/>
                          <a:latin typeface="Calibri" panose="020F0502020204030204" pitchFamily="34" charset="0"/>
                        </a:rPr>
                        <a:t>RT_06</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0.5</a:t>
                      </a:r>
                    </a:p>
                  </a:txBody>
                  <a:tcPr marL="7620" marR="7620" marT="7620" marB="0" anchor="b">
                    <a:solidFill>
                      <a:schemeClr val="accent1"/>
                    </a:solidFill>
                  </a:tcPr>
                </a:tc>
                <a:extLst>
                  <a:ext uri="{0D108BD9-81ED-4DB2-BD59-A6C34878D82A}">
                    <a16:rowId xmlns:a16="http://schemas.microsoft.com/office/drawing/2014/main" val="1519181807"/>
                  </a:ext>
                </a:extLst>
              </a:tr>
              <a:tr h="281855">
                <a:tc>
                  <a:txBody>
                    <a:bodyPr/>
                    <a:lstStyle/>
                    <a:p>
                      <a:pPr algn="ctr" fontAlgn="b">
                        <a:buNone/>
                      </a:pPr>
                      <a:r>
                        <a:rPr lang="en-IN" sz="1100" b="1" i="0" u="none" strike="noStrike" dirty="0">
                          <a:solidFill>
                            <a:schemeClr val="bg1"/>
                          </a:solidFill>
                          <a:effectLst/>
                          <a:latin typeface="Calibri" panose="020F0502020204030204" pitchFamily="34" charset="0"/>
                        </a:rPr>
                        <a:t>RT_16</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0.5</a:t>
                      </a:r>
                    </a:p>
                  </a:txBody>
                  <a:tcPr marL="7620" marR="7620" marT="7620" marB="0" anchor="b">
                    <a:solidFill>
                      <a:schemeClr val="accent1"/>
                    </a:solidFill>
                  </a:tcPr>
                </a:tc>
                <a:extLst>
                  <a:ext uri="{0D108BD9-81ED-4DB2-BD59-A6C34878D82A}">
                    <a16:rowId xmlns:a16="http://schemas.microsoft.com/office/drawing/2014/main" val="3822048953"/>
                  </a:ext>
                </a:extLst>
              </a:tr>
            </a:tbl>
          </a:graphicData>
        </a:graphic>
      </p:graphicFrame>
      <p:sp>
        <p:nvSpPr>
          <p:cNvPr id="8" name="TextBox 7">
            <a:extLst>
              <a:ext uri="{FF2B5EF4-FFF2-40B4-BE49-F238E27FC236}">
                <a16:creationId xmlns:a16="http://schemas.microsoft.com/office/drawing/2014/main" id="{B1EB0D1D-ABC2-AEC9-4C74-3198351953AF}"/>
              </a:ext>
            </a:extLst>
          </p:cNvPr>
          <p:cNvSpPr txBox="1"/>
          <p:nvPr/>
        </p:nvSpPr>
        <p:spPr>
          <a:xfrm>
            <a:off x="6499123" y="2627790"/>
            <a:ext cx="5692877" cy="369332"/>
          </a:xfrm>
          <a:prstGeom prst="rect">
            <a:avLst/>
          </a:prstGeom>
          <a:noFill/>
        </p:spPr>
        <p:txBody>
          <a:bodyPr wrap="square" rtlCol="0">
            <a:spAutoFit/>
          </a:bodyPr>
          <a:lstStyle/>
          <a:p>
            <a:r>
              <a:rPr lang="en-US" b="1" dirty="0">
                <a:latin typeface="Calibri" panose="020F0502020204030204" pitchFamily="34" charset="0"/>
                <a:cs typeface="Calibri" panose="020F0502020204030204" pitchFamily="34" charset="0"/>
              </a:rPr>
              <a:t>Top 10 delayed routes based on Average Delay Days </a:t>
            </a:r>
            <a:endParaRPr lang="en-IN" b="1" dirty="0">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73C0AA0A-9189-8930-5C12-60C9F1BB40EA}"/>
              </a:ext>
            </a:extLst>
          </p:cNvPr>
          <p:cNvSpPr txBox="1"/>
          <p:nvPr/>
        </p:nvSpPr>
        <p:spPr>
          <a:xfrm>
            <a:off x="4178709" y="33791"/>
            <a:ext cx="4488793" cy="461665"/>
          </a:xfrm>
          <a:prstGeom prst="rect">
            <a:avLst/>
          </a:prstGeom>
          <a:noFill/>
        </p:spPr>
        <p:txBody>
          <a:bodyPr wrap="none" rtlCol="0">
            <a:spAutoFit/>
          </a:bodyPr>
          <a:lstStyle/>
          <a:p>
            <a:r>
              <a:rPr lang="en-US" sz="2400" b="1" dirty="0">
                <a:solidFill>
                  <a:schemeClr val="accent1"/>
                </a:solidFill>
                <a:latin typeface="Calibri" panose="020F0502020204030204" pitchFamily="34" charset="0"/>
                <a:cs typeface="Calibri" panose="020F0502020204030204" pitchFamily="34" charset="0"/>
              </a:rPr>
              <a:t>TASK 2-DELIVERY DELAY ANALYSIS</a:t>
            </a:r>
            <a:endParaRPr lang="en-IN" sz="2400" b="1" dirty="0">
              <a:solidFill>
                <a:schemeClr val="accent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436361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2387593-B64E-EDFF-FEE1-F9E4140853A6}"/>
              </a:ext>
            </a:extLst>
          </p:cNvPr>
          <p:cNvSpPr/>
          <p:nvPr/>
        </p:nvSpPr>
        <p:spPr>
          <a:xfrm>
            <a:off x="812800" y="256294"/>
            <a:ext cx="6390640" cy="19202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latin typeface="Calibri" panose="020F0502020204030204" pitchFamily="34" charset="0"/>
                <a:cs typeface="Calibri" panose="020F0502020204030204" pitchFamily="34" charset="0"/>
              </a:rPr>
              <a:t>SELECT warehouse_id,order_id,route_id,DATEDIFF(actual_delivery_date, expected_delivery_date) AS delivery_delay_days,</a:t>
            </a:r>
          </a:p>
          <a:p>
            <a:r>
              <a:rPr lang="en-US" b="1" dirty="0">
                <a:latin typeface="Calibri" panose="020F0502020204030204" pitchFamily="34" charset="0"/>
                <a:cs typeface="Calibri" panose="020F0502020204030204" pitchFamily="34" charset="0"/>
              </a:rPr>
              <a:t>rank() OVER (PARTITION BY warehouse_id ORDER BY DATEDIFF(actual_delivery_date, expected_delivery_date)desc) AS delay_rank FROM flipkart_orders;</a:t>
            </a:r>
            <a:endParaRPr lang="en-IN" b="1"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6538AA0E-7ECF-A100-BF60-03E4D3AC1A53}"/>
              </a:ext>
            </a:extLst>
          </p:cNvPr>
          <p:cNvSpPr txBox="1"/>
          <p:nvPr/>
        </p:nvSpPr>
        <p:spPr>
          <a:xfrm>
            <a:off x="731520" y="2390047"/>
            <a:ext cx="5404493" cy="369332"/>
          </a:xfrm>
          <a:prstGeom prst="rect">
            <a:avLst/>
          </a:prstGeom>
          <a:noFill/>
        </p:spPr>
        <p:txBody>
          <a:bodyPr wrap="none" rtlCol="0">
            <a:spAutoFit/>
          </a:bodyPr>
          <a:lstStyle/>
          <a:p>
            <a:r>
              <a:rPr lang="en-US" b="1" dirty="0">
                <a:latin typeface="Calibri" panose="020F0502020204030204" pitchFamily="34" charset="0"/>
                <a:cs typeface="Calibri" panose="020F0502020204030204" pitchFamily="34" charset="0"/>
              </a:rPr>
              <a:t>Ranking all orders in each warehouse by delivery delay</a:t>
            </a:r>
            <a:endParaRPr lang="en-IN" b="1" dirty="0">
              <a:latin typeface="Calibri" panose="020F0502020204030204" pitchFamily="34" charset="0"/>
              <a:cs typeface="Calibri" panose="020F0502020204030204" pitchFamily="34" charset="0"/>
            </a:endParaRPr>
          </a:p>
        </p:txBody>
      </p:sp>
      <p:graphicFrame>
        <p:nvGraphicFramePr>
          <p:cNvPr id="5" name="Table 4">
            <a:extLst>
              <a:ext uri="{FF2B5EF4-FFF2-40B4-BE49-F238E27FC236}">
                <a16:creationId xmlns:a16="http://schemas.microsoft.com/office/drawing/2014/main" id="{FE328E5E-F5BF-7F61-7A7D-D3CD758148D0}"/>
              </a:ext>
            </a:extLst>
          </p:cNvPr>
          <p:cNvGraphicFramePr>
            <a:graphicFrameLocks noGrp="1"/>
          </p:cNvGraphicFramePr>
          <p:nvPr>
            <p:extLst>
              <p:ext uri="{D42A27DB-BD31-4B8C-83A1-F6EECF244321}">
                <p14:modId xmlns:p14="http://schemas.microsoft.com/office/powerpoint/2010/main" val="2246827487"/>
              </p:ext>
            </p:extLst>
          </p:nvPr>
        </p:nvGraphicFramePr>
        <p:xfrm>
          <a:off x="812800" y="2824480"/>
          <a:ext cx="4795520" cy="3708400"/>
        </p:xfrm>
        <a:graphic>
          <a:graphicData uri="http://schemas.openxmlformats.org/drawingml/2006/table">
            <a:tbl>
              <a:tblPr firstRow="1" bandRow="1">
                <a:tableStyleId>{5C22544A-7EE6-4342-B048-85BDC9FD1C3A}</a:tableStyleId>
              </a:tblPr>
              <a:tblGrid>
                <a:gridCol w="1198880">
                  <a:extLst>
                    <a:ext uri="{9D8B030D-6E8A-4147-A177-3AD203B41FA5}">
                      <a16:colId xmlns:a16="http://schemas.microsoft.com/office/drawing/2014/main" val="798479074"/>
                    </a:ext>
                  </a:extLst>
                </a:gridCol>
                <a:gridCol w="1198880">
                  <a:extLst>
                    <a:ext uri="{9D8B030D-6E8A-4147-A177-3AD203B41FA5}">
                      <a16:colId xmlns:a16="http://schemas.microsoft.com/office/drawing/2014/main" val="1733262990"/>
                    </a:ext>
                  </a:extLst>
                </a:gridCol>
                <a:gridCol w="1330960">
                  <a:extLst>
                    <a:ext uri="{9D8B030D-6E8A-4147-A177-3AD203B41FA5}">
                      <a16:colId xmlns:a16="http://schemas.microsoft.com/office/drawing/2014/main" val="2921226220"/>
                    </a:ext>
                  </a:extLst>
                </a:gridCol>
                <a:gridCol w="1066800">
                  <a:extLst>
                    <a:ext uri="{9D8B030D-6E8A-4147-A177-3AD203B41FA5}">
                      <a16:colId xmlns:a16="http://schemas.microsoft.com/office/drawing/2014/main" val="2323689214"/>
                    </a:ext>
                  </a:extLst>
                </a:gridCol>
              </a:tblGrid>
              <a:tr h="370840">
                <a:tc>
                  <a:txBody>
                    <a:bodyPr/>
                    <a:lstStyle/>
                    <a:p>
                      <a:pPr algn="ctr" fontAlgn="b">
                        <a:buNone/>
                      </a:pPr>
                      <a:r>
                        <a:rPr lang="en-IN" sz="1100" b="1" i="0" u="none" strike="noStrike" dirty="0">
                          <a:solidFill>
                            <a:schemeClr val="bg1"/>
                          </a:solidFill>
                          <a:effectLst/>
                          <a:latin typeface="Calibri" panose="020F0502020204030204" pitchFamily="34" charset="0"/>
                        </a:rPr>
                        <a:t>Warehouse ID</a:t>
                      </a:r>
                    </a:p>
                  </a:txBody>
                  <a:tcPr marL="7620" marR="7620" marT="7620" marB="0" anchor="b">
                    <a:solidFill>
                      <a:schemeClr val="accent1"/>
                    </a:solidFill>
                  </a:tcPr>
                </a:tc>
                <a:tc>
                  <a:txBody>
                    <a:bodyPr/>
                    <a:lstStyle/>
                    <a:p>
                      <a:pPr algn="ctr" fontAlgn="b">
                        <a:buNone/>
                      </a:pPr>
                      <a:r>
                        <a:rPr lang="en-US" sz="1100" b="1" i="0" u="none" strike="noStrike" dirty="0">
                          <a:solidFill>
                            <a:schemeClr val="bg1"/>
                          </a:solidFill>
                          <a:effectLst/>
                          <a:latin typeface="Calibri" panose="020F0502020204030204" pitchFamily="34" charset="0"/>
                        </a:rPr>
                        <a:t>Order ID</a:t>
                      </a:r>
                      <a:endParaRPr lang="en-IN" sz="1100" b="1" i="0" u="none" strike="noStrike" dirty="0">
                        <a:solidFill>
                          <a:schemeClr val="bg1"/>
                        </a:solidFill>
                        <a:effectLst/>
                        <a:latin typeface="Calibri" panose="020F0502020204030204" pitchFamily="34" charset="0"/>
                      </a:endParaRP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Delivery Delay Days</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Delay Rank</a:t>
                      </a:r>
                    </a:p>
                  </a:txBody>
                  <a:tcPr marL="7620" marR="7620" marT="7620" marB="0" anchor="b">
                    <a:solidFill>
                      <a:schemeClr val="accent1"/>
                    </a:solidFill>
                  </a:tcPr>
                </a:tc>
                <a:extLst>
                  <a:ext uri="{0D108BD9-81ED-4DB2-BD59-A6C34878D82A}">
                    <a16:rowId xmlns:a16="http://schemas.microsoft.com/office/drawing/2014/main" val="3655914976"/>
                  </a:ext>
                </a:extLst>
              </a:tr>
              <a:tr h="370840">
                <a:tc>
                  <a:txBody>
                    <a:bodyPr/>
                    <a:lstStyle/>
                    <a:p>
                      <a:pPr algn="ctr" fontAlgn="b">
                        <a:buNone/>
                      </a:pPr>
                      <a:r>
                        <a:rPr lang="en-IN" sz="1100" b="1" i="0" u="none" strike="noStrike" dirty="0">
                          <a:solidFill>
                            <a:schemeClr val="bg1"/>
                          </a:solidFill>
                          <a:effectLst/>
                          <a:latin typeface="Calibri" panose="020F0502020204030204" pitchFamily="34" charset="0"/>
                        </a:rPr>
                        <a:t>WH_01</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FLP-ORD-0077</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3</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1</a:t>
                      </a:r>
                    </a:p>
                  </a:txBody>
                  <a:tcPr marL="7620" marR="7620" marT="7620" marB="0" anchor="b">
                    <a:solidFill>
                      <a:schemeClr val="accent1"/>
                    </a:solidFill>
                  </a:tcPr>
                </a:tc>
                <a:extLst>
                  <a:ext uri="{0D108BD9-81ED-4DB2-BD59-A6C34878D82A}">
                    <a16:rowId xmlns:a16="http://schemas.microsoft.com/office/drawing/2014/main" val="2015068992"/>
                  </a:ext>
                </a:extLst>
              </a:tr>
              <a:tr h="370840">
                <a:tc>
                  <a:txBody>
                    <a:bodyPr/>
                    <a:lstStyle/>
                    <a:p>
                      <a:pPr algn="ctr" fontAlgn="b">
                        <a:buNone/>
                      </a:pPr>
                      <a:r>
                        <a:rPr lang="en-IN" sz="1100" b="1" i="0" u="none" strike="noStrike" dirty="0">
                          <a:solidFill>
                            <a:schemeClr val="bg1"/>
                          </a:solidFill>
                          <a:effectLst/>
                          <a:latin typeface="Calibri" panose="020F0502020204030204" pitchFamily="34" charset="0"/>
                        </a:rPr>
                        <a:t>WH_01</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FLP-ORD-0194</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3</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1</a:t>
                      </a:r>
                    </a:p>
                  </a:txBody>
                  <a:tcPr marL="7620" marR="7620" marT="7620" marB="0" anchor="b">
                    <a:solidFill>
                      <a:schemeClr val="accent1"/>
                    </a:solidFill>
                  </a:tcPr>
                </a:tc>
                <a:extLst>
                  <a:ext uri="{0D108BD9-81ED-4DB2-BD59-A6C34878D82A}">
                    <a16:rowId xmlns:a16="http://schemas.microsoft.com/office/drawing/2014/main" val="1561505974"/>
                  </a:ext>
                </a:extLst>
              </a:tr>
              <a:tr h="370840">
                <a:tc>
                  <a:txBody>
                    <a:bodyPr/>
                    <a:lstStyle/>
                    <a:p>
                      <a:pPr algn="ctr" fontAlgn="b">
                        <a:buNone/>
                      </a:pPr>
                      <a:r>
                        <a:rPr lang="en-IN" sz="1100" b="1" i="0" u="none" strike="noStrike" dirty="0">
                          <a:solidFill>
                            <a:schemeClr val="bg1"/>
                          </a:solidFill>
                          <a:effectLst/>
                          <a:latin typeface="Calibri" panose="020F0502020204030204" pitchFamily="34" charset="0"/>
                        </a:rPr>
                        <a:t>WH_01</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FLP-ORD-0210</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2</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3</a:t>
                      </a:r>
                    </a:p>
                  </a:txBody>
                  <a:tcPr marL="7620" marR="7620" marT="7620" marB="0" anchor="b">
                    <a:solidFill>
                      <a:schemeClr val="accent1"/>
                    </a:solidFill>
                  </a:tcPr>
                </a:tc>
                <a:extLst>
                  <a:ext uri="{0D108BD9-81ED-4DB2-BD59-A6C34878D82A}">
                    <a16:rowId xmlns:a16="http://schemas.microsoft.com/office/drawing/2014/main" val="3324543126"/>
                  </a:ext>
                </a:extLst>
              </a:tr>
              <a:tr h="370840">
                <a:tc>
                  <a:txBody>
                    <a:bodyPr/>
                    <a:lstStyle/>
                    <a:p>
                      <a:pPr algn="ctr" fontAlgn="b">
                        <a:buNone/>
                      </a:pPr>
                      <a:r>
                        <a:rPr lang="en-IN" sz="1100" b="1" i="0" u="none" strike="noStrike" dirty="0">
                          <a:solidFill>
                            <a:schemeClr val="bg1"/>
                          </a:solidFill>
                          <a:effectLst/>
                          <a:latin typeface="Calibri" panose="020F0502020204030204" pitchFamily="34" charset="0"/>
                        </a:rPr>
                        <a:t>WH_01</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FLP-ORD-0055</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2</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3</a:t>
                      </a:r>
                    </a:p>
                  </a:txBody>
                  <a:tcPr marL="7620" marR="7620" marT="7620" marB="0" anchor="b">
                    <a:solidFill>
                      <a:schemeClr val="accent1"/>
                    </a:solidFill>
                  </a:tcPr>
                </a:tc>
                <a:extLst>
                  <a:ext uri="{0D108BD9-81ED-4DB2-BD59-A6C34878D82A}">
                    <a16:rowId xmlns:a16="http://schemas.microsoft.com/office/drawing/2014/main" val="2985592023"/>
                  </a:ext>
                </a:extLst>
              </a:tr>
              <a:tr h="370840">
                <a:tc>
                  <a:txBody>
                    <a:bodyPr/>
                    <a:lstStyle/>
                    <a:p>
                      <a:pPr algn="ctr" fontAlgn="b">
                        <a:buNone/>
                      </a:pPr>
                      <a:r>
                        <a:rPr lang="en-IN" sz="1100" b="1" i="0" u="none" strike="noStrike" dirty="0">
                          <a:solidFill>
                            <a:schemeClr val="bg1"/>
                          </a:solidFill>
                          <a:effectLst/>
                          <a:latin typeface="Calibri" panose="020F0502020204030204" pitchFamily="34" charset="0"/>
                        </a:rPr>
                        <a:t>WH_01</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FLP-ORD-0148</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1</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5</a:t>
                      </a:r>
                    </a:p>
                  </a:txBody>
                  <a:tcPr marL="7620" marR="7620" marT="7620" marB="0" anchor="b">
                    <a:solidFill>
                      <a:schemeClr val="accent1"/>
                    </a:solidFill>
                  </a:tcPr>
                </a:tc>
                <a:extLst>
                  <a:ext uri="{0D108BD9-81ED-4DB2-BD59-A6C34878D82A}">
                    <a16:rowId xmlns:a16="http://schemas.microsoft.com/office/drawing/2014/main" val="3704583084"/>
                  </a:ext>
                </a:extLst>
              </a:tr>
              <a:tr h="370840">
                <a:tc>
                  <a:txBody>
                    <a:bodyPr/>
                    <a:lstStyle/>
                    <a:p>
                      <a:pPr algn="ctr" fontAlgn="b">
                        <a:buNone/>
                      </a:pPr>
                      <a:r>
                        <a:rPr lang="en-IN" sz="1100" b="1" i="0" u="none" strike="noStrike" dirty="0">
                          <a:solidFill>
                            <a:schemeClr val="bg1"/>
                          </a:solidFill>
                          <a:effectLst/>
                          <a:latin typeface="Calibri" panose="020F0502020204030204" pitchFamily="34" charset="0"/>
                        </a:rPr>
                        <a:t>WH_01</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FLP-ORD-0296</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1</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5</a:t>
                      </a:r>
                    </a:p>
                  </a:txBody>
                  <a:tcPr marL="7620" marR="7620" marT="7620" marB="0" anchor="b">
                    <a:solidFill>
                      <a:schemeClr val="accent1"/>
                    </a:solidFill>
                  </a:tcPr>
                </a:tc>
                <a:extLst>
                  <a:ext uri="{0D108BD9-81ED-4DB2-BD59-A6C34878D82A}">
                    <a16:rowId xmlns:a16="http://schemas.microsoft.com/office/drawing/2014/main" val="1138463202"/>
                  </a:ext>
                </a:extLst>
              </a:tr>
              <a:tr h="370840">
                <a:tc>
                  <a:txBody>
                    <a:bodyPr/>
                    <a:lstStyle/>
                    <a:p>
                      <a:pPr algn="ctr" fontAlgn="b">
                        <a:buNone/>
                      </a:pPr>
                      <a:r>
                        <a:rPr lang="en-IN" sz="1100" b="1" i="0" u="none" strike="noStrike" dirty="0">
                          <a:solidFill>
                            <a:schemeClr val="bg1"/>
                          </a:solidFill>
                          <a:effectLst/>
                          <a:latin typeface="Calibri" panose="020F0502020204030204" pitchFamily="34" charset="0"/>
                        </a:rPr>
                        <a:t>WH_01</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FLP-ORD-0002</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0</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7</a:t>
                      </a:r>
                    </a:p>
                  </a:txBody>
                  <a:tcPr marL="7620" marR="7620" marT="7620" marB="0" anchor="b">
                    <a:solidFill>
                      <a:schemeClr val="accent1"/>
                    </a:solidFill>
                  </a:tcPr>
                </a:tc>
                <a:extLst>
                  <a:ext uri="{0D108BD9-81ED-4DB2-BD59-A6C34878D82A}">
                    <a16:rowId xmlns:a16="http://schemas.microsoft.com/office/drawing/2014/main" val="3538507544"/>
                  </a:ext>
                </a:extLst>
              </a:tr>
              <a:tr h="370840">
                <a:tc>
                  <a:txBody>
                    <a:bodyPr/>
                    <a:lstStyle/>
                    <a:p>
                      <a:pPr algn="ctr" fontAlgn="b">
                        <a:buNone/>
                      </a:pPr>
                      <a:r>
                        <a:rPr lang="en-IN" sz="1100" b="1" i="0" u="none" strike="noStrike" dirty="0">
                          <a:solidFill>
                            <a:schemeClr val="bg1"/>
                          </a:solidFill>
                          <a:effectLst/>
                          <a:latin typeface="Calibri" panose="020F0502020204030204" pitchFamily="34" charset="0"/>
                        </a:rPr>
                        <a:t>WH_01</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FLP-ORD-0164</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0</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7</a:t>
                      </a:r>
                    </a:p>
                  </a:txBody>
                  <a:tcPr marL="7620" marR="7620" marT="7620" marB="0" anchor="b">
                    <a:solidFill>
                      <a:schemeClr val="accent1"/>
                    </a:solidFill>
                  </a:tcPr>
                </a:tc>
                <a:extLst>
                  <a:ext uri="{0D108BD9-81ED-4DB2-BD59-A6C34878D82A}">
                    <a16:rowId xmlns:a16="http://schemas.microsoft.com/office/drawing/2014/main" val="2092983636"/>
                  </a:ext>
                </a:extLst>
              </a:tr>
              <a:tr h="370840">
                <a:tc>
                  <a:txBody>
                    <a:bodyPr/>
                    <a:lstStyle/>
                    <a:p>
                      <a:pPr algn="ctr" fontAlgn="b">
                        <a:buNone/>
                      </a:pPr>
                      <a:r>
                        <a:rPr lang="en-IN" sz="1100" b="1" i="0" u="none" strike="noStrike" dirty="0">
                          <a:solidFill>
                            <a:schemeClr val="bg1"/>
                          </a:solidFill>
                          <a:effectLst/>
                          <a:latin typeface="Calibri" panose="020F0502020204030204" pitchFamily="34" charset="0"/>
                        </a:rPr>
                        <a:t>WH_01</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FLP-ORD-0054</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0</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7</a:t>
                      </a:r>
                    </a:p>
                  </a:txBody>
                  <a:tcPr marL="7620" marR="7620" marT="7620" marB="0" anchor="b">
                    <a:solidFill>
                      <a:schemeClr val="accent1"/>
                    </a:solidFill>
                  </a:tcPr>
                </a:tc>
                <a:extLst>
                  <a:ext uri="{0D108BD9-81ED-4DB2-BD59-A6C34878D82A}">
                    <a16:rowId xmlns:a16="http://schemas.microsoft.com/office/drawing/2014/main" val="1619499126"/>
                  </a:ext>
                </a:extLst>
              </a:tr>
            </a:tbl>
          </a:graphicData>
        </a:graphic>
      </p:graphicFrame>
      <p:graphicFrame>
        <p:nvGraphicFramePr>
          <p:cNvPr id="6" name="Table 5">
            <a:extLst>
              <a:ext uri="{FF2B5EF4-FFF2-40B4-BE49-F238E27FC236}">
                <a16:creationId xmlns:a16="http://schemas.microsoft.com/office/drawing/2014/main" id="{EB79508B-A8C7-1853-416E-6D76350CBC01}"/>
              </a:ext>
            </a:extLst>
          </p:cNvPr>
          <p:cNvGraphicFramePr>
            <a:graphicFrameLocks noGrp="1"/>
          </p:cNvGraphicFramePr>
          <p:nvPr>
            <p:extLst>
              <p:ext uri="{D42A27DB-BD31-4B8C-83A1-F6EECF244321}">
                <p14:modId xmlns:p14="http://schemas.microsoft.com/office/powerpoint/2010/main" val="4037558194"/>
              </p:ext>
            </p:extLst>
          </p:nvPr>
        </p:nvGraphicFramePr>
        <p:xfrm>
          <a:off x="6096000" y="2814071"/>
          <a:ext cx="4392395" cy="3718809"/>
        </p:xfrm>
        <a:graphic>
          <a:graphicData uri="http://schemas.openxmlformats.org/drawingml/2006/table">
            <a:tbl>
              <a:tblPr firstRow="1" bandRow="1">
                <a:tableStyleId>{5C22544A-7EE6-4342-B048-85BDC9FD1C3A}</a:tableStyleId>
              </a:tblPr>
              <a:tblGrid>
                <a:gridCol w="1199535">
                  <a:extLst>
                    <a:ext uri="{9D8B030D-6E8A-4147-A177-3AD203B41FA5}">
                      <a16:colId xmlns:a16="http://schemas.microsoft.com/office/drawing/2014/main" val="3343779689"/>
                    </a:ext>
                  </a:extLst>
                </a:gridCol>
                <a:gridCol w="1022555">
                  <a:extLst>
                    <a:ext uri="{9D8B030D-6E8A-4147-A177-3AD203B41FA5}">
                      <a16:colId xmlns:a16="http://schemas.microsoft.com/office/drawing/2014/main" val="1302951305"/>
                    </a:ext>
                  </a:extLst>
                </a:gridCol>
                <a:gridCol w="1120878">
                  <a:extLst>
                    <a:ext uri="{9D8B030D-6E8A-4147-A177-3AD203B41FA5}">
                      <a16:colId xmlns:a16="http://schemas.microsoft.com/office/drawing/2014/main" val="3400798735"/>
                    </a:ext>
                  </a:extLst>
                </a:gridCol>
                <a:gridCol w="1049427">
                  <a:extLst>
                    <a:ext uri="{9D8B030D-6E8A-4147-A177-3AD203B41FA5}">
                      <a16:colId xmlns:a16="http://schemas.microsoft.com/office/drawing/2014/main" val="2853992154"/>
                    </a:ext>
                  </a:extLst>
                </a:gridCol>
              </a:tblGrid>
              <a:tr h="446795">
                <a:tc>
                  <a:txBody>
                    <a:bodyPr/>
                    <a:lstStyle/>
                    <a:p>
                      <a:pPr algn="ctr"/>
                      <a:r>
                        <a:rPr lang="en-US" sz="1200" b="1" dirty="0">
                          <a:solidFill>
                            <a:schemeClr val="bg1"/>
                          </a:solidFill>
                          <a:latin typeface="Calibri" panose="020F0502020204030204" pitchFamily="34" charset="0"/>
                          <a:cs typeface="Calibri" panose="020F0502020204030204" pitchFamily="34" charset="0"/>
                        </a:rPr>
                        <a:t>Warehouse ID</a:t>
                      </a:r>
                      <a:endParaRPr lang="en-IN" sz="1200" b="1" dirty="0">
                        <a:solidFill>
                          <a:schemeClr val="bg1"/>
                        </a:solidFill>
                        <a:latin typeface="Calibri" panose="020F0502020204030204" pitchFamily="34" charset="0"/>
                        <a:cs typeface="Calibri" panose="020F0502020204030204" pitchFamily="34" charset="0"/>
                      </a:endParaRPr>
                    </a:p>
                  </a:txBody>
                  <a:tcPr>
                    <a:solidFill>
                      <a:schemeClr val="accent1"/>
                    </a:solidFill>
                  </a:tcPr>
                </a:tc>
                <a:tc>
                  <a:txBody>
                    <a:bodyPr/>
                    <a:lstStyle/>
                    <a:p>
                      <a:pPr algn="ctr"/>
                      <a:r>
                        <a:rPr lang="en-US" sz="1200" b="1" dirty="0">
                          <a:solidFill>
                            <a:schemeClr val="bg1"/>
                          </a:solidFill>
                          <a:latin typeface="Calibri" panose="020F0502020204030204" pitchFamily="34" charset="0"/>
                          <a:cs typeface="Calibri" panose="020F0502020204030204" pitchFamily="34" charset="0"/>
                        </a:rPr>
                        <a:t>Order ID</a:t>
                      </a:r>
                      <a:endParaRPr lang="en-IN" sz="1200" b="1" dirty="0">
                        <a:solidFill>
                          <a:schemeClr val="bg1"/>
                        </a:solidFill>
                        <a:latin typeface="Calibri" panose="020F0502020204030204" pitchFamily="34" charset="0"/>
                        <a:cs typeface="Calibri" panose="020F0502020204030204" pitchFamily="34" charset="0"/>
                      </a:endParaRPr>
                    </a:p>
                  </a:txBody>
                  <a:tcPr>
                    <a:solidFill>
                      <a:schemeClr val="accent1"/>
                    </a:solidFill>
                  </a:tcPr>
                </a:tc>
                <a:tc>
                  <a:txBody>
                    <a:bodyPr/>
                    <a:lstStyle/>
                    <a:p>
                      <a:pPr algn="ctr"/>
                      <a:r>
                        <a:rPr lang="en-US" sz="1200" b="1" dirty="0">
                          <a:solidFill>
                            <a:schemeClr val="bg1"/>
                          </a:solidFill>
                          <a:latin typeface="Calibri" panose="020F0502020204030204" pitchFamily="34" charset="0"/>
                          <a:cs typeface="Calibri" panose="020F0502020204030204" pitchFamily="34" charset="0"/>
                        </a:rPr>
                        <a:t>Delivery Delay Days</a:t>
                      </a:r>
                      <a:endParaRPr lang="en-IN" sz="1200" b="1" dirty="0">
                        <a:solidFill>
                          <a:schemeClr val="bg1"/>
                        </a:solidFill>
                        <a:latin typeface="Calibri" panose="020F0502020204030204" pitchFamily="34" charset="0"/>
                        <a:cs typeface="Calibri" panose="020F0502020204030204" pitchFamily="34" charset="0"/>
                      </a:endParaRPr>
                    </a:p>
                  </a:txBody>
                  <a:tcPr>
                    <a:solidFill>
                      <a:schemeClr val="accent1"/>
                    </a:solidFill>
                  </a:tcPr>
                </a:tc>
                <a:tc>
                  <a:txBody>
                    <a:bodyPr/>
                    <a:lstStyle/>
                    <a:p>
                      <a:pPr algn="ctr"/>
                      <a:r>
                        <a:rPr lang="en-US" sz="1200" b="1" dirty="0">
                          <a:solidFill>
                            <a:schemeClr val="bg1"/>
                          </a:solidFill>
                          <a:latin typeface="Calibri" panose="020F0502020204030204" pitchFamily="34" charset="0"/>
                          <a:cs typeface="Calibri" panose="020F0502020204030204" pitchFamily="34" charset="0"/>
                        </a:rPr>
                        <a:t>Delay Rank</a:t>
                      </a:r>
                      <a:endParaRPr lang="en-IN" sz="1200" b="1" dirty="0">
                        <a:solidFill>
                          <a:schemeClr val="bg1"/>
                        </a:solidFill>
                        <a:latin typeface="Calibri" panose="020F0502020204030204" pitchFamily="34" charset="0"/>
                        <a:cs typeface="Calibri" panose="020F0502020204030204" pitchFamily="34" charset="0"/>
                      </a:endParaRPr>
                    </a:p>
                  </a:txBody>
                  <a:tcPr>
                    <a:solidFill>
                      <a:schemeClr val="accent1"/>
                    </a:solidFill>
                  </a:tcPr>
                </a:tc>
                <a:extLst>
                  <a:ext uri="{0D108BD9-81ED-4DB2-BD59-A6C34878D82A}">
                    <a16:rowId xmlns:a16="http://schemas.microsoft.com/office/drawing/2014/main" val="727343450"/>
                  </a:ext>
                </a:extLst>
              </a:tr>
              <a:tr h="362401">
                <a:tc>
                  <a:txBody>
                    <a:bodyPr/>
                    <a:lstStyle/>
                    <a:p>
                      <a:pPr algn="ctr" fontAlgn="b">
                        <a:buNone/>
                      </a:pPr>
                      <a:r>
                        <a:rPr lang="en-IN" sz="1100" b="1" i="0" u="none" strike="noStrike" dirty="0">
                          <a:solidFill>
                            <a:schemeClr val="bg1"/>
                          </a:solidFill>
                          <a:effectLst/>
                          <a:latin typeface="Calibri" panose="020F0502020204030204" pitchFamily="34" charset="0"/>
                        </a:rPr>
                        <a:t>WH_02</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FLP-ORD-0215</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3</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1</a:t>
                      </a:r>
                    </a:p>
                  </a:txBody>
                  <a:tcPr marL="7620" marR="7620" marT="7620" marB="0" anchor="b">
                    <a:solidFill>
                      <a:schemeClr val="accent1"/>
                    </a:solidFill>
                  </a:tcPr>
                </a:tc>
                <a:extLst>
                  <a:ext uri="{0D108BD9-81ED-4DB2-BD59-A6C34878D82A}">
                    <a16:rowId xmlns:a16="http://schemas.microsoft.com/office/drawing/2014/main" val="463529198"/>
                  </a:ext>
                </a:extLst>
              </a:tr>
              <a:tr h="362401">
                <a:tc>
                  <a:txBody>
                    <a:bodyPr/>
                    <a:lstStyle/>
                    <a:p>
                      <a:pPr algn="ctr" fontAlgn="b">
                        <a:buNone/>
                      </a:pPr>
                      <a:r>
                        <a:rPr lang="en-IN" sz="1100" b="1" i="0" u="none" strike="noStrike" dirty="0">
                          <a:solidFill>
                            <a:schemeClr val="bg1"/>
                          </a:solidFill>
                          <a:effectLst/>
                          <a:latin typeface="Calibri" panose="020F0502020204030204" pitchFamily="34" charset="0"/>
                        </a:rPr>
                        <a:t>WH_02</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FLP-ORD-0273</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3</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1</a:t>
                      </a:r>
                    </a:p>
                  </a:txBody>
                  <a:tcPr marL="7620" marR="7620" marT="7620" marB="0" anchor="b">
                    <a:solidFill>
                      <a:schemeClr val="accent1"/>
                    </a:solidFill>
                  </a:tcPr>
                </a:tc>
                <a:extLst>
                  <a:ext uri="{0D108BD9-81ED-4DB2-BD59-A6C34878D82A}">
                    <a16:rowId xmlns:a16="http://schemas.microsoft.com/office/drawing/2014/main" val="599615079"/>
                  </a:ext>
                </a:extLst>
              </a:tr>
              <a:tr h="362401">
                <a:tc>
                  <a:txBody>
                    <a:bodyPr/>
                    <a:lstStyle/>
                    <a:p>
                      <a:pPr algn="ctr" fontAlgn="b">
                        <a:buNone/>
                      </a:pPr>
                      <a:r>
                        <a:rPr lang="en-IN" sz="1100" b="1" i="0" u="none" strike="noStrike" dirty="0">
                          <a:solidFill>
                            <a:schemeClr val="bg1"/>
                          </a:solidFill>
                          <a:effectLst/>
                          <a:latin typeface="Calibri" panose="020F0502020204030204" pitchFamily="34" charset="0"/>
                        </a:rPr>
                        <a:t>WH_02</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FLP-ORD-0185</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2</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3</a:t>
                      </a:r>
                    </a:p>
                  </a:txBody>
                  <a:tcPr marL="7620" marR="7620" marT="7620" marB="0" anchor="b">
                    <a:solidFill>
                      <a:schemeClr val="accent1"/>
                    </a:solidFill>
                  </a:tcPr>
                </a:tc>
                <a:extLst>
                  <a:ext uri="{0D108BD9-81ED-4DB2-BD59-A6C34878D82A}">
                    <a16:rowId xmlns:a16="http://schemas.microsoft.com/office/drawing/2014/main" val="1502891875"/>
                  </a:ext>
                </a:extLst>
              </a:tr>
              <a:tr h="362401">
                <a:tc>
                  <a:txBody>
                    <a:bodyPr/>
                    <a:lstStyle/>
                    <a:p>
                      <a:pPr algn="ctr" fontAlgn="b">
                        <a:buNone/>
                      </a:pPr>
                      <a:r>
                        <a:rPr lang="en-IN" sz="1100" b="1" i="0" u="none" strike="noStrike" dirty="0">
                          <a:solidFill>
                            <a:schemeClr val="bg1"/>
                          </a:solidFill>
                          <a:effectLst/>
                          <a:latin typeface="Calibri" panose="020F0502020204030204" pitchFamily="34" charset="0"/>
                        </a:rPr>
                        <a:t>WH_02</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FLP-ORD-0048</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2</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3</a:t>
                      </a:r>
                    </a:p>
                  </a:txBody>
                  <a:tcPr marL="7620" marR="7620" marT="7620" marB="0" anchor="b">
                    <a:solidFill>
                      <a:schemeClr val="accent1"/>
                    </a:solidFill>
                  </a:tcPr>
                </a:tc>
                <a:extLst>
                  <a:ext uri="{0D108BD9-81ED-4DB2-BD59-A6C34878D82A}">
                    <a16:rowId xmlns:a16="http://schemas.microsoft.com/office/drawing/2014/main" val="2689383721"/>
                  </a:ext>
                </a:extLst>
              </a:tr>
              <a:tr h="362401">
                <a:tc>
                  <a:txBody>
                    <a:bodyPr/>
                    <a:lstStyle/>
                    <a:p>
                      <a:pPr algn="ctr" fontAlgn="b">
                        <a:buNone/>
                      </a:pPr>
                      <a:r>
                        <a:rPr lang="en-IN" sz="1100" b="1" i="0" u="none" strike="noStrike" dirty="0">
                          <a:solidFill>
                            <a:schemeClr val="bg1"/>
                          </a:solidFill>
                          <a:effectLst/>
                          <a:latin typeface="Calibri" panose="020F0502020204030204" pitchFamily="34" charset="0"/>
                        </a:rPr>
                        <a:t>WH_02</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FLP-ORD-0093</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2</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3</a:t>
                      </a:r>
                    </a:p>
                  </a:txBody>
                  <a:tcPr marL="7620" marR="7620" marT="7620" marB="0" anchor="b">
                    <a:solidFill>
                      <a:schemeClr val="accent1"/>
                    </a:solidFill>
                  </a:tcPr>
                </a:tc>
                <a:extLst>
                  <a:ext uri="{0D108BD9-81ED-4DB2-BD59-A6C34878D82A}">
                    <a16:rowId xmlns:a16="http://schemas.microsoft.com/office/drawing/2014/main" val="1846844250"/>
                  </a:ext>
                </a:extLst>
              </a:tr>
              <a:tr h="362401">
                <a:tc>
                  <a:txBody>
                    <a:bodyPr/>
                    <a:lstStyle/>
                    <a:p>
                      <a:pPr algn="ctr" fontAlgn="b">
                        <a:buNone/>
                      </a:pPr>
                      <a:r>
                        <a:rPr lang="en-IN" sz="1100" b="1" i="0" u="none" strike="noStrike" dirty="0">
                          <a:solidFill>
                            <a:schemeClr val="bg1"/>
                          </a:solidFill>
                          <a:effectLst/>
                          <a:latin typeface="Calibri" panose="020F0502020204030204" pitchFamily="34" charset="0"/>
                        </a:rPr>
                        <a:t>WH_02</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FLP-ORD-0171</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1</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6</a:t>
                      </a:r>
                    </a:p>
                  </a:txBody>
                  <a:tcPr marL="7620" marR="7620" marT="7620" marB="0" anchor="b">
                    <a:solidFill>
                      <a:schemeClr val="accent1"/>
                    </a:solidFill>
                  </a:tcPr>
                </a:tc>
                <a:extLst>
                  <a:ext uri="{0D108BD9-81ED-4DB2-BD59-A6C34878D82A}">
                    <a16:rowId xmlns:a16="http://schemas.microsoft.com/office/drawing/2014/main" val="1325472834"/>
                  </a:ext>
                </a:extLst>
              </a:tr>
              <a:tr h="362401">
                <a:tc>
                  <a:txBody>
                    <a:bodyPr/>
                    <a:lstStyle/>
                    <a:p>
                      <a:pPr algn="ctr" fontAlgn="b">
                        <a:buNone/>
                      </a:pPr>
                      <a:r>
                        <a:rPr lang="en-IN" sz="1100" b="1" i="0" u="none" strike="noStrike" dirty="0">
                          <a:solidFill>
                            <a:schemeClr val="bg1"/>
                          </a:solidFill>
                          <a:effectLst/>
                          <a:latin typeface="Calibri" panose="020F0502020204030204" pitchFamily="34" charset="0"/>
                        </a:rPr>
                        <a:t>WH_02</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FLP-ORD-0182</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1</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6</a:t>
                      </a:r>
                    </a:p>
                  </a:txBody>
                  <a:tcPr marL="7620" marR="7620" marT="7620" marB="0" anchor="b">
                    <a:solidFill>
                      <a:schemeClr val="accent1"/>
                    </a:solidFill>
                  </a:tcPr>
                </a:tc>
                <a:extLst>
                  <a:ext uri="{0D108BD9-81ED-4DB2-BD59-A6C34878D82A}">
                    <a16:rowId xmlns:a16="http://schemas.microsoft.com/office/drawing/2014/main" val="4155739316"/>
                  </a:ext>
                </a:extLst>
              </a:tr>
              <a:tr h="362401">
                <a:tc>
                  <a:txBody>
                    <a:bodyPr/>
                    <a:lstStyle/>
                    <a:p>
                      <a:pPr algn="ctr" fontAlgn="b">
                        <a:buNone/>
                      </a:pPr>
                      <a:r>
                        <a:rPr lang="en-IN" sz="1100" b="1" i="0" u="none" strike="noStrike" dirty="0">
                          <a:solidFill>
                            <a:schemeClr val="bg1"/>
                          </a:solidFill>
                          <a:effectLst/>
                          <a:latin typeface="Calibri" panose="020F0502020204030204" pitchFamily="34" charset="0"/>
                        </a:rPr>
                        <a:t>WH_02</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FLP-ORD-0293</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1</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6</a:t>
                      </a:r>
                    </a:p>
                  </a:txBody>
                  <a:tcPr marL="7620" marR="7620" marT="7620" marB="0" anchor="b">
                    <a:solidFill>
                      <a:schemeClr val="accent1"/>
                    </a:solidFill>
                  </a:tcPr>
                </a:tc>
                <a:extLst>
                  <a:ext uri="{0D108BD9-81ED-4DB2-BD59-A6C34878D82A}">
                    <a16:rowId xmlns:a16="http://schemas.microsoft.com/office/drawing/2014/main" val="3414534757"/>
                  </a:ext>
                </a:extLst>
              </a:tr>
              <a:tr h="362401">
                <a:tc>
                  <a:txBody>
                    <a:bodyPr/>
                    <a:lstStyle/>
                    <a:p>
                      <a:pPr algn="ctr" fontAlgn="b">
                        <a:buNone/>
                      </a:pPr>
                      <a:r>
                        <a:rPr lang="en-IN" sz="1100" b="1" i="0" u="none" strike="noStrike" dirty="0">
                          <a:solidFill>
                            <a:schemeClr val="bg1"/>
                          </a:solidFill>
                          <a:effectLst/>
                          <a:latin typeface="Calibri" panose="020F0502020204030204" pitchFamily="34" charset="0"/>
                        </a:rPr>
                        <a:t>WH_02</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FLP-ORD-0134</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1</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6</a:t>
                      </a:r>
                    </a:p>
                  </a:txBody>
                  <a:tcPr marL="7620" marR="7620" marT="7620" marB="0" anchor="b">
                    <a:solidFill>
                      <a:schemeClr val="accent1"/>
                    </a:solidFill>
                  </a:tcPr>
                </a:tc>
                <a:extLst>
                  <a:ext uri="{0D108BD9-81ED-4DB2-BD59-A6C34878D82A}">
                    <a16:rowId xmlns:a16="http://schemas.microsoft.com/office/drawing/2014/main" val="442223673"/>
                  </a:ext>
                </a:extLst>
              </a:tr>
            </a:tbl>
          </a:graphicData>
        </a:graphic>
      </p:graphicFrame>
    </p:spTree>
    <p:extLst>
      <p:ext uri="{BB962C8B-B14F-4D97-AF65-F5344CB8AC3E}">
        <p14:creationId xmlns:p14="http://schemas.microsoft.com/office/powerpoint/2010/main" val="14595692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D54C80B-8C26-DDB0-1507-74D873397E5C}"/>
              </a:ext>
            </a:extLst>
          </p:cNvPr>
          <p:cNvSpPr/>
          <p:nvPr/>
        </p:nvSpPr>
        <p:spPr>
          <a:xfrm>
            <a:off x="252398" y="501769"/>
            <a:ext cx="6458457" cy="14453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Select </a:t>
            </a:r>
            <a:r>
              <a:rPr lang="en-US" b="1" dirty="0">
                <a:latin typeface="Calibri" panose="020F0502020204030204" pitchFamily="34" charset="0"/>
                <a:cs typeface="Calibri" panose="020F0502020204030204" pitchFamily="34" charset="0"/>
              </a:rPr>
              <a:t>Route_ID,</a:t>
            </a:r>
          </a:p>
          <a:p>
            <a:r>
              <a:rPr lang="en-US" b="1" dirty="0">
                <a:latin typeface="Calibri" panose="020F0502020204030204" pitchFamily="34" charset="0"/>
                <a:cs typeface="Calibri" panose="020F0502020204030204" pitchFamily="34" charset="0"/>
              </a:rPr>
              <a:t>round(avg(Average_Travel_Time_Min+Traffic_Delay_Min)/1440,2)as Average_Delivery_Time_Days</a:t>
            </a:r>
          </a:p>
          <a:p>
            <a:r>
              <a:rPr lang="en-US" b="1" dirty="0">
                <a:latin typeface="Calibri" panose="020F0502020204030204" pitchFamily="34" charset="0"/>
                <a:cs typeface="Calibri" panose="020F0502020204030204" pitchFamily="34" charset="0"/>
              </a:rPr>
              <a:t>from delivery_routes group by Route_ID </a:t>
            </a:r>
          </a:p>
          <a:p>
            <a:r>
              <a:rPr lang="en-US" b="1" dirty="0">
                <a:latin typeface="Calibri" panose="020F0502020204030204" pitchFamily="34" charset="0"/>
                <a:cs typeface="Calibri" panose="020F0502020204030204" pitchFamily="34" charset="0"/>
              </a:rPr>
              <a:t>order by Average_Delivery_Time_Days desc;</a:t>
            </a:r>
            <a:endParaRPr lang="en-IN" b="1" dirty="0">
              <a:latin typeface="Calibri" panose="020F0502020204030204" pitchFamily="34" charset="0"/>
              <a:cs typeface="Calibri" panose="020F0502020204030204" pitchFamily="34" charset="0"/>
            </a:endParaRPr>
          </a:p>
        </p:txBody>
      </p:sp>
      <p:graphicFrame>
        <p:nvGraphicFramePr>
          <p:cNvPr id="3" name="Table 2">
            <a:extLst>
              <a:ext uri="{FF2B5EF4-FFF2-40B4-BE49-F238E27FC236}">
                <a16:creationId xmlns:a16="http://schemas.microsoft.com/office/drawing/2014/main" id="{12FC22E5-1D17-A3BA-B0B1-B471C6D12AFE}"/>
              </a:ext>
            </a:extLst>
          </p:cNvPr>
          <p:cNvGraphicFramePr>
            <a:graphicFrameLocks noGrp="1"/>
          </p:cNvGraphicFramePr>
          <p:nvPr>
            <p:extLst>
              <p:ext uri="{D42A27DB-BD31-4B8C-83A1-F6EECF244321}">
                <p14:modId xmlns:p14="http://schemas.microsoft.com/office/powerpoint/2010/main" val="1375085971"/>
              </p:ext>
            </p:extLst>
          </p:nvPr>
        </p:nvGraphicFramePr>
        <p:xfrm>
          <a:off x="252398" y="2894101"/>
          <a:ext cx="3156156" cy="1776952"/>
        </p:xfrm>
        <a:graphic>
          <a:graphicData uri="http://schemas.openxmlformats.org/drawingml/2006/table">
            <a:tbl>
              <a:tblPr firstRow="1" bandRow="1">
                <a:tableStyleId>{5C22544A-7EE6-4342-B048-85BDC9FD1C3A}</a:tableStyleId>
              </a:tblPr>
              <a:tblGrid>
                <a:gridCol w="1033596">
                  <a:extLst>
                    <a:ext uri="{9D8B030D-6E8A-4147-A177-3AD203B41FA5}">
                      <a16:colId xmlns:a16="http://schemas.microsoft.com/office/drawing/2014/main" val="1201388060"/>
                    </a:ext>
                  </a:extLst>
                </a:gridCol>
                <a:gridCol w="2122560">
                  <a:extLst>
                    <a:ext uri="{9D8B030D-6E8A-4147-A177-3AD203B41FA5}">
                      <a16:colId xmlns:a16="http://schemas.microsoft.com/office/drawing/2014/main" val="1458014098"/>
                    </a:ext>
                  </a:extLst>
                </a:gridCol>
              </a:tblGrid>
              <a:tr h="345814">
                <a:tc>
                  <a:txBody>
                    <a:bodyPr/>
                    <a:lstStyle/>
                    <a:p>
                      <a:pPr algn="ctr" fontAlgn="b">
                        <a:buNone/>
                      </a:pPr>
                      <a:r>
                        <a:rPr lang="en-IN" sz="1200" b="1" i="0" u="none" strike="noStrike" dirty="0">
                          <a:solidFill>
                            <a:schemeClr val="bg1"/>
                          </a:solidFill>
                          <a:effectLst/>
                          <a:latin typeface="Calibri" panose="020F0502020204030204" pitchFamily="34" charset="0"/>
                        </a:rPr>
                        <a:t>Route ID</a:t>
                      </a:r>
                    </a:p>
                  </a:txBody>
                  <a:tcPr marL="7620" marR="7620" marT="7620" marB="0" anchor="b">
                    <a:solidFill>
                      <a:schemeClr val="accent1"/>
                    </a:solidFill>
                  </a:tcPr>
                </a:tc>
                <a:tc>
                  <a:txBody>
                    <a:bodyPr/>
                    <a:lstStyle/>
                    <a:p>
                      <a:pPr algn="ctr" fontAlgn="b">
                        <a:buNone/>
                      </a:pPr>
                      <a:r>
                        <a:rPr lang="en-IN" sz="1200" b="1" i="0" u="none" strike="noStrike" dirty="0">
                          <a:solidFill>
                            <a:schemeClr val="bg1"/>
                          </a:solidFill>
                          <a:effectLst/>
                          <a:latin typeface="Calibri" panose="020F0502020204030204" pitchFamily="34" charset="0"/>
                        </a:rPr>
                        <a:t>Average  Delivery Time Days</a:t>
                      </a:r>
                    </a:p>
                  </a:txBody>
                  <a:tcPr marL="7620" marR="7620" marT="7620" marB="0" anchor="b">
                    <a:solidFill>
                      <a:schemeClr val="accent1"/>
                    </a:solidFill>
                  </a:tcPr>
                </a:tc>
                <a:extLst>
                  <a:ext uri="{0D108BD9-81ED-4DB2-BD59-A6C34878D82A}">
                    <a16:rowId xmlns:a16="http://schemas.microsoft.com/office/drawing/2014/main" val="3477386013"/>
                  </a:ext>
                </a:extLst>
              </a:tr>
              <a:tr h="345814">
                <a:tc>
                  <a:txBody>
                    <a:bodyPr/>
                    <a:lstStyle/>
                    <a:p>
                      <a:pPr algn="ctr" fontAlgn="b">
                        <a:buNone/>
                      </a:pPr>
                      <a:r>
                        <a:rPr lang="en-IN" sz="1200" b="1" i="0" u="none" strike="noStrike" dirty="0">
                          <a:solidFill>
                            <a:schemeClr val="bg1"/>
                          </a:solidFill>
                          <a:effectLst/>
                          <a:latin typeface="Calibri" panose="020F0502020204030204" pitchFamily="34" charset="0"/>
                        </a:rPr>
                        <a:t>RT_13</a:t>
                      </a:r>
                    </a:p>
                  </a:txBody>
                  <a:tcPr marL="7620" marR="7620" marT="7620" marB="0" anchor="b">
                    <a:solidFill>
                      <a:schemeClr val="accent1"/>
                    </a:solidFill>
                  </a:tcPr>
                </a:tc>
                <a:tc>
                  <a:txBody>
                    <a:bodyPr/>
                    <a:lstStyle/>
                    <a:p>
                      <a:pPr algn="ctr" fontAlgn="b">
                        <a:buNone/>
                      </a:pPr>
                      <a:r>
                        <a:rPr lang="en-IN" sz="1200" b="1" i="0" u="none" strike="noStrike" dirty="0">
                          <a:solidFill>
                            <a:schemeClr val="bg1"/>
                          </a:solidFill>
                          <a:effectLst/>
                          <a:latin typeface="Calibri" panose="020F0502020204030204" pitchFamily="34" charset="0"/>
                        </a:rPr>
                        <a:t>1.07</a:t>
                      </a:r>
                    </a:p>
                  </a:txBody>
                  <a:tcPr marL="7620" marR="7620" marT="7620" marB="0" anchor="b">
                    <a:solidFill>
                      <a:schemeClr val="accent1"/>
                    </a:solidFill>
                  </a:tcPr>
                </a:tc>
                <a:extLst>
                  <a:ext uri="{0D108BD9-81ED-4DB2-BD59-A6C34878D82A}">
                    <a16:rowId xmlns:a16="http://schemas.microsoft.com/office/drawing/2014/main" val="549548515"/>
                  </a:ext>
                </a:extLst>
              </a:tr>
              <a:tr h="345814">
                <a:tc>
                  <a:txBody>
                    <a:bodyPr/>
                    <a:lstStyle/>
                    <a:p>
                      <a:pPr algn="ctr" fontAlgn="b">
                        <a:buNone/>
                      </a:pPr>
                      <a:r>
                        <a:rPr lang="en-IN" sz="1200" b="1" i="0" u="none" strike="noStrike" dirty="0">
                          <a:solidFill>
                            <a:schemeClr val="bg1"/>
                          </a:solidFill>
                          <a:effectLst/>
                          <a:latin typeface="Calibri" panose="020F0502020204030204" pitchFamily="34" charset="0"/>
                        </a:rPr>
                        <a:t>RT_09</a:t>
                      </a:r>
                    </a:p>
                  </a:txBody>
                  <a:tcPr marL="7620" marR="7620" marT="7620" marB="0" anchor="b">
                    <a:solidFill>
                      <a:schemeClr val="accent1"/>
                    </a:solidFill>
                  </a:tcPr>
                </a:tc>
                <a:tc>
                  <a:txBody>
                    <a:bodyPr/>
                    <a:lstStyle/>
                    <a:p>
                      <a:pPr algn="ctr" fontAlgn="b">
                        <a:buNone/>
                      </a:pPr>
                      <a:r>
                        <a:rPr lang="en-IN" sz="1200" b="1" i="0" u="none" strike="noStrike" dirty="0">
                          <a:solidFill>
                            <a:schemeClr val="bg1"/>
                          </a:solidFill>
                          <a:effectLst/>
                          <a:latin typeface="Calibri" panose="020F0502020204030204" pitchFamily="34" charset="0"/>
                        </a:rPr>
                        <a:t>0.7</a:t>
                      </a:r>
                    </a:p>
                  </a:txBody>
                  <a:tcPr marL="7620" marR="7620" marT="7620" marB="0" anchor="b">
                    <a:solidFill>
                      <a:schemeClr val="accent1"/>
                    </a:solidFill>
                  </a:tcPr>
                </a:tc>
                <a:extLst>
                  <a:ext uri="{0D108BD9-81ED-4DB2-BD59-A6C34878D82A}">
                    <a16:rowId xmlns:a16="http://schemas.microsoft.com/office/drawing/2014/main" val="3090070009"/>
                  </a:ext>
                </a:extLst>
              </a:tr>
              <a:tr h="345814">
                <a:tc>
                  <a:txBody>
                    <a:bodyPr/>
                    <a:lstStyle/>
                    <a:p>
                      <a:pPr algn="ctr" fontAlgn="b">
                        <a:buNone/>
                      </a:pPr>
                      <a:r>
                        <a:rPr lang="en-IN" sz="1200" b="1" i="0" u="none" strike="noStrike" dirty="0">
                          <a:solidFill>
                            <a:schemeClr val="bg1"/>
                          </a:solidFill>
                          <a:effectLst/>
                          <a:latin typeface="Calibri" panose="020F0502020204030204" pitchFamily="34" charset="0"/>
                        </a:rPr>
                        <a:t>RT_14</a:t>
                      </a:r>
                    </a:p>
                  </a:txBody>
                  <a:tcPr marL="7620" marR="7620" marT="7620" marB="0" anchor="b">
                    <a:solidFill>
                      <a:schemeClr val="accent1"/>
                    </a:solidFill>
                  </a:tcPr>
                </a:tc>
                <a:tc>
                  <a:txBody>
                    <a:bodyPr/>
                    <a:lstStyle/>
                    <a:p>
                      <a:pPr algn="ctr" fontAlgn="b">
                        <a:buNone/>
                      </a:pPr>
                      <a:r>
                        <a:rPr lang="en-IN" sz="1200" b="1" i="0" u="none" strike="noStrike" dirty="0">
                          <a:solidFill>
                            <a:schemeClr val="bg1"/>
                          </a:solidFill>
                          <a:effectLst/>
                          <a:latin typeface="Calibri" panose="020F0502020204030204" pitchFamily="34" charset="0"/>
                        </a:rPr>
                        <a:t>0.65</a:t>
                      </a:r>
                    </a:p>
                  </a:txBody>
                  <a:tcPr marL="7620" marR="7620" marT="7620" marB="0" anchor="b">
                    <a:solidFill>
                      <a:schemeClr val="accent1"/>
                    </a:solidFill>
                  </a:tcPr>
                </a:tc>
                <a:extLst>
                  <a:ext uri="{0D108BD9-81ED-4DB2-BD59-A6C34878D82A}">
                    <a16:rowId xmlns:a16="http://schemas.microsoft.com/office/drawing/2014/main" val="3838610737"/>
                  </a:ext>
                </a:extLst>
              </a:tr>
              <a:tr h="393696">
                <a:tc>
                  <a:txBody>
                    <a:bodyPr/>
                    <a:lstStyle/>
                    <a:p>
                      <a:pPr algn="ctr" fontAlgn="b">
                        <a:buNone/>
                      </a:pPr>
                      <a:r>
                        <a:rPr lang="en-IN" sz="1200" b="1" i="0" u="none" strike="noStrike" dirty="0">
                          <a:solidFill>
                            <a:schemeClr val="bg1"/>
                          </a:solidFill>
                          <a:effectLst/>
                          <a:latin typeface="Calibri" panose="020F0502020204030204" pitchFamily="34" charset="0"/>
                        </a:rPr>
                        <a:t>RT_04</a:t>
                      </a:r>
                    </a:p>
                  </a:txBody>
                  <a:tcPr marL="7620" marR="7620" marT="7620" marB="0" anchor="b">
                    <a:solidFill>
                      <a:schemeClr val="accent1"/>
                    </a:solidFill>
                  </a:tcPr>
                </a:tc>
                <a:tc>
                  <a:txBody>
                    <a:bodyPr/>
                    <a:lstStyle/>
                    <a:p>
                      <a:pPr algn="ctr" fontAlgn="b">
                        <a:buNone/>
                      </a:pPr>
                      <a:r>
                        <a:rPr lang="en-IN" sz="1200" b="1" i="0" u="none" strike="noStrike" dirty="0">
                          <a:solidFill>
                            <a:schemeClr val="bg1"/>
                          </a:solidFill>
                          <a:effectLst/>
                          <a:latin typeface="Calibri" panose="020F0502020204030204" pitchFamily="34" charset="0"/>
                        </a:rPr>
                        <a:t>0.62</a:t>
                      </a:r>
                    </a:p>
                  </a:txBody>
                  <a:tcPr marL="7620" marR="7620" marT="7620" marB="0" anchor="b">
                    <a:solidFill>
                      <a:schemeClr val="accent1"/>
                    </a:solidFill>
                  </a:tcPr>
                </a:tc>
                <a:extLst>
                  <a:ext uri="{0D108BD9-81ED-4DB2-BD59-A6C34878D82A}">
                    <a16:rowId xmlns:a16="http://schemas.microsoft.com/office/drawing/2014/main" val="4079166836"/>
                  </a:ext>
                </a:extLst>
              </a:tr>
            </a:tbl>
          </a:graphicData>
        </a:graphic>
      </p:graphicFrame>
      <p:sp>
        <p:nvSpPr>
          <p:cNvPr id="4" name="TextBox 3">
            <a:extLst>
              <a:ext uri="{FF2B5EF4-FFF2-40B4-BE49-F238E27FC236}">
                <a16:creationId xmlns:a16="http://schemas.microsoft.com/office/drawing/2014/main" id="{79D3C6F8-27A3-05E7-1F52-28D46E656DD1}"/>
              </a:ext>
            </a:extLst>
          </p:cNvPr>
          <p:cNvSpPr txBox="1"/>
          <p:nvPr/>
        </p:nvSpPr>
        <p:spPr>
          <a:xfrm>
            <a:off x="252398" y="2442255"/>
            <a:ext cx="4319709" cy="369332"/>
          </a:xfrm>
          <a:prstGeom prst="rect">
            <a:avLst/>
          </a:prstGeom>
          <a:noFill/>
        </p:spPr>
        <p:txBody>
          <a:bodyPr wrap="none" rtlCol="0">
            <a:spAutoFit/>
          </a:bodyPr>
          <a:lstStyle/>
          <a:p>
            <a:r>
              <a:rPr lang="en-US" b="1" dirty="0">
                <a:latin typeface="Calibri" panose="020F0502020204030204" pitchFamily="34" charset="0"/>
                <a:cs typeface="Calibri" panose="020F0502020204030204" pitchFamily="34" charset="0"/>
              </a:rPr>
              <a:t>Average Delivery Time(Days) for each route</a:t>
            </a:r>
            <a:endParaRPr lang="en-IN" b="1" dirty="0">
              <a:latin typeface="Calibri" panose="020F0502020204030204" pitchFamily="34" charset="0"/>
              <a:cs typeface="Calibri" panose="020F0502020204030204" pitchFamily="34" charset="0"/>
            </a:endParaRPr>
          </a:p>
        </p:txBody>
      </p:sp>
      <p:sp>
        <p:nvSpPr>
          <p:cNvPr id="5" name="Rectangle 4">
            <a:extLst>
              <a:ext uri="{FF2B5EF4-FFF2-40B4-BE49-F238E27FC236}">
                <a16:creationId xmlns:a16="http://schemas.microsoft.com/office/drawing/2014/main" id="{FCDE5791-634B-A3AD-22B8-605EB3C4CF97}"/>
              </a:ext>
            </a:extLst>
          </p:cNvPr>
          <p:cNvSpPr/>
          <p:nvPr/>
        </p:nvSpPr>
        <p:spPr>
          <a:xfrm>
            <a:off x="6868280" y="513317"/>
            <a:ext cx="5071322" cy="12093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latin typeface="Calibri" panose="020F0502020204030204" pitchFamily="34" charset="0"/>
                <a:cs typeface="Calibri" panose="020F0502020204030204" pitchFamily="34" charset="0"/>
              </a:rPr>
              <a:t>Select Route_ID,round(AVG(Traffic_Delay_Min)) as Average_Traffic_Delay_Min from delivery_routes group by Route_ID ORDER BY Average_Traffic_Delay_Min desc;</a:t>
            </a:r>
            <a:endParaRPr lang="en-IN" b="1" dirty="0">
              <a:latin typeface="Calibri" panose="020F0502020204030204" pitchFamily="34" charset="0"/>
              <a:cs typeface="Calibri" panose="020F0502020204030204" pitchFamily="34" charset="0"/>
            </a:endParaRPr>
          </a:p>
        </p:txBody>
      </p:sp>
      <p:graphicFrame>
        <p:nvGraphicFramePr>
          <p:cNvPr id="6" name="Table 5">
            <a:extLst>
              <a:ext uri="{FF2B5EF4-FFF2-40B4-BE49-F238E27FC236}">
                <a16:creationId xmlns:a16="http://schemas.microsoft.com/office/drawing/2014/main" id="{86133E97-F502-6C9A-E1BC-87A8B199A46A}"/>
              </a:ext>
            </a:extLst>
          </p:cNvPr>
          <p:cNvGraphicFramePr>
            <a:graphicFrameLocks noGrp="1"/>
          </p:cNvGraphicFramePr>
          <p:nvPr>
            <p:extLst>
              <p:ext uri="{D42A27DB-BD31-4B8C-83A1-F6EECF244321}">
                <p14:modId xmlns:p14="http://schemas.microsoft.com/office/powerpoint/2010/main" val="1243894632"/>
              </p:ext>
            </p:extLst>
          </p:nvPr>
        </p:nvGraphicFramePr>
        <p:xfrm>
          <a:off x="8499371" y="2147453"/>
          <a:ext cx="2212260" cy="1881695"/>
        </p:xfrm>
        <a:graphic>
          <a:graphicData uri="http://schemas.openxmlformats.org/drawingml/2006/table">
            <a:tbl>
              <a:tblPr firstRow="1" bandRow="1">
                <a:tableStyleId>{5C22544A-7EE6-4342-B048-85BDC9FD1C3A}</a:tableStyleId>
              </a:tblPr>
              <a:tblGrid>
                <a:gridCol w="1106130">
                  <a:extLst>
                    <a:ext uri="{9D8B030D-6E8A-4147-A177-3AD203B41FA5}">
                      <a16:colId xmlns:a16="http://schemas.microsoft.com/office/drawing/2014/main" val="2244831091"/>
                    </a:ext>
                  </a:extLst>
                </a:gridCol>
                <a:gridCol w="1106130">
                  <a:extLst>
                    <a:ext uri="{9D8B030D-6E8A-4147-A177-3AD203B41FA5}">
                      <a16:colId xmlns:a16="http://schemas.microsoft.com/office/drawing/2014/main" val="2314696101"/>
                    </a:ext>
                  </a:extLst>
                </a:gridCol>
              </a:tblGrid>
              <a:tr h="307759">
                <a:tc>
                  <a:txBody>
                    <a:bodyPr/>
                    <a:lstStyle/>
                    <a:p>
                      <a:pPr algn="ctr" fontAlgn="b">
                        <a:buNone/>
                      </a:pPr>
                      <a:r>
                        <a:rPr lang="en-IN" sz="1100" b="1" i="0" u="none" strike="noStrike" dirty="0">
                          <a:solidFill>
                            <a:schemeClr val="bg1"/>
                          </a:solidFill>
                          <a:effectLst/>
                          <a:latin typeface="Calibri" panose="020F0502020204030204" pitchFamily="34" charset="0"/>
                        </a:rPr>
                        <a:t>Route ID</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Average Traffic Delay Min</a:t>
                      </a:r>
                    </a:p>
                  </a:txBody>
                  <a:tcPr marL="7620" marR="7620" marT="7620" marB="0" anchor="b">
                    <a:solidFill>
                      <a:schemeClr val="accent1"/>
                    </a:solidFill>
                  </a:tcPr>
                </a:tc>
                <a:extLst>
                  <a:ext uri="{0D108BD9-81ED-4DB2-BD59-A6C34878D82A}">
                    <a16:rowId xmlns:a16="http://schemas.microsoft.com/office/drawing/2014/main" val="2511277848"/>
                  </a:ext>
                </a:extLst>
              </a:tr>
              <a:tr h="307759">
                <a:tc>
                  <a:txBody>
                    <a:bodyPr/>
                    <a:lstStyle/>
                    <a:p>
                      <a:pPr algn="ctr" fontAlgn="b">
                        <a:buNone/>
                      </a:pPr>
                      <a:r>
                        <a:rPr lang="en-IN" sz="1100" b="1" i="0" u="none" strike="noStrike" dirty="0">
                          <a:solidFill>
                            <a:schemeClr val="bg1"/>
                          </a:solidFill>
                          <a:effectLst/>
                          <a:latin typeface="Calibri" panose="020F0502020204030204" pitchFamily="34" charset="0"/>
                        </a:rPr>
                        <a:t>RT_08</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90</a:t>
                      </a:r>
                    </a:p>
                  </a:txBody>
                  <a:tcPr marL="7620" marR="7620" marT="7620" marB="0" anchor="b">
                    <a:solidFill>
                      <a:schemeClr val="accent1"/>
                    </a:solidFill>
                  </a:tcPr>
                </a:tc>
                <a:extLst>
                  <a:ext uri="{0D108BD9-81ED-4DB2-BD59-A6C34878D82A}">
                    <a16:rowId xmlns:a16="http://schemas.microsoft.com/office/drawing/2014/main" val="208197619"/>
                  </a:ext>
                </a:extLst>
              </a:tr>
              <a:tr h="307759">
                <a:tc>
                  <a:txBody>
                    <a:bodyPr/>
                    <a:lstStyle/>
                    <a:p>
                      <a:pPr algn="ctr" fontAlgn="b">
                        <a:buNone/>
                      </a:pPr>
                      <a:r>
                        <a:rPr lang="en-IN" sz="1100" b="1" i="0" u="none" strike="noStrike" dirty="0">
                          <a:solidFill>
                            <a:schemeClr val="bg1"/>
                          </a:solidFill>
                          <a:effectLst/>
                          <a:latin typeface="Calibri" panose="020F0502020204030204" pitchFamily="34" charset="0"/>
                        </a:rPr>
                        <a:t>RT_15</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87</a:t>
                      </a:r>
                    </a:p>
                  </a:txBody>
                  <a:tcPr marL="7620" marR="7620" marT="7620" marB="0" anchor="b">
                    <a:solidFill>
                      <a:schemeClr val="accent1"/>
                    </a:solidFill>
                  </a:tcPr>
                </a:tc>
                <a:extLst>
                  <a:ext uri="{0D108BD9-81ED-4DB2-BD59-A6C34878D82A}">
                    <a16:rowId xmlns:a16="http://schemas.microsoft.com/office/drawing/2014/main" val="3101368235"/>
                  </a:ext>
                </a:extLst>
              </a:tr>
              <a:tr h="307759">
                <a:tc>
                  <a:txBody>
                    <a:bodyPr/>
                    <a:lstStyle/>
                    <a:p>
                      <a:pPr algn="ctr" fontAlgn="b">
                        <a:buNone/>
                      </a:pPr>
                      <a:r>
                        <a:rPr lang="en-IN" sz="1100" b="1" i="0" u="none" strike="noStrike" dirty="0">
                          <a:solidFill>
                            <a:schemeClr val="bg1"/>
                          </a:solidFill>
                          <a:effectLst/>
                          <a:latin typeface="Calibri" panose="020F0502020204030204" pitchFamily="34" charset="0"/>
                        </a:rPr>
                        <a:t>RT_09</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83</a:t>
                      </a:r>
                    </a:p>
                  </a:txBody>
                  <a:tcPr marL="7620" marR="7620" marT="7620" marB="0" anchor="b">
                    <a:solidFill>
                      <a:schemeClr val="accent1"/>
                    </a:solidFill>
                  </a:tcPr>
                </a:tc>
                <a:extLst>
                  <a:ext uri="{0D108BD9-81ED-4DB2-BD59-A6C34878D82A}">
                    <a16:rowId xmlns:a16="http://schemas.microsoft.com/office/drawing/2014/main" val="1743982686"/>
                  </a:ext>
                </a:extLst>
              </a:tr>
              <a:tr h="307759">
                <a:tc>
                  <a:txBody>
                    <a:bodyPr/>
                    <a:lstStyle/>
                    <a:p>
                      <a:pPr algn="ctr" fontAlgn="b">
                        <a:buNone/>
                      </a:pPr>
                      <a:r>
                        <a:rPr lang="en-IN" sz="1100" b="1" i="0" u="none" strike="noStrike" dirty="0">
                          <a:solidFill>
                            <a:schemeClr val="bg1"/>
                          </a:solidFill>
                          <a:effectLst/>
                          <a:latin typeface="Calibri" panose="020F0502020204030204" pitchFamily="34" charset="0"/>
                        </a:rPr>
                        <a:t>RT_17</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81</a:t>
                      </a:r>
                    </a:p>
                  </a:txBody>
                  <a:tcPr marL="7620" marR="7620" marT="7620" marB="0" anchor="b">
                    <a:solidFill>
                      <a:schemeClr val="accent1"/>
                    </a:solidFill>
                  </a:tcPr>
                </a:tc>
                <a:extLst>
                  <a:ext uri="{0D108BD9-81ED-4DB2-BD59-A6C34878D82A}">
                    <a16:rowId xmlns:a16="http://schemas.microsoft.com/office/drawing/2014/main" val="819885645"/>
                  </a:ext>
                </a:extLst>
              </a:tr>
              <a:tr h="307759">
                <a:tc>
                  <a:txBody>
                    <a:bodyPr/>
                    <a:lstStyle/>
                    <a:p>
                      <a:pPr algn="ctr" fontAlgn="b">
                        <a:buNone/>
                      </a:pPr>
                      <a:r>
                        <a:rPr lang="en-IN" sz="1100" b="1" i="0" u="none" strike="noStrike" dirty="0">
                          <a:solidFill>
                            <a:schemeClr val="bg1"/>
                          </a:solidFill>
                          <a:effectLst/>
                          <a:latin typeface="Calibri" panose="020F0502020204030204" pitchFamily="34" charset="0"/>
                        </a:rPr>
                        <a:t>RT_01</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67</a:t>
                      </a:r>
                    </a:p>
                  </a:txBody>
                  <a:tcPr marL="7620" marR="7620" marT="7620" marB="0" anchor="b">
                    <a:solidFill>
                      <a:schemeClr val="accent1"/>
                    </a:solidFill>
                  </a:tcPr>
                </a:tc>
                <a:extLst>
                  <a:ext uri="{0D108BD9-81ED-4DB2-BD59-A6C34878D82A}">
                    <a16:rowId xmlns:a16="http://schemas.microsoft.com/office/drawing/2014/main" val="3681447875"/>
                  </a:ext>
                </a:extLst>
              </a:tr>
            </a:tbl>
          </a:graphicData>
        </a:graphic>
      </p:graphicFrame>
      <p:sp>
        <p:nvSpPr>
          <p:cNvPr id="7" name="TextBox 6">
            <a:extLst>
              <a:ext uri="{FF2B5EF4-FFF2-40B4-BE49-F238E27FC236}">
                <a16:creationId xmlns:a16="http://schemas.microsoft.com/office/drawing/2014/main" id="{E5D2DD30-016C-7674-D2D8-3C1BE4A8FBDF}"/>
              </a:ext>
            </a:extLst>
          </p:cNvPr>
          <p:cNvSpPr txBox="1"/>
          <p:nvPr/>
        </p:nvSpPr>
        <p:spPr>
          <a:xfrm>
            <a:off x="8089183" y="1785902"/>
            <a:ext cx="3799310" cy="369332"/>
          </a:xfrm>
          <a:prstGeom prst="rect">
            <a:avLst/>
          </a:prstGeom>
          <a:noFill/>
        </p:spPr>
        <p:txBody>
          <a:bodyPr wrap="none" rtlCol="0">
            <a:spAutoFit/>
          </a:bodyPr>
          <a:lstStyle/>
          <a:p>
            <a:r>
              <a:rPr lang="en-US" b="1" dirty="0">
                <a:latin typeface="Calibri" panose="020F0502020204030204" pitchFamily="34" charset="0"/>
                <a:cs typeface="Calibri" panose="020F0502020204030204" pitchFamily="34" charset="0"/>
              </a:rPr>
              <a:t>Average Traffic Delay(Min</a:t>
            </a:r>
            <a:r>
              <a:rPr lang="en-US" dirty="0"/>
              <a:t>) </a:t>
            </a:r>
            <a:r>
              <a:rPr lang="en-US" b="1" dirty="0">
                <a:latin typeface="Calibri" panose="020F0502020204030204" pitchFamily="34" charset="0"/>
                <a:cs typeface="Calibri" panose="020F0502020204030204" pitchFamily="34" charset="0"/>
              </a:rPr>
              <a:t>per route</a:t>
            </a:r>
            <a:endParaRPr lang="en-IN" b="1" dirty="0">
              <a:latin typeface="Calibri" panose="020F0502020204030204" pitchFamily="34" charset="0"/>
              <a:cs typeface="Calibri" panose="020F0502020204030204" pitchFamily="34" charset="0"/>
            </a:endParaRPr>
          </a:p>
        </p:txBody>
      </p:sp>
      <p:sp>
        <p:nvSpPr>
          <p:cNvPr id="8" name="Arrow: Down 7">
            <a:extLst>
              <a:ext uri="{FF2B5EF4-FFF2-40B4-BE49-F238E27FC236}">
                <a16:creationId xmlns:a16="http://schemas.microsoft.com/office/drawing/2014/main" id="{11930F82-BB5C-F84A-7D0D-54F4E50D2308}"/>
              </a:ext>
            </a:extLst>
          </p:cNvPr>
          <p:cNvSpPr/>
          <p:nvPr/>
        </p:nvSpPr>
        <p:spPr>
          <a:xfrm>
            <a:off x="1675353" y="2029313"/>
            <a:ext cx="265471" cy="48732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 name="Rectangle 8">
            <a:extLst>
              <a:ext uri="{FF2B5EF4-FFF2-40B4-BE49-F238E27FC236}">
                <a16:creationId xmlns:a16="http://schemas.microsoft.com/office/drawing/2014/main" id="{CBB3990A-91BA-F918-D651-786A1A9F1C22}"/>
              </a:ext>
            </a:extLst>
          </p:cNvPr>
          <p:cNvSpPr/>
          <p:nvPr/>
        </p:nvSpPr>
        <p:spPr>
          <a:xfrm>
            <a:off x="252398" y="4938670"/>
            <a:ext cx="7182463" cy="14453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latin typeface="Calibri" panose="020F0502020204030204" pitchFamily="34" charset="0"/>
                <a:cs typeface="Calibri" panose="020F0502020204030204" pitchFamily="34" charset="0"/>
              </a:rPr>
              <a:t>SELECT route_id,start_location,end_location,distance_km,average_travel_time_min,ROUND(distance_km / average_travel_time_min, 2) AS distance_to_time_efficiency FROM delivery_routes order by distance_to_time_efficiency desc;</a:t>
            </a:r>
            <a:endParaRPr lang="en-IN" b="1" dirty="0">
              <a:latin typeface="Calibri" panose="020F0502020204030204" pitchFamily="34" charset="0"/>
              <a:cs typeface="Calibri" panose="020F0502020204030204" pitchFamily="34" charset="0"/>
            </a:endParaRPr>
          </a:p>
        </p:txBody>
      </p:sp>
      <p:graphicFrame>
        <p:nvGraphicFramePr>
          <p:cNvPr id="10" name="Table 9">
            <a:extLst>
              <a:ext uri="{FF2B5EF4-FFF2-40B4-BE49-F238E27FC236}">
                <a16:creationId xmlns:a16="http://schemas.microsoft.com/office/drawing/2014/main" id="{F929E120-9646-3E41-119C-7DE4DADA6F23}"/>
              </a:ext>
            </a:extLst>
          </p:cNvPr>
          <p:cNvGraphicFramePr>
            <a:graphicFrameLocks noGrp="1"/>
          </p:cNvGraphicFramePr>
          <p:nvPr>
            <p:extLst>
              <p:ext uri="{D42A27DB-BD31-4B8C-83A1-F6EECF244321}">
                <p14:modId xmlns:p14="http://schemas.microsoft.com/office/powerpoint/2010/main" val="3119328235"/>
              </p:ext>
            </p:extLst>
          </p:nvPr>
        </p:nvGraphicFramePr>
        <p:xfrm>
          <a:off x="8298427" y="4498259"/>
          <a:ext cx="1927121" cy="2225040"/>
        </p:xfrm>
        <a:graphic>
          <a:graphicData uri="http://schemas.openxmlformats.org/drawingml/2006/table">
            <a:tbl>
              <a:tblPr firstRow="1" bandRow="1">
                <a:tableStyleId>{5C22544A-7EE6-4342-B048-85BDC9FD1C3A}</a:tableStyleId>
              </a:tblPr>
              <a:tblGrid>
                <a:gridCol w="673108">
                  <a:extLst>
                    <a:ext uri="{9D8B030D-6E8A-4147-A177-3AD203B41FA5}">
                      <a16:colId xmlns:a16="http://schemas.microsoft.com/office/drawing/2014/main" val="2612293965"/>
                    </a:ext>
                  </a:extLst>
                </a:gridCol>
                <a:gridCol w="1254013">
                  <a:extLst>
                    <a:ext uri="{9D8B030D-6E8A-4147-A177-3AD203B41FA5}">
                      <a16:colId xmlns:a16="http://schemas.microsoft.com/office/drawing/2014/main" val="3787199752"/>
                    </a:ext>
                  </a:extLst>
                </a:gridCol>
              </a:tblGrid>
              <a:tr h="370840">
                <a:tc>
                  <a:txBody>
                    <a:bodyPr/>
                    <a:lstStyle/>
                    <a:p>
                      <a:pPr algn="ctr" fontAlgn="b">
                        <a:buNone/>
                      </a:pPr>
                      <a:r>
                        <a:rPr lang="en-IN" sz="1100" b="1" i="0" u="none" strike="noStrike" dirty="0">
                          <a:solidFill>
                            <a:schemeClr val="bg1"/>
                          </a:solidFill>
                          <a:effectLst/>
                          <a:latin typeface="Calibri" panose="020F0502020204030204" pitchFamily="34" charset="0"/>
                        </a:rPr>
                        <a:t>Route_ ID</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Distance to Time Efficiency Ratio</a:t>
                      </a:r>
                    </a:p>
                  </a:txBody>
                  <a:tcPr marL="7620" marR="7620" marT="7620" marB="0" anchor="b">
                    <a:solidFill>
                      <a:schemeClr val="accent1"/>
                    </a:solidFill>
                  </a:tcPr>
                </a:tc>
                <a:extLst>
                  <a:ext uri="{0D108BD9-81ED-4DB2-BD59-A6C34878D82A}">
                    <a16:rowId xmlns:a16="http://schemas.microsoft.com/office/drawing/2014/main" val="1138756558"/>
                  </a:ext>
                </a:extLst>
              </a:tr>
              <a:tr h="370840">
                <a:tc>
                  <a:txBody>
                    <a:bodyPr/>
                    <a:lstStyle/>
                    <a:p>
                      <a:pPr algn="ctr" fontAlgn="b">
                        <a:buNone/>
                      </a:pPr>
                      <a:r>
                        <a:rPr lang="en-IN" sz="1100" b="1" i="0" u="none" strike="noStrike" dirty="0">
                          <a:solidFill>
                            <a:schemeClr val="bg1"/>
                          </a:solidFill>
                          <a:effectLst/>
                          <a:latin typeface="Calibri" panose="020F0502020204030204" pitchFamily="34" charset="0"/>
                        </a:rPr>
                        <a:t>RT_19</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7.48</a:t>
                      </a:r>
                    </a:p>
                  </a:txBody>
                  <a:tcPr marL="7620" marR="7620" marT="7620" marB="0" anchor="b">
                    <a:solidFill>
                      <a:schemeClr val="accent1"/>
                    </a:solidFill>
                  </a:tcPr>
                </a:tc>
                <a:extLst>
                  <a:ext uri="{0D108BD9-81ED-4DB2-BD59-A6C34878D82A}">
                    <a16:rowId xmlns:a16="http://schemas.microsoft.com/office/drawing/2014/main" val="1770456011"/>
                  </a:ext>
                </a:extLst>
              </a:tr>
              <a:tr h="370840">
                <a:tc>
                  <a:txBody>
                    <a:bodyPr/>
                    <a:lstStyle/>
                    <a:p>
                      <a:pPr algn="ctr" fontAlgn="b">
                        <a:buNone/>
                      </a:pPr>
                      <a:r>
                        <a:rPr lang="en-IN" sz="1100" b="1" i="0" u="none" strike="noStrike" dirty="0">
                          <a:solidFill>
                            <a:schemeClr val="bg1"/>
                          </a:solidFill>
                          <a:effectLst/>
                          <a:latin typeface="Calibri" panose="020F0502020204030204" pitchFamily="34" charset="0"/>
                        </a:rPr>
                        <a:t>RT_12</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4.98</a:t>
                      </a:r>
                    </a:p>
                  </a:txBody>
                  <a:tcPr marL="7620" marR="7620" marT="7620" marB="0" anchor="b">
                    <a:solidFill>
                      <a:schemeClr val="accent1"/>
                    </a:solidFill>
                  </a:tcPr>
                </a:tc>
                <a:extLst>
                  <a:ext uri="{0D108BD9-81ED-4DB2-BD59-A6C34878D82A}">
                    <a16:rowId xmlns:a16="http://schemas.microsoft.com/office/drawing/2014/main" val="3899051648"/>
                  </a:ext>
                </a:extLst>
              </a:tr>
              <a:tr h="370840">
                <a:tc>
                  <a:txBody>
                    <a:bodyPr/>
                    <a:lstStyle/>
                    <a:p>
                      <a:pPr algn="ctr" fontAlgn="b">
                        <a:buNone/>
                      </a:pPr>
                      <a:r>
                        <a:rPr lang="en-IN" sz="1100" b="1" i="0" u="none" strike="noStrike" dirty="0">
                          <a:solidFill>
                            <a:schemeClr val="bg1"/>
                          </a:solidFill>
                          <a:effectLst/>
                          <a:latin typeface="Calibri" panose="020F0502020204030204" pitchFamily="34" charset="0"/>
                        </a:rPr>
                        <a:t>RT_10</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4.94</a:t>
                      </a:r>
                    </a:p>
                  </a:txBody>
                  <a:tcPr marL="7620" marR="7620" marT="7620" marB="0" anchor="b">
                    <a:solidFill>
                      <a:schemeClr val="accent1"/>
                    </a:solidFill>
                  </a:tcPr>
                </a:tc>
                <a:extLst>
                  <a:ext uri="{0D108BD9-81ED-4DB2-BD59-A6C34878D82A}">
                    <a16:rowId xmlns:a16="http://schemas.microsoft.com/office/drawing/2014/main" val="2614827791"/>
                  </a:ext>
                </a:extLst>
              </a:tr>
              <a:tr h="370840">
                <a:tc>
                  <a:txBody>
                    <a:bodyPr/>
                    <a:lstStyle/>
                    <a:p>
                      <a:pPr algn="ctr" fontAlgn="b">
                        <a:buNone/>
                      </a:pPr>
                      <a:r>
                        <a:rPr lang="en-IN" sz="1100" b="1" i="0" u="none" strike="noStrike" dirty="0">
                          <a:solidFill>
                            <a:schemeClr val="bg1"/>
                          </a:solidFill>
                          <a:effectLst/>
                          <a:latin typeface="Calibri" panose="020F0502020204030204" pitchFamily="34" charset="0"/>
                        </a:rPr>
                        <a:t>RT_15</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4.87</a:t>
                      </a:r>
                    </a:p>
                  </a:txBody>
                  <a:tcPr marL="7620" marR="7620" marT="7620" marB="0" anchor="b">
                    <a:solidFill>
                      <a:schemeClr val="accent1"/>
                    </a:solidFill>
                  </a:tcPr>
                </a:tc>
                <a:extLst>
                  <a:ext uri="{0D108BD9-81ED-4DB2-BD59-A6C34878D82A}">
                    <a16:rowId xmlns:a16="http://schemas.microsoft.com/office/drawing/2014/main" val="3412212911"/>
                  </a:ext>
                </a:extLst>
              </a:tr>
              <a:tr h="370840">
                <a:tc>
                  <a:txBody>
                    <a:bodyPr/>
                    <a:lstStyle/>
                    <a:p>
                      <a:pPr algn="ctr" fontAlgn="b">
                        <a:buNone/>
                      </a:pPr>
                      <a:r>
                        <a:rPr lang="en-IN" sz="1100" b="1" i="0" u="none" strike="noStrike" dirty="0">
                          <a:solidFill>
                            <a:schemeClr val="bg1"/>
                          </a:solidFill>
                          <a:effectLst/>
                          <a:latin typeface="Calibri" panose="020F0502020204030204" pitchFamily="34" charset="0"/>
                        </a:rPr>
                        <a:t>RT_02</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3.73</a:t>
                      </a:r>
                    </a:p>
                  </a:txBody>
                  <a:tcPr marL="7620" marR="7620" marT="7620" marB="0" anchor="b">
                    <a:solidFill>
                      <a:schemeClr val="accent1"/>
                    </a:solidFill>
                  </a:tcPr>
                </a:tc>
                <a:extLst>
                  <a:ext uri="{0D108BD9-81ED-4DB2-BD59-A6C34878D82A}">
                    <a16:rowId xmlns:a16="http://schemas.microsoft.com/office/drawing/2014/main" val="1559822246"/>
                  </a:ext>
                </a:extLst>
              </a:tr>
            </a:tbl>
          </a:graphicData>
        </a:graphic>
      </p:graphicFrame>
      <p:sp>
        <p:nvSpPr>
          <p:cNvPr id="11" name="Arrow: Right 10">
            <a:extLst>
              <a:ext uri="{FF2B5EF4-FFF2-40B4-BE49-F238E27FC236}">
                <a16:creationId xmlns:a16="http://schemas.microsoft.com/office/drawing/2014/main" id="{074223F5-C5B2-FC63-6A1C-C5BECB5261AD}"/>
              </a:ext>
            </a:extLst>
          </p:cNvPr>
          <p:cNvSpPr/>
          <p:nvPr/>
        </p:nvSpPr>
        <p:spPr>
          <a:xfrm>
            <a:off x="7531510" y="5565058"/>
            <a:ext cx="658761" cy="23597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2" name="TextBox 11">
            <a:extLst>
              <a:ext uri="{FF2B5EF4-FFF2-40B4-BE49-F238E27FC236}">
                <a16:creationId xmlns:a16="http://schemas.microsoft.com/office/drawing/2014/main" id="{36911F28-098B-1A04-B42E-7795B725DE56}"/>
              </a:ext>
            </a:extLst>
          </p:cNvPr>
          <p:cNvSpPr txBox="1"/>
          <p:nvPr/>
        </p:nvSpPr>
        <p:spPr>
          <a:xfrm>
            <a:off x="7868803" y="4092366"/>
            <a:ext cx="4240071" cy="369332"/>
          </a:xfrm>
          <a:prstGeom prst="rect">
            <a:avLst/>
          </a:prstGeom>
          <a:noFill/>
        </p:spPr>
        <p:txBody>
          <a:bodyPr wrap="none" rtlCol="0">
            <a:spAutoFit/>
          </a:bodyPr>
          <a:lstStyle/>
          <a:p>
            <a:r>
              <a:rPr lang="en-US" b="1" dirty="0">
                <a:latin typeface="Calibri" panose="020F0502020204030204" pitchFamily="34" charset="0"/>
                <a:cs typeface="Calibri" panose="020F0502020204030204" pitchFamily="34" charset="0"/>
              </a:rPr>
              <a:t>Distance to Time Efficiency Ratio per route</a:t>
            </a:r>
            <a:endParaRPr lang="en-IN" b="1"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D1EC3C6-184A-A743-5A08-758DF06C7CA3}"/>
              </a:ext>
            </a:extLst>
          </p:cNvPr>
          <p:cNvSpPr txBox="1"/>
          <p:nvPr/>
        </p:nvSpPr>
        <p:spPr>
          <a:xfrm>
            <a:off x="3738036" y="9543"/>
            <a:ext cx="5325882" cy="461665"/>
          </a:xfrm>
          <a:prstGeom prst="rect">
            <a:avLst/>
          </a:prstGeom>
          <a:noFill/>
        </p:spPr>
        <p:txBody>
          <a:bodyPr wrap="none" rtlCol="0">
            <a:spAutoFit/>
          </a:bodyPr>
          <a:lstStyle/>
          <a:p>
            <a:pPr algn="ctr"/>
            <a:r>
              <a:rPr lang="en-US" sz="2400" b="1" dirty="0">
                <a:solidFill>
                  <a:schemeClr val="accent1"/>
                </a:solidFill>
                <a:latin typeface="Calibri" panose="020F0502020204030204" pitchFamily="34" charset="0"/>
                <a:cs typeface="Calibri" panose="020F0502020204030204" pitchFamily="34" charset="0"/>
              </a:rPr>
              <a:t>TASK 3- ROUTE OPTIMIZATION INSIGHTS</a:t>
            </a:r>
            <a:endParaRPr lang="en-IN" sz="2400" b="1" dirty="0">
              <a:solidFill>
                <a:schemeClr val="accent1"/>
              </a:solidFill>
              <a:latin typeface="Calibri" panose="020F0502020204030204" pitchFamily="34" charset="0"/>
              <a:cs typeface="Calibri" panose="020F0502020204030204" pitchFamily="34" charset="0"/>
            </a:endParaRPr>
          </a:p>
        </p:txBody>
      </p:sp>
      <p:sp>
        <p:nvSpPr>
          <p:cNvPr id="15" name="Arrow: Bent-Up 14">
            <a:extLst>
              <a:ext uri="{FF2B5EF4-FFF2-40B4-BE49-F238E27FC236}">
                <a16:creationId xmlns:a16="http://schemas.microsoft.com/office/drawing/2014/main" id="{25F80EE2-9719-DC1F-6A4A-3E887F6E056A}"/>
              </a:ext>
            </a:extLst>
          </p:cNvPr>
          <p:cNvSpPr/>
          <p:nvPr/>
        </p:nvSpPr>
        <p:spPr>
          <a:xfrm rot="5400000">
            <a:off x="7409012" y="1549127"/>
            <a:ext cx="577266" cy="1193264"/>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22688699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719BBCC-5AFC-B625-16CC-46BB046316BD}"/>
              </a:ext>
            </a:extLst>
          </p:cNvPr>
          <p:cNvSpPr/>
          <p:nvPr/>
        </p:nvSpPr>
        <p:spPr>
          <a:xfrm>
            <a:off x="285136" y="419949"/>
            <a:ext cx="5161936" cy="19329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latin typeface="Calibri" panose="020F0502020204030204" pitchFamily="34" charset="0"/>
                <a:cs typeface="Calibri" panose="020F0502020204030204" pitchFamily="34" charset="0"/>
              </a:rPr>
              <a:t>SELECT route_id,start_location,end_location,distance_km,</a:t>
            </a:r>
          </a:p>
          <a:p>
            <a:r>
              <a:rPr lang="en-US" b="1" dirty="0">
                <a:latin typeface="Calibri" panose="020F0502020204030204" pitchFamily="34" charset="0"/>
                <a:cs typeface="Calibri" panose="020F0502020204030204" pitchFamily="34" charset="0"/>
              </a:rPr>
              <a:t>average_travel_time_min,ROUND(distance_km / average_travel_time_min, 2) AS distance_to_time_efficiency FROM delivery_routes order by distance_to_time_efficiency asc limit 3;</a:t>
            </a:r>
            <a:endParaRPr lang="en-IN" b="1" dirty="0">
              <a:latin typeface="Calibri" panose="020F0502020204030204" pitchFamily="34" charset="0"/>
              <a:cs typeface="Calibri" panose="020F0502020204030204" pitchFamily="34" charset="0"/>
            </a:endParaRPr>
          </a:p>
        </p:txBody>
      </p:sp>
      <p:graphicFrame>
        <p:nvGraphicFramePr>
          <p:cNvPr id="4" name="Chart 3">
            <a:extLst>
              <a:ext uri="{FF2B5EF4-FFF2-40B4-BE49-F238E27FC236}">
                <a16:creationId xmlns:a16="http://schemas.microsoft.com/office/drawing/2014/main" id="{5FEC4F51-1E25-A940-B35B-F79B48938973}"/>
              </a:ext>
            </a:extLst>
          </p:cNvPr>
          <p:cNvGraphicFramePr>
            <a:graphicFrameLocks/>
          </p:cNvGraphicFramePr>
          <p:nvPr>
            <p:extLst>
              <p:ext uri="{D42A27DB-BD31-4B8C-83A1-F6EECF244321}">
                <p14:modId xmlns:p14="http://schemas.microsoft.com/office/powerpoint/2010/main" val="525296036"/>
              </p:ext>
            </p:extLst>
          </p:nvPr>
        </p:nvGraphicFramePr>
        <p:xfrm>
          <a:off x="285136" y="3409427"/>
          <a:ext cx="3207160" cy="2209800"/>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265D15B8-4103-208B-A440-54E5A624A745}"/>
              </a:ext>
            </a:extLst>
          </p:cNvPr>
          <p:cNvSpPr txBox="1"/>
          <p:nvPr/>
        </p:nvSpPr>
        <p:spPr>
          <a:xfrm>
            <a:off x="94233" y="2787122"/>
            <a:ext cx="3887832" cy="646331"/>
          </a:xfrm>
          <a:prstGeom prst="rect">
            <a:avLst/>
          </a:prstGeom>
          <a:noFill/>
        </p:spPr>
        <p:txBody>
          <a:bodyPr wrap="square" rtlCol="0">
            <a:spAutoFit/>
          </a:bodyPr>
          <a:lstStyle/>
          <a:p>
            <a:pPr algn="ctr"/>
            <a:r>
              <a:rPr lang="en-US" b="1" dirty="0">
                <a:latin typeface="Calibri" panose="020F0502020204030204" pitchFamily="34" charset="0"/>
                <a:cs typeface="Calibri" panose="020F0502020204030204" pitchFamily="34" charset="0"/>
              </a:rPr>
              <a:t> Routes with Worst Distance to Time Efficiency Ratio</a:t>
            </a:r>
            <a:endParaRPr lang="en-IN" b="1" dirty="0">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FEA1D51-8100-7C07-EFAD-6F8875BF475D}"/>
              </a:ext>
            </a:extLst>
          </p:cNvPr>
          <p:cNvSpPr/>
          <p:nvPr/>
        </p:nvSpPr>
        <p:spPr>
          <a:xfrm>
            <a:off x="5692877" y="419949"/>
            <a:ext cx="6213987" cy="24136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latin typeface="Calibri" panose="020F0502020204030204" pitchFamily="34" charset="0"/>
                <a:cs typeface="Calibri" panose="020F0502020204030204" pitchFamily="34" charset="0"/>
              </a:rPr>
              <a:t>SELECT route_id,COUNT(*) AS total_shipments,SUM(CASE WHEN actual_delivery_date &gt; expected_delivery_date THEN 1 ELSE 0 END) AS delayed_shipments,ROUND(SUM(CASE WHEN actual_delivery_date &gt; expected_delivery_date THEN 1 ELSE 0 END) * 100 / COUNT(*), 2) AS %delayed FROM flipkart_orders WHERE status = 'DELIVERED’ </a:t>
            </a:r>
          </a:p>
          <a:p>
            <a:r>
              <a:rPr lang="en-US" b="1" dirty="0">
                <a:latin typeface="Calibri" panose="020F0502020204030204" pitchFamily="34" charset="0"/>
                <a:cs typeface="Calibri" panose="020F0502020204030204" pitchFamily="34" charset="0"/>
              </a:rPr>
              <a:t>GROUP BY route_id HAVING %delayed &gt; 20 order by %delayed;</a:t>
            </a:r>
            <a:endParaRPr lang="en-IN" b="1" dirty="0">
              <a:latin typeface="Calibri" panose="020F0502020204030204" pitchFamily="34" charset="0"/>
              <a:cs typeface="Calibri" panose="020F0502020204030204" pitchFamily="34" charset="0"/>
            </a:endParaRPr>
          </a:p>
        </p:txBody>
      </p:sp>
      <p:graphicFrame>
        <p:nvGraphicFramePr>
          <p:cNvPr id="7" name="Table 6">
            <a:extLst>
              <a:ext uri="{FF2B5EF4-FFF2-40B4-BE49-F238E27FC236}">
                <a16:creationId xmlns:a16="http://schemas.microsoft.com/office/drawing/2014/main" id="{C55C8FAB-B903-2C81-B0D0-9F9165817202}"/>
              </a:ext>
            </a:extLst>
          </p:cNvPr>
          <p:cNvGraphicFramePr>
            <a:graphicFrameLocks noGrp="1"/>
          </p:cNvGraphicFramePr>
          <p:nvPr>
            <p:extLst>
              <p:ext uri="{D42A27DB-BD31-4B8C-83A1-F6EECF244321}">
                <p14:modId xmlns:p14="http://schemas.microsoft.com/office/powerpoint/2010/main" val="4059034206"/>
              </p:ext>
            </p:extLst>
          </p:nvPr>
        </p:nvGraphicFramePr>
        <p:xfrm>
          <a:off x="4233911" y="3617091"/>
          <a:ext cx="1920568" cy="2220426"/>
        </p:xfrm>
        <a:graphic>
          <a:graphicData uri="http://schemas.openxmlformats.org/drawingml/2006/table">
            <a:tbl>
              <a:tblPr firstRow="1" bandRow="1">
                <a:tableStyleId>{5C22544A-7EE6-4342-B048-85BDC9FD1C3A}</a:tableStyleId>
              </a:tblPr>
              <a:tblGrid>
                <a:gridCol w="604757">
                  <a:extLst>
                    <a:ext uri="{9D8B030D-6E8A-4147-A177-3AD203B41FA5}">
                      <a16:colId xmlns:a16="http://schemas.microsoft.com/office/drawing/2014/main" val="687019592"/>
                    </a:ext>
                  </a:extLst>
                </a:gridCol>
                <a:gridCol w="1315811">
                  <a:extLst>
                    <a:ext uri="{9D8B030D-6E8A-4147-A177-3AD203B41FA5}">
                      <a16:colId xmlns:a16="http://schemas.microsoft.com/office/drawing/2014/main" val="673042631"/>
                    </a:ext>
                  </a:extLst>
                </a:gridCol>
              </a:tblGrid>
              <a:tr h="366226">
                <a:tc>
                  <a:txBody>
                    <a:bodyPr/>
                    <a:lstStyle/>
                    <a:p>
                      <a:pPr algn="ctr" fontAlgn="b">
                        <a:buNone/>
                      </a:pPr>
                      <a:r>
                        <a:rPr lang="en-IN" sz="1100" b="1" i="0" u="none" strike="noStrike" dirty="0">
                          <a:solidFill>
                            <a:schemeClr val="bg1"/>
                          </a:solidFill>
                          <a:effectLst/>
                          <a:latin typeface="Calibri" panose="020F0502020204030204" pitchFamily="34" charset="0"/>
                        </a:rPr>
                        <a:t>Route ID</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&gt;20% delayed Shipments</a:t>
                      </a:r>
                    </a:p>
                  </a:txBody>
                  <a:tcPr marL="7620" marR="7620" marT="7620" marB="0" anchor="b">
                    <a:solidFill>
                      <a:schemeClr val="accent1"/>
                    </a:solidFill>
                  </a:tcPr>
                </a:tc>
                <a:extLst>
                  <a:ext uri="{0D108BD9-81ED-4DB2-BD59-A6C34878D82A}">
                    <a16:rowId xmlns:a16="http://schemas.microsoft.com/office/drawing/2014/main" val="4221935667"/>
                  </a:ext>
                </a:extLst>
              </a:tr>
              <a:tr h="370840">
                <a:tc>
                  <a:txBody>
                    <a:bodyPr/>
                    <a:lstStyle/>
                    <a:p>
                      <a:pPr algn="ctr" fontAlgn="b">
                        <a:buNone/>
                      </a:pPr>
                      <a:r>
                        <a:rPr lang="en-IN" sz="1100" b="1" i="0" u="none" strike="noStrike" dirty="0">
                          <a:solidFill>
                            <a:schemeClr val="bg1"/>
                          </a:solidFill>
                          <a:effectLst/>
                          <a:latin typeface="Calibri" panose="020F0502020204030204" pitchFamily="34" charset="0"/>
                        </a:rPr>
                        <a:t>RT_10</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21.05</a:t>
                      </a:r>
                    </a:p>
                  </a:txBody>
                  <a:tcPr marL="7620" marR="7620" marT="7620" marB="0" anchor="b">
                    <a:solidFill>
                      <a:schemeClr val="accent1"/>
                    </a:solidFill>
                  </a:tcPr>
                </a:tc>
                <a:extLst>
                  <a:ext uri="{0D108BD9-81ED-4DB2-BD59-A6C34878D82A}">
                    <a16:rowId xmlns:a16="http://schemas.microsoft.com/office/drawing/2014/main" val="900860268"/>
                  </a:ext>
                </a:extLst>
              </a:tr>
              <a:tr h="370840">
                <a:tc>
                  <a:txBody>
                    <a:bodyPr/>
                    <a:lstStyle/>
                    <a:p>
                      <a:pPr algn="ctr" fontAlgn="b">
                        <a:buNone/>
                      </a:pPr>
                      <a:r>
                        <a:rPr lang="en-IN" sz="1100" b="1" i="0" u="none" strike="noStrike" dirty="0">
                          <a:solidFill>
                            <a:schemeClr val="bg1"/>
                          </a:solidFill>
                          <a:effectLst/>
                          <a:latin typeface="Calibri" panose="020F0502020204030204" pitchFamily="34" charset="0"/>
                        </a:rPr>
                        <a:t>RT_07</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22.22</a:t>
                      </a:r>
                    </a:p>
                  </a:txBody>
                  <a:tcPr marL="7620" marR="7620" marT="7620" marB="0" anchor="b">
                    <a:solidFill>
                      <a:schemeClr val="accent1"/>
                    </a:solidFill>
                  </a:tcPr>
                </a:tc>
                <a:extLst>
                  <a:ext uri="{0D108BD9-81ED-4DB2-BD59-A6C34878D82A}">
                    <a16:rowId xmlns:a16="http://schemas.microsoft.com/office/drawing/2014/main" val="3658808510"/>
                  </a:ext>
                </a:extLst>
              </a:tr>
              <a:tr h="370840">
                <a:tc>
                  <a:txBody>
                    <a:bodyPr/>
                    <a:lstStyle/>
                    <a:p>
                      <a:pPr algn="ctr" fontAlgn="b">
                        <a:buNone/>
                      </a:pPr>
                      <a:r>
                        <a:rPr lang="en-IN" sz="1100" b="1" i="0" u="none" strike="noStrike" dirty="0">
                          <a:solidFill>
                            <a:schemeClr val="bg1"/>
                          </a:solidFill>
                          <a:effectLst/>
                          <a:latin typeface="Calibri" panose="020F0502020204030204" pitchFamily="34" charset="0"/>
                        </a:rPr>
                        <a:t>RT_15</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23.53</a:t>
                      </a:r>
                    </a:p>
                  </a:txBody>
                  <a:tcPr marL="7620" marR="7620" marT="7620" marB="0" anchor="b">
                    <a:solidFill>
                      <a:schemeClr val="accent1"/>
                    </a:solidFill>
                  </a:tcPr>
                </a:tc>
                <a:extLst>
                  <a:ext uri="{0D108BD9-81ED-4DB2-BD59-A6C34878D82A}">
                    <a16:rowId xmlns:a16="http://schemas.microsoft.com/office/drawing/2014/main" val="774976778"/>
                  </a:ext>
                </a:extLst>
              </a:tr>
              <a:tr h="370840">
                <a:tc>
                  <a:txBody>
                    <a:bodyPr/>
                    <a:lstStyle/>
                    <a:p>
                      <a:pPr algn="ctr" fontAlgn="b">
                        <a:buNone/>
                      </a:pPr>
                      <a:r>
                        <a:rPr lang="en-IN" sz="1100" b="1" i="0" u="none" strike="noStrike" dirty="0">
                          <a:solidFill>
                            <a:schemeClr val="bg1"/>
                          </a:solidFill>
                          <a:effectLst/>
                          <a:latin typeface="Calibri" panose="020F0502020204030204" pitchFamily="34" charset="0"/>
                        </a:rPr>
                        <a:t>RT_12</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27.78</a:t>
                      </a:r>
                    </a:p>
                  </a:txBody>
                  <a:tcPr marL="7620" marR="7620" marT="7620" marB="0" anchor="b">
                    <a:solidFill>
                      <a:schemeClr val="accent1"/>
                    </a:solidFill>
                  </a:tcPr>
                </a:tc>
                <a:extLst>
                  <a:ext uri="{0D108BD9-81ED-4DB2-BD59-A6C34878D82A}">
                    <a16:rowId xmlns:a16="http://schemas.microsoft.com/office/drawing/2014/main" val="2251376094"/>
                  </a:ext>
                </a:extLst>
              </a:tr>
              <a:tr h="370840">
                <a:tc>
                  <a:txBody>
                    <a:bodyPr/>
                    <a:lstStyle/>
                    <a:p>
                      <a:pPr algn="ctr" fontAlgn="b">
                        <a:buNone/>
                      </a:pPr>
                      <a:r>
                        <a:rPr lang="en-IN" sz="1100" b="1" i="0" u="none" strike="noStrike" dirty="0">
                          <a:solidFill>
                            <a:schemeClr val="bg1"/>
                          </a:solidFill>
                          <a:effectLst/>
                          <a:latin typeface="Calibri" panose="020F0502020204030204" pitchFamily="34" charset="0"/>
                        </a:rPr>
                        <a:t>RT_18</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28.57</a:t>
                      </a:r>
                    </a:p>
                  </a:txBody>
                  <a:tcPr marL="7620" marR="7620" marT="7620" marB="0" anchor="b">
                    <a:solidFill>
                      <a:schemeClr val="accent1"/>
                    </a:solidFill>
                  </a:tcPr>
                </a:tc>
                <a:extLst>
                  <a:ext uri="{0D108BD9-81ED-4DB2-BD59-A6C34878D82A}">
                    <a16:rowId xmlns:a16="http://schemas.microsoft.com/office/drawing/2014/main" val="2876515172"/>
                  </a:ext>
                </a:extLst>
              </a:tr>
            </a:tbl>
          </a:graphicData>
        </a:graphic>
      </p:graphicFrame>
      <p:sp>
        <p:nvSpPr>
          <p:cNvPr id="8" name="TextBox 7">
            <a:extLst>
              <a:ext uri="{FF2B5EF4-FFF2-40B4-BE49-F238E27FC236}">
                <a16:creationId xmlns:a16="http://schemas.microsoft.com/office/drawing/2014/main" id="{864FE5AF-0427-627C-26FB-9B3F062FCABC}"/>
              </a:ext>
            </a:extLst>
          </p:cNvPr>
          <p:cNvSpPr txBox="1"/>
          <p:nvPr/>
        </p:nvSpPr>
        <p:spPr>
          <a:xfrm>
            <a:off x="4151572" y="2928718"/>
            <a:ext cx="2426321" cy="646331"/>
          </a:xfrm>
          <a:prstGeom prst="rect">
            <a:avLst/>
          </a:prstGeom>
          <a:noFill/>
        </p:spPr>
        <p:txBody>
          <a:bodyPr wrap="square" rtlCol="0">
            <a:spAutoFit/>
          </a:bodyPr>
          <a:lstStyle/>
          <a:p>
            <a:r>
              <a:rPr lang="en-US" b="1" dirty="0">
                <a:latin typeface="Calibri" panose="020F0502020204030204" pitchFamily="34" charset="0"/>
                <a:cs typeface="Calibri" panose="020F0502020204030204" pitchFamily="34" charset="0"/>
              </a:rPr>
              <a:t>Routes with &gt;20% Delayed Shipments</a:t>
            </a:r>
            <a:endParaRPr lang="en-IN" b="1" dirty="0">
              <a:latin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A4A23EE5-6F3C-C586-1953-CF3C78C0B2E1}"/>
              </a:ext>
            </a:extLst>
          </p:cNvPr>
          <p:cNvSpPr/>
          <p:nvPr/>
        </p:nvSpPr>
        <p:spPr>
          <a:xfrm>
            <a:off x="6813755" y="3420140"/>
            <a:ext cx="5093109" cy="27054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latin typeface="Calibri" panose="020F0502020204030204" pitchFamily="34" charset="0"/>
                <a:cs typeface="Calibri" panose="020F0502020204030204" pitchFamily="34" charset="0"/>
              </a:rPr>
              <a:t>Recommendations for Route Optimizations are</a:t>
            </a:r>
          </a:p>
          <a:p>
            <a:r>
              <a:rPr lang="en-US" b="1" dirty="0">
                <a:latin typeface="Calibri" panose="020F0502020204030204" pitchFamily="34" charset="0"/>
                <a:cs typeface="Calibri" panose="020F0502020204030204" pitchFamily="34" charset="0"/>
              </a:rPr>
              <a:t>Focusing on route with low distance to time ratios and high traffic delays by</a:t>
            </a:r>
          </a:p>
          <a:p>
            <a:pPr marL="285750" indent="-285750">
              <a:buFont typeface="Arial" panose="020B0604020202020204" pitchFamily="34" charset="0"/>
              <a:buChar char="•"/>
            </a:pPr>
            <a:r>
              <a:rPr lang="en-US" b="1" dirty="0">
                <a:latin typeface="Calibri" panose="020F0502020204030204" pitchFamily="34" charset="0"/>
                <a:cs typeface="Calibri" panose="020F0502020204030204" pitchFamily="34" charset="0"/>
              </a:rPr>
              <a:t>Choosing route with less traffic.</a:t>
            </a:r>
          </a:p>
          <a:p>
            <a:pPr marL="285750" indent="-285750">
              <a:buFont typeface="Arial" panose="020B0604020202020204" pitchFamily="34" charset="0"/>
              <a:buChar char="•"/>
            </a:pPr>
            <a:r>
              <a:rPr lang="en-US" b="1" dirty="0">
                <a:latin typeface="Calibri" panose="020F0502020204030204" pitchFamily="34" charset="0"/>
                <a:cs typeface="Calibri" panose="020F0502020204030204" pitchFamily="34" charset="0"/>
              </a:rPr>
              <a:t>Using GPS or Google Maps for alternative route selection</a:t>
            </a:r>
          </a:p>
          <a:p>
            <a:pPr marL="285750" indent="-285750">
              <a:buFont typeface="Arial" panose="020B0604020202020204" pitchFamily="34" charset="0"/>
              <a:buChar char="•"/>
            </a:pPr>
            <a:r>
              <a:rPr lang="en-US" b="1" dirty="0">
                <a:latin typeface="Calibri" panose="020F0502020204030204" pitchFamily="34" charset="0"/>
                <a:cs typeface="Calibri" panose="020F0502020204030204" pitchFamily="34" charset="0"/>
              </a:rPr>
              <a:t>Changing delivery timings</a:t>
            </a:r>
          </a:p>
          <a:p>
            <a:pPr marL="285750" indent="-285750">
              <a:buFont typeface="Arial" panose="020B0604020202020204" pitchFamily="34" charset="0"/>
              <a:buChar char="•"/>
            </a:pPr>
            <a:r>
              <a:rPr lang="en-US" b="1" dirty="0">
                <a:latin typeface="Calibri" panose="020F0502020204030204" pitchFamily="34" charset="0"/>
                <a:cs typeface="Calibri" panose="020F0502020204030204" pitchFamily="34" charset="0"/>
              </a:rPr>
              <a:t>Thus ensuring timely delivery and customer satisfaction</a:t>
            </a:r>
          </a:p>
          <a:p>
            <a:pPr marL="285750" indent="-285750" algn="ctr">
              <a:buFont typeface="Arial" panose="020B0604020202020204" pitchFamily="34" charset="0"/>
              <a:buChar char="•"/>
            </a:pPr>
            <a:endParaRPr lang="en-IN" dirty="0"/>
          </a:p>
        </p:txBody>
      </p:sp>
      <p:sp>
        <p:nvSpPr>
          <p:cNvPr id="10" name="Arrow: Down 9">
            <a:extLst>
              <a:ext uri="{FF2B5EF4-FFF2-40B4-BE49-F238E27FC236}">
                <a16:creationId xmlns:a16="http://schemas.microsoft.com/office/drawing/2014/main" id="{40AD1DD1-E6CC-B181-194B-DE16B25E9504}"/>
              </a:ext>
            </a:extLst>
          </p:cNvPr>
          <p:cNvSpPr/>
          <p:nvPr/>
        </p:nvSpPr>
        <p:spPr>
          <a:xfrm>
            <a:off x="1796433" y="2409872"/>
            <a:ext cx="184565" cy="42375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Arrow: Bent-Up 10">
            <a:extLst>
              <a:ext uri="{FF2B5EF4-FFF2-40B4-BE49-F238E27FC236}">
                <a16:creationId xmlns:a16="http://schemas.microsoft.com/office/drawing/2014/main" id="{2502375A-46D1-43B0-D953-C9042DD7A84D}"/>
              </a:ext>
            </a:extLst>
          </p:cNvPr>
          <p:cNvSpPr/>
          <p:nvPr/>
        </p:nvSpPr>
        <p:spPr>
          <a:xfrm>
            <a:off x="6096000" y="2919533"/>
            <a:ext cx="1347019" cy="354609"/>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13870079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4557F9-0DA7-A529-4ACD-4574C38CEE6E}"/>
              </a:ext>
            </a:extLst>
          </p:cNvPr>
          <p:cNvSpPr/>
          <p:nvPr/>
        </p:nvSpPr>
        <p:spPr>
          <a:xfrm>
            <a:off x="1081548" y="565355"/>
            <a:ext cx="7502013" cy="13568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latin typeface="Calibri" panose="020F0502020204030204" pitchFamily="34" charset="0"/>
                <a:cs typeface="Calibri" panose="020F0502020204030204" pitchFamily="34" charset="0"/>
              </a:rPr>
              <a:t>Select Warehouse_ID, Warehouse_Name,Average_Processing_Time_Min</a:t>
            </a:r>
          </a:p>
          <a:p>
            <a:r>
              <a:rPr lang="en-US" dirty="0">
                <a:latin typeface="Calibri" panose="020F0502020204030204" pitchFamily="34" charset="0"/>
                <a:cs typeface="Calibri" panose="020F0502020204030204" pitchFamily="34" charset="0"/>
              </a:rPr>
              <a:t>from flipkart_warehouses </a:t>
            </a:r>
          </a:p>
          <a:p>
            <a:r>
              <a:rPr lang="en-US" dirty="0">
                <a:latin typeface="Calibri" panose="020F0502020204030204" pitchFamily="34" charset="0"/>
                <a:cs typeface="Calibri" panose="020F0502020204030204" pitchFamily="34" charset="0"/>
              </a:rPr>
              <a:t>order by Average_Processing_Time_Min desc limit 3;</a:t>
            </a:r>
            <a:endParaRPr lang="en-IN" dirty="0">
              <a:latin typeface="Calibri" panose="020F0502020204030204" pitchFamily="34" charset="0"/>
              <a:cs typeface="Calibri" panose="020F0502020204030204" pitchFamily="34" charset="0"/>
            </a:endParaRPr>
          </a:p>
        </p:txBody>
      </p:sp>
      <p:graphicFrame>
        <p:nvGraphicFramePr>
          <p:cNvPr id="4" name="Chart 3">
            <a:extLst>
              <a:ext uri="{FF2B5EF4-FFF2-40B4-BE49-F238E27FC236}">
                <a16:creationId xmlns:a16="http://schemas.microsoft.com/office/drawing/2014/main" id="{0C1690C0-CB35-0CE1-7C3E-297321A55BFB}"/>
              </a:ext>
            </a:extLst>
          </p:cNvPr>
          <p:cNvGraphicFramePr>
            <a:graphicFrameLocks/>
          </p:cNvGraphicFramePr>
          <p:nvPr>
            <p:extLst>
              <p:ext uri="{D42A27DB-BD31-4B8C-83A1-F6EECF244321}">
                <p14:modId xmlns:p14="http://schemas.microsoft.com/office/powerpoint/2010/main" val="880134380"/>
              </p:ext>
            </p:extLst>
          </p:nvPr>
        </p:nvGraphicFramePr>
        <p:xfrm>
          <a:off x="963561" y="2261419"/>
          <a:ext cx="5240594" cy="3109452"/>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D42C7402-358D-2880-C1C3-973CF777733F}"/>
              </a:ext>
            </a:extLst>
          </p:cNvPr>
          <p:cNvSpPr txBox="1"/>
          <p:nvPr/>
        </p:nvSpPr>
        <p:spPr>
          <a:xfrm>
            <a:off x="4143215" y="0"/>
            <a:ext cx="4922373" cy="461665"/>
          </a:xfrm>
          <a:prstGeom prst="rect">
            <a:avLst/>
          </a:prstGeom>
          <a:noFill/>
        </p:spPr>
        <p:txBody>
          <a:bodyPr wrap="none" rtlCol="0">
            <a:spAutoFit/>
          </a:bodyPr>
          <a:lstStyle/>
          <a:p>
            <a:r>
              <a:rPr lang="en-US" sz="2400" b="1" dirty="0">
                <a:solidFill>
                  <a:schemeClr val="accent1"/>
                </a:solidFill>
                <a:latin typeface="Calibri" panose="020F0502020204030204" pitchFamily="34" charset="0"/>
                <a:cs typeface="Calibri" panose="020F0502020204030204" pitchFamily="34" charset="0"/>
              </a:rPr>
              <a:t>TASK 4- WAREHOUSE PERFORMANCE</a:t>
            </a:r>
            <a:endParaRPr lang="en-IN" sz="2400" b="1" dirty="0">
              <a:solidFill>
                <a:schemeClr val="accent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926185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46374FD-280D-D69A-43C1-46EAD9BC6DEB}"/>
              </a:ext>
            </a:extLst>
          </p:cNvPr>
          <p:cNvSpPr/>
          <p:nvPr/>
        </p:nvSpPr>
        <p:spPr>
          <a:xfrm>
            <a:off x="757083" y="344129"/>
            <a:ext cx="8475407" cy="13273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latin typeface="Calibri" panose="020F0502020204030204" pitchFamily="34" charset="0"/>
                <a:cs typeface="Calibri" panose="020F0502020204030204" pitchFamily="34" charset="0"/>
              </a:rPr>
              <a:t>SELECT warehouse_id, COUNT(*) AS total_shipments, </a:t>
            </a:r>
          </a:p>
          <a:p>
            <a:r>
              <a:rPr lang="en-US" dirty="0">
                <a:latin typeface="Calibri" panose="020F0502020204030204" pitchFamily="34" charset="0"/>
                <a:cs typeface="Calibri" panose="020F0502020204030204" pitchFamily="34" charset="0"/>
              </a:rPr>
              <a:t>SUM(CASE WHEN actual_delivery_date &gt; expected_delivery_date THEN 1 ELSE 0 END) AS delayed_shipments FROM flipkart_orders WHERE status = 'DELIVERED’ </a:t>
            </a:r>
          </a:p>
          <a:p>
            <a:r>
              <a:rPr lang="en-US" dirty="0">
                <a:latin typeface="Calibri" panose="020F0502020204030204" pitchFamily="34" charset="0"/>
                <a:cs typeface="Calibri" panose="020F0502020204030204" pitchFamily="34" charset="0"/>
              </a:rPr>
              <a:t>GROUP BY warehouse_id ORDER BY delayed_shipments DESC;</a:t>
            </a:r>
            <a:endParaRPr lang="en-IN" dirty="0">
              <a:latin typeface="Calibri" panose="020F0502020204030204" pitchFamily="34" charset="0"/>
              <a:cs typeface="Calibri" panose="020F0502020204030204" pitchFamily="34" charset="0"/>
            </a:endParaRPr>
          </a:p>
        </p:txBody>
      </p:sp>
      <p:graphicFrame>
        <p:nvGraphicFramePr>
          <p:cNvPr id="3" name="Table 2">
            <a:extLst>
              <a:ext uri="{FF2B5EF4-FFF2-40B4-BE49-F238E27FC236}">
                <a16:creationId xmlns:a16="http://schemas.microsoft.com/office/drawing/2014/main" id="{A1465D34-D5B0-074E-99F3-C5DDF07E7705}"/>
              </a:ext>
            </a:extLst>
          </p:cNvPr>
          <p:cNvGraphicFramePr>
            <a:graphicFrameLocks noGrp="1"/>
          </p:cNvGraphicFramePr>
          <p:nvPr>
            <p:extLst>
              <p:ext uri="{D42A27DB-BD31-4B8C-83A1-F6EECF244321}">
                <p14:modId xmlns:p14="http://schemas.microsoft.com/office/powerpoint/2010/main" val="1728346958"/>
              </p:ext>
            </p:extLst>
          </p:nvPr>
        </p:nvGraphicFramePr>
        <p:xfrm>
          <a:off x="757083" y="2394154"/>
          <a:ext cx="4404852" cy="3279056"/>
        </p:xfrm>
        <a:graphic>
          <a:graphicData uri="http://schemas.openxmlformats.org/drawingml/2006/table">
            <a:tbl>
              <a:tblPr firstRow="1" bandRow="1">
                <a:tableStyleId>{5C22544A-7EE6-4342-B048-85BDC9FD1C3A}</a:tableStyleId>
              </a:tblPr>
              <a:tblGrid>
                <a:gridCol w="1468284">
                  <a:extLst>
                    <a:ext uri="{9D8B030D-6E8A-4147-A177-3AD203B41FA5}">
                      <a16:colId xmlns:a16="http://schemas.microsoft.com/office/drawing/2014/main" val="164211731"/>
                    </a:ext>
                  </a:extLst>
                </a:gridCol>
                <a:gridCol w="1113184">
                  <a:extLst>
                    <a:ext uri="{9D8B030D-6E8A-4147-A177-3AD203B41FA5}">
                      <a16:colId xmlns:a16="http://schemas.microsoft.com/office/drawing/2014/main" val="3935598189"/>
                    </a:ext>
                  </a:extLst>
                </a:gridCol>
                <a:gridCol w="1823384">
                  <a:extLst>
                    <a:ext uri="{9D8B030D-6E8A-4147-A177-3AD203B41FA5}">
                      <a16:colId xmlns:a16="http://schemas.microsoft.com/office/drawing/2014/main" val="4173329349"/>
                    </a:ext>
                  </a:extLst>
                </a:gridCol>
              </a:tblGrid>
              <a:tr h="298096">
                <a:tc>
                  <a:txBody>
                    <a:bodyPr/>
                    <a:lstStyle/>
                    <a:p>
                      <a:pPr algn="ctr" fontAlgn="b">
                        <a:buNone/>
                      </a:pPr>
                      <a:r>
                        <a:rPr lang="en-US" sz="1100" b="1" i="0" u="none" strike="noStrike" dirty="0">
                          <a:solidFill>
                            <a:schemeClr val="bg1"/>
                          </a:solidFill>
                          <a:effectLst/>
                          <a:latin typeface="Calibri" panose="020F0502020204030204" pitchFamily="34" charset="0"/>
                        </a:rPr>
                        <a:t>Warehouse ID</a:t>
                      </a:r>
                      <a:endParaRPr lang="en-IN" sz="1100" b="1" i="0" u="none" strike="noStrike" dirty="0">
                        <a:solidFill>
                          <a:schemeClr val="bg1"/>
                        </a:solidFill>
                        <a:effectLst/>
                        <a:latin typeface="Calibri" panose="020F0502020204030204" pitchFamily="34" charset="0"/>
                      </a:endParaRP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 Total Shipments</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Delayed Shipments</a:t>
                      </a:r>
                    </a:p>
                  </a:txBody>
                  <a:tcPr marL="7620" marR="7620" marT="7620" marB="0" anchor="b">
                    <a:solidFill>
                      <a:schemeClr val="accent1"/>
                    </a:solidFill>
                  </a:tcPr>
                </a:tc>
                <a:extLst>
                  <a:ext uri="{0D108BD9-81ED-4DB2-BD59-A6C34878D82A}">
                    <a16:rowId xmlns:a16="http://schemas.microsoft.com/office/drawing/2014/main" val="4143242718"/>
                  </a:ext>
                </a:extLst>
              </a:tr>
              <a:tr h="298096">
                <a:tc>
                  <a:txBody>
                    <a:bodyPr/>
                    <a:lstStyle/>
                    <a:p>
                      <a:pPr algn="ctr" fontAlgn="b">
                        <a:buNone/>
                      </a:pPr>
                      <a:r>
                        <a:rPr lang="en-IN" sz="1100" b="1" i="0" u="none" strike="noStrike" dirty="0">
                          <a:solidFill>
                            <a:schemeClr val="bg1"/>
                          </a:solidFill>
                          <a:effectLst/>
                          <a:latin typeface="Calibri" panose="020F0502020204030204" pitchFamily="34" charset="0"/>
                        </a:rPr>
                        <a:t>WH_10</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30</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11</a:t>
                      </a:r>
                    </a:p>
                  </a:txBody>
                  <a:tcPr marL="7620" marR="7620" marT="7620" marB="0" anchor="b">
                    <a:solidFill>
                      <a:schemeClr val="accent1"/>
                    </a:solidFill>
                  </a:tcPr>
                </a:tc>
                <a:extLst>
                  <a:ext uri="{0D108BD9-81ED-4DB2-BD59-A6C34878D82A}">
                    <a16:rowId xmlns:a16="http://schemas.microsoft.com/office/drawing/2014/main" val="3749396601"/>
                  </a:ext>
                </a:extLst>
              </a:tr>
              <a:tr h="298096">
                <a:tc>
                  <a:txBody>
                    <a:bodyPr/>
                    <a:lstStyle/>
                    <a:p>
                      <a:pPr algn="ctr" fontAlgn="b">
                        <a:buNone/>
                      </a:pPr>
                      <a:r>
                        <a:rPr lang="en-IN" sz="1100" b="1" i="0" u="none" strike="noStrike" dirty="0">
                          <a:solidFill>
                            <a:schemeClr val="bg1"/>
                          </a:solidFill>
                          <a:effectLst/>
                          <a:latin typeface="Calibri" panose="020F0502020204030204" pitchFamily="34" charset="0"/>
                        </a:rPr>
                        <a:t>WH_08</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38</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10</a:t>
                      </a:r>
                    </a:p>
                  </a:txBody>
                  <a:tcPr marL="7620" marR="7620" marT="7620" marB="0" anchor="b">
                    <a:solidFill>
                      <a:schemeClr val="accent1"/>
                    </a:solidFill>
                  </a:tcPr>
                </a:tc>
                <a:extLst>
                  <a:ext uri="{0D108BD9-81ED-4DB2-BD59-A6C34878D82A}">
                    <a16:rowId xmlns:a16="http://schemas.microsoft.com/office/drawing/2014/main" val="734417576"/>
                  </a:ext>
                </a:extLst>
              </a:tr>
              <a:tr h="298096">
                <a:tc>
                  <a:txBody>
                    <a:bodyPr/>
                    <a:lstStyle/>
                    <a:p>
                      <a:pPr algn="ctr" fontAlgn="b">
                        <a:buNone/>
                      </a:pPr>
                      <a:r>
                        <a:rPr lang="en-IN" sz="1100" b="1" i="0" u="none" strike="noStrike" dirty="0">
                          <a:solidFill>
                            <a:schemeClr val="bg1"/>
                          </a:solidFill>
                          <a:effectLst/>
                          <a:latin typeface="Calibri" panose="020F0502020204030204" pitchFamily="34" charset="0"/>
                        </a:rPr>
                        <a:t>WH_02</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27</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9</a:t>
                      </a:r>
                    </a:p>
                  </a:txBody>
                  <a:tcPr marL="7620" marR="7620" marT="7620" marB="0" anchor="b">
                    <a:solidFill>
                      <a:schemeClr val="accent1"/>
                    </a:solidFill>
                  </a:tcPr>
                </a:tc>
                <a:extLst>
                  <a:ext uri="{0D108BD9-81ED-4DB2-BD59-A6C34878D82A}">
                    <a16:rowId xmlns:a16="http://schemas.microsoft.com/office/drawing/2014/main" val="728330047"/>
                  </a:ext>
                </a:extLst>
              </a:tr>
              <a:tr h="298096">
                <a:tc>
                  <a:txBody>
                    <a:bodyPr/>
                    <a:lstStyle/>
                    <a:p>
                      <a:pPr algn="ctr" fontAlgn="b">
                        <a:buNone/>
                      </a:pPr>
                      <a:r>
                        <a:rPr lang="en-IN" sz="1100" b="1" i="0" u="none" strike="noStrike" dirty="0">
                          <a:solidFill>
                            <a:schemeClr val="bg1"/>
                          </a:solidFill>
                          <a:effectLst/>
                          <a:latin typeface="Calibri" panose="020F0502020204030204" pitchFamily="34" charset="0"/>
                        </a:rPr>
                        <a:t>WH_03</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25</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9</a:t>
                      </a:r>
                    </a:p>
                  </a:txBody>
                  <a:tcPr marL="7620" marR="7620" marT="7620" marB="0" anchor="b">
                    <a:solidFill>
                      <a:schemeClr val="accent1"/>
                    </a:solidFill>
                  </a:tcPr>
                </a:tc>
                <a:extLst>
                  <a:ext uri="{0D108BD9-81ED-4DB2-BD59-A6C34878D82A}">
                    <a16:rowId xmlns:a16="http://schemas.microsoft.com/office/drawing/2014/main" val="4114784250"/>
                  </a:ext>
                </a:extLst>
              </a:tr>
              <a:tr h="298096">
                <a:tc>
                  <a:txBody>
                    <a:bodyPr/>
                    <a:lstStyle/>
                    <a:p>
                      <a:pPr algn="ctr" fontAlgn="b">
                        <a:buNone/>
                      </a:pPr>
                      <a:r>
                        <a:rPr lang="en-IN" sz="1100" b="1" i="0" u="none" strike="noStrike" dirty="0">
                          <a:solidFill>
                            <a:schemeClr val="bg1"/>
                          </a:solidFill>
                          <a:effectLst/>
                          <a:latin typeface="Calibri" panose="020F0502020204030204" pitchFamily="34" charset="0"/>
                        </a:rPr>
                        <a:t>WH_07</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26</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8</a:t>
                      </a:r>
                    </a:p>
                  </a:txBody>
                  <a:tcPr marL="7620" marR="7620" marT="7620" marB="0" anchor="b">
                    <a:solidFill>
                      <a:schemeClr val="accent1"/>
                    </a:solidFill>
                  </a:tcPr>
                </a:tc>
                <a:extLst>
                  <a:ext uri="{0D108BD9-81ED-4DB2-BD59-A6C34878D82A}">
                    <a16:rowId xmlns:a16="http://schemas.microsoft.com/office/drawing/2014/main" val="3444419996"/>
                  </a:ext>
                </a:extLst>
              </a:tr>
              <a:tr h="298096">
                <a:tc>
                  <a:txBody>
                    <a:bodyPr/>
                    <a:lstStyle/>
                    <a:p>
                      <a:pPr algn="ctr" fontAlgn="b">
                        <a:buNone/>
                      </a:pPr>
                      <a:r>
                        <a:rPr lang="en-IN" sz="1100" b="1" i="0" u="none" strike="noStrike" dirty="0">
                          <a:solidFill>
                            <a:schemeClr val="bg1"/>
                          </a:solidFill>
                          <a:effectLst/>
                          <a:latin typeface="Calibri" panose="020F0502020204030204" pitchFamily="34" charset="0"/>
                        </a:rPr>
                        <a:t>WH_04</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31</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8</a:t>
                      </a:r>
                    </a:p>
                  </a:txBody>
                  <a:tcPr marL="7620" marR="7620" marT="7620" marB="0" anchor="b">
                    <a:solidFill>
                      <a:schemeClr val="accent1"/>
                    </a:solidFill>
                  </a:tcPr>
                </a:tc>
                <a:extLst>
                  <a:ext uri="{0D108BD9-81ED-4DB2-BD59-A6C34878D82A}">
                    <a16:rowId xmlns:a16="http://schemas.microsoft.com/office/drawing/2014/main" val="1613902618"/>
                  </a:ext>
                </a:extLst>
              </a:tr>
              <a:tr h="298096">
                <a:tc>
                  <a:txBody>
                    <a:bodyPr/>
                    <a:lstStyle/>
                    <a:p>
                      <a:pPr algn="ctr" fontAlgn="b">
                        <a:buNone/>
                      </a:pPr>
                      <a:r>
                        <a:rPr lang="en-IN" sz="1100" b="1" i="0" u="none" strike="noStrike" dirty="0">
                          <a:solidFill>
                            <a:schemeClr val="bg1"/>
                          </a:solidFill>
                          <a:effectLst/>
                          <a:latin typeface="Calibri" panose="020F0502020204030204" pitchFamily="34" charset="0"/>
                        </a:rPr>
                        <a:t>WH_05</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29</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8</a:t>
                      </a:r>
                    </a:p>
                  </a:txBody>
                  <a:tcPr marL="7620" marR="7620" marT="7620" marB="0" anchor="b">
                    <a:solidFill>
                      <a:schemeClr val="accent1"/>
                    </a:solidFill>
                  </a:tcPr>
                </a:tc>
                <a:extLst>
                  <a:ext uri="{0D108BD9-81ED-4DB2-BD59-A6C34878D82A}">
                    <a16:rowId xmlns:a16="http://schemas.microsoft.com/office/drawing/2014/main" val="3718579869"/>
                  </a:ext>
                </a:extLst>
              </a:tr>
              <a:tr h="298096">
                <a:tc>
                  <a:txBody>
                    <a:bodyPr/>
                    <a:lstStyle/>
                    <a:p>
                      <a:pPr algn="ctr" fontAlgn="b">
                        <a:buNone/>
                      </a:pPr>
                      <a:r>
                        <a:rPr lang="en-IN" sz="1100" b="1" i="0" u="none" strike="noStrike" dirty="0">
                          <a:solidFill>
                            <a:schemeClr val="bg1"/>
                          </a:solidFill>
                          <a:effectLst/>
                          <a:latin typeface="Calibri" panose="020F0502020204030204" pitchFamily="34" charset="0"/>
                        </a:rPr>
                        <a:t>WH_09</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43</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7</a:t>
                      </a:r>
                    </a:p>
                  </a:txBody>
                  <a:tcPr marL="7620" marR="7620" marT="7620" marB="0" anchor="b">
                    <a:solidFill>
                      <a:schemeClr val="accent1"/>
                    </a:solidFill>
                  </a:tcPr>
                </a:tc>
                <a:extLst>
                  <a:ext uri="{0D108BD9-81ED-4DB2-BD59-A6C34878D82A}">
                    <a16:rowId xmlns:a16="http://schemas.microsoft.com/office/drawing/2014/main" val="935653545"/>
                  </a:ext>
                </a:extLst>
              </a:tr>
              <a:tr h="298096">
                <a:tc>
                  <a:txBody>
                    <a:bodyPr/>
                    <a:lstStyle/>
                    <a:p>
                      <a:pPr algn="ctr" fontAlgn="b">
                        <a:buNone/>
                      </a:pPr>
                      <a:r>
                        <a:rPr lang="en-IN" sz="1100" b="1" i="0" u="none" strike="noStrike" dirty="0">
                          <a:solidFill>
                            <a:schemeClr val="bg1"/>
                          </a:solidFill>
                          <a:effectLst/>
                          <a:latin typeface="Calibri" panose="020F0502020204030204" pitchFamily="34" charset="0"/>
                        </a:rPr>
                        <a:t>WH_01</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24</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6</a:t>
                      </a:r>
                    </a:p>
                  </a:txBody>
                  <a:tcPr marL="7620" marR="7620" marT="7620" marB="0" anchor="b">
                    <a:solidFill>
                      <a:schemeClr val="accent1"/>
                    </a:solidFill>
                  </a:tcPr>
                </a:tc>
                <a:extLst>
                  <a:ext uri="{0D108BD9-81ED-4DB2-BD59-A6C34878D82A}">
                    <a16:rowId xmlns:a16="http://schemas.microsoft.com/office/drawing/2014/main" val="4122639423"/>
                  </a:ext>
                </a:extLst>
              </a:tr>
              <a:tr h="298096">
                <a:tc>
                  <a:txBody>
                    <a:bodyPr/>
                    <a:lstStyle/>
                    <a:p>
                      <a:pPr algn="ctr" fontAlgn="b">
                        <a:buNone/>
                      </a:pPr>
                      <a:r>
                        <a:rPr lang="en-IN" sz="1100" b="1" i="0" u="none" strike="noStrike" dirty="0">
                          <a:solidFill>
                            <a:schemeClr val="bg1"/>
                          </a:solidFill>
                          <a:effectLst/>
                          <a:latin typeface="Calibri" panose="020F0502020204030204" pitchFamily="34" charset="0"/>
                        </a:rPr>
                        <a:t>WH_06</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27</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6</a:t>
                      </a:r>
                    </a:p>
                  </a:txBody>
                  <a:tcPr marL="7620" marR="7620" marT="7620" marB="0" anchor="b">
                    <a:solidFill>
                      <a:schemeClr val="accent1"/>
                    </a:solidFill>
                  </a:tcPr>
                </a:tc>
                <a:extLst>
                  <a:ext uri="{0D108BD9-81ED-4DB2-BD59-A6C34878D82A}">
                    <a16:rowId xmlns:a16="http://schemas.microsoft.com/office/drawing/2014/main" val="3250050345"/>
                  </a:ext>
                </a:extLst>
              </a:tr>
            </a:tbl>
          </a:graphicData>
        </a:graphic>
      </p:graphicFrame>
      <p:sp>
        <p:nvSpPr>
          <p:cNvPr id="4" name="TextBox 3">
            <a:extLst>
              <a:ext uri="{FF2B5EF4-FFF2-40B4-BE49-F238E27FC236}">
                <a16:creationId xmlns:a16="http://schemas.microsoft.com/office/drawing/2014/main" id="{64252496-4C67-B857-BB36-69FA86C984B3}"/>
              </a:ext>
            </a:extLst>
          </p:cNvPr>
          <p:cNvSpPr txBox="1"/>
          <p:nvPr/>
        </p:nvSpPr>
        <p:spPr>
          <a:xfrm>
            <a:off x="757083" y="1946788"/>
            <a:ext cx="4725781" cy="369332"/>
          </a:xfrm>
          <a:prstGeom prst="rect">
            <a:avLst/>
          </a:prstGeom>
          <a:noFill/>
        </p:spPr>
        <p:txBody>
          <a:bodyPr wrap="none" rtlCol="0">
            <a:spAutoFit/>
          </a:bodyPr>
          <a:lstStyle/>
          <a:p>
            <a:r>
              <a:rPr lang="en-US" b="1" dirty="0">
                <a:latin typeface="Calibri" panose="020F0502020204030204" pitchFamily="34" charset="0"/>
                <a:cs typeface="Calibri" panose="020F0502020204030204" pitchFamily="34" charset="0"/>
              </a:rPr>
              <a:t>Total vs Delayed Shipments for each warehouse</a:t>
            </a:r>
            <a:endParaRPr lang="en-IN"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773170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6B8A9E-6106-60FE-5846-FBF423950232}"/>
              </a:ext>
            </a:extLst>
          </p:cNvPr>
          <p:cNvSpPr/>
          <p:nvPr/>
        </p:nvSpPr>
        <p:spPr>
          <a:xfrm>
            <a:off x="344130" y="353962"/>
            <a:ext cx="11611896" cy="15731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600" b="1" dirty="0">
                <a:latin typeface="Calibri" panose="020F0502020204030204" pitchFamily="34" charset="0"/>
                <a:cs typeface="Calibri" panose="020F0502020204030204" pitchFamily="34" charset="0"/>
              </a:rPr>
              <a:t>WITH Global_Avg AS (SELECT AVG(Average_Processing_Time_Min) AS Global_Avg_Min  FROM flipkart_warehouses)SELECT  warehouse_id,  warehouse_name,  Average_Processing_Time_Min AS Average_Processing_Time, </a:t>
            </a:r>
          </a:p>
          <a:p>
            <a:r>
              <a:rPr lang="en-IN" sz="1600" b="1" dirty="0">
                <a:latin typeface="Calibri" panose="020F0502020204030204" pitchFamily="34" charset="0"/>
                <a:cs typeface="Calibri" panose="020F0502020204030204" pitchFamily="34" charset="0"/>
              </a:rPr>
              <a:t> (SELECT Global_Avg_Min FROM Global_Avg) AS Global_Average, </a:t>
            </a:r>
          </a:p>
          <a:p>
            <a:r>
              <a:rPr lang="en-IN" sz="1600" b="1" dirty="0">
                <a:latin typeface="Calibri" panose="020F0502020204030204" pitchFamily="34" charset="0"/>
                <a:cs typeface="Calibri" panose="020F0502020204030204" pitchFamily="34" charset="0"/>
              </a:rPr>
              <a:t> CASE  WHEN Average_Processing_Time_Min &gt; (SELECT Global_Avg_Min FROM Global_Avg) THEN 'YES'  ELSE 'NO'  END AS Having_Bottleneck </a:t>
            </a:r>
          </a:p>
          <a:p>
            <a:r>
              <a:rPr lang="en-IN" sz="1600" b="1" dirty="0">
                <a:latin typeface="Calibri" panose="020F0502020204030204" pitchFamily="34" charset="0"/>
                <a:cs typeface="Calibri" panose="020F0502020204030204" pitchFamily="34" charset="0"/>
              </a:rPr>
              <a:t> FROM flipkart_warehouses order by Average_Processing_Time_Min desc;</a:t>
            </a:r>
          </a:p>
        </p:txBody>
      </p:sp>
      <p:sp>
        <p:nvSpPr>
          <p:cNvPr id="4" name="TextBox 3">
            <a:extLst>
              <a:ext uri="{FF2B5EF4-FFF2-40B4-BE49-F238E27FC236}">
                <a16:creationId xmlns:a16="http://schemas.microsoft.com/office/drawing/2014/main" id="{E2DE57DA-924C-FCA3-3420-77B6770D49AA}"/>
              </a:ext>
            </a:extLst>
          </p:cNvPr>
          <p:cNvSpPr txBox="1"/>
          <p:nvPr/>
        </p:nvSpPr>
        <p:spPr>
          <a:xfrm>
            <a:off x="245806" y="2163097"/>
            <a:ext cx="7061933" cy="369332"/>
          </a:xfrm>
          <a:prstGeom prst="rect">
            <a:avLst/>
          </a:prstGeom>
          <a:noFill/>
        </p:spPr>
        <p:txBody>
          <a:bodyPr wrap="none" rtlCol="0">
            <a:spAutoFit/>
          </a:bodyPr>
          <a:lstStyle/>
          <a:p>
            <a:r>
              <a:rPr lang="en-US" b="1" dirty="0">
                <a:latin typeface="Calibri" panose="020F0502020204030204" pitchFamily="34" charset="0"/>
                <a:cs typeface="Calibri" panose="020F0502020204030204" pitchFamily="34" charset="0"/>
              </a:rPr>
              <a:t>Bottleneck warehouses having Average Processing Time&gt;Global Average</a:t>
            </a:r>
            <a:endParaRPr lang="en-IN" b="1" dirty="0">
              <a:latin typeface="Calibri" panose="020F0502020204030204" pitchFamily="34" charset="0"/>
              <a:cs typeface="Calibri" panose="020F0502020204030204" pitchFamily="34" charset="0"/>
            </a:endParaRPr>
          </a:p>
        </p:txBody>
      </p:sp>
      <p:graphicFrame>
        <p:nvGraphicFramePr>
          <p:cNvPr id="5" name="Table 4">
            <a:extLst>
              <a:ext uri="{FF2B5EF4-FFF2-40B4-BE49-F238E27FC236}">
                <a16:creationId xmlns:a16="http://schemas.microsoft.com/office/drawing/2014/main" id="{919806C7-B447-8BC0-2EDC-6ED37C6BA01D}"/>
              </a:ext>
            </a:extLst>
          </p:cNvPr>
          <p:cNvGraphicFramePr>
            <a:graphicFrameLocks noGrp="1"/>
          </p:cNvGraphicFramePr>
          <p:nvPr>
            <p:extLst>
              <p:ext uri="{D42A27DB-BD31-4B8C-83A1-F6EECF244321}">
                <p14:modId xmlns:p14="http://schemas.microsoft.com/office/powerpoint/2010/main" val="3774587051"/>
              </p:ext>
            </p:extLst>
          </p:nvPr>
        </p:nvGraphicFramePr>
        <p:xfrm>
          <a:off x="344130" y="2686118"/>
          <a:ext cx="8128000" cy="259588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3785420956"/>
                    </a:ext>
                  </a:extLst>
                </a:gridCol>
                <a:gridCol w="1625600">
                  <a:extLst>
                    <a:ext uri="{9D8B030D-6E8A-4147-A177-3AD203B41FA5}">
                      <a16:colId xmlns:a16="http://schemas.microsoft.com/office/drawing/2014/main" val="326713912"/>
                    </a:ext>
                  </a:extLst>
                </a:gridCol>
                <a:gridCol w="1625600">
                  <a:extLst>
                    <a:ext uri="{9D8B030D-6E8A-4147-A177-3AD203B41FA5}">
                      <a16:colId xmlns:a16="http://schemas.microsoft.com/office/drawing/2014/main" val="2110864398"/>
                    </a:ext>
                  </a:extLst>
                </a:gridCol>
                <a:gridCol w="1625600">
                  <a:extLst>
                    <a:ext uri="{9D8B030D-6E8A-4147-A177-3AD203B41FA5}">
                      <a16:colId xmlns:a16="http://schemas.microsoft.com/office/drawing/2014/main" val="191963916"/>
                    </a:ext>
                  </a:extLst>
                </a:gridCol>
                <a:gridCol w="1625600">
                  <a:extLst>
                    <a:ext uri="{9D8B030D-6E8A-4147-A177-3AD203B41FA5}">
                      <a16:colId xmlns:a16="http://schemas.microsoft.com/office/drawing/2014/main" val="3116678546"/>
                    </a:ext>
                  </a:extLst>
                </a:gridCol>
              </a:tblGrid>
              <a:tr h="370840">
                <a:tc>
                  <a:txBody>
                    <a:bodyPr/>
                    <a:lstStyle/>
                    <a:p>
                      <a:pPr algn="ctr" fontAlgn="b">
                        <a:buNone/>
                      </a:pPr>
                      <a:r>
                        <a:rPr lang="en-IN" sz="1100" b="1" i="0" u="none" strike="noStrike" dirty="0">
                          <a:solidFill>
                            <a:schemeClr val="bg1"/>
                          </a:solidFill>
                          <a:effectLst/>
                          <a:latin typeface="Calibri" panose="020F0502020204030204" pitchFamily="34" charset="0"/>
                        </a:rPr>
                        <a:t>Warehouse_ID</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Warehouse_Name</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Average_Processing_Time</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Global_Average</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Having_Bottleneck</a:t>
                      </a:r>
                    </a:p>
                  </a:txBody>
                  <a:tcPr marL="7620" marR="7620" marT="7620" marB="0" anchor="b">
                    <a:solidFill>
                      <a:schemeClr val="accent1"/>
                    </a:solidFill>
                  </a:tcPr>
                </a:tc>
                <a:extLst>
                  <a:ext uri="{0D108BD9-81ED-4DB2-BD59-A6C34878D82A}">
                    <a16:rowId xmlns:a16="http://schemas.microsoft.com/office/drawing/2014/main" val="226116496"/>
                  </a:ext>
                </a:extLst>
              </a:tr>
              <a:tr h="370840">
                <a:tc>
                  <a:txBody>
                    <a:bodyPr/>
                    <a:lstStyle/>
                    <a:p>
                      <a:pPr algn="ctr" fontAlgn="b">
                        <a:buNone/>
                      </a:pPr>
                      <a:r>
                        <a:rPr lang="en-IN" sz="1100" b="1" i="0" u="none" strike="noStrike" dirty="0">
                          <a:solidFill>
                            <a:schemeClr val="bg1"/>
                          </a:solidFill>
                          <a:effectLst/>
                          <a:latin typeface="Calibri" panose="020F0502020204030204" pitchFamily="34" charset="0"/>
                        </a:rPr>
                        <a:t>WH_10</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Flipkart Fulfillment Center Chennai</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117</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79.4</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YES</a:t>
                      </a:r>
                    </a:p>
                  </a:txBody>
                  <a:tcPr marL="7620" marR="7620" marT="7620" marB="0" anchor="b">
                    <a:solidFill>
                      <a:schemeClr val="accent1"/>
                    </a:solidFill>
                  </a:tcPr>
                </a:tc>
                <a:extLst>
                  <a:ext uri="{0D108BD9-81ED-4DB2-BD59-A6C34878D82A}">
                    <a16:rowId xmlns:a16="http://schemas.microsoft.com/office/drawing/2014/main" val="2960721692"/>
                  </a:ext>
                </a:extLst>
              </a:tr>
              <a:tr h="370840">
                <a:tc>
                  <a:txBody>
                    <a:bodyPr/>
                    <a:lstStyle/>
                    <a:p>
                      <a:pPr algn="ctr" fontAlgn="b">
                        <a:buNone/>
                      </a:pPr>
                      <a:r>
                        <a:rPr lang="en-IN" sz="1100" b="1" i="0" u="none" strike="noStrike" dirty="0">
                          <a:solidFill>
                            <a:schemeClr val="bg1"/>
                          </a:solidFill>
                          <a:effectLst/>
                          <a:latin typeface="Calibri" panose="020F0502020204030204" pitchFamily="34" charset="0"/>
                        </a:rPr>
                        <a:t>WH_09</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Flipkart Fulfillment Center Hyderabad</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110</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79.4</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YES</a:t>
                      </a:r>
                    </a:p>
                  </a:txBody>
                  <a:tcPr marL="7620" marR="7620" marT="7620" marB="0" anchor="b">
                    <a:solidFill>
                      <a:schemeClr val="accent1"/>
                    </a:solidFill>
                  </a:tcPr>
                </a:tc>
                <a:extLst>
                  <a:ext uri="{0D108BD9-81ED-4DB2-BD59-A6C34878D82A}">
                    <a16:rowId xmlns:a16="http://schemas.microsoft.com/office/drawing/2014/main" val="1830200425"/>
                  </a:ext>
                </a:extLst>
              </a:tr>
              <a:tr h="370840">
                <a:tc>
                  <a:txBody>
                    <a:bodyPr/>
                    <a:lstStyle/>
                    <a:p>
                      <a:pPr algn="ctr" fontAlgn="b">
                        <a:buNone/>
                      </a:pPr>
                      <a:r>
                        <a:rPr lang="en-IN" sz="1100" b="1" i="0" u="none" strike="noStrike" dirty="0">
                          <a:solidFill>
                            <a:schemeClr val="bg1"/>
                          </a:solidFill>
                          <a:effectLst/>
                          <a:latin typeface="Calibri" panose="020F0502020204030204" pitchFamily="34" charset="0"/>
                        </a:rPr>
                        <a:t>WH_01</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Flipkart Fulfillment Center Lucknow</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101</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79.4</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YES</a:t>
                      </a:r>
                    </a:p>
                  </a:txBody>
                  <a:tcPr marL="7620" marR="7620" marT="7620" marB="0" anchor="b">
                    <a:solidFill>
                      <a:schemeClr val="accent1"/>
                    </a:solidFill>
                  </a:tcPr>
                </a:tc>
                <a:extLst>
                  <a:ext uri="{0D108BD9-81ED-4DB2-BD59-A6C34878D82A}">
                    <a16:rowId xmlns:a16="http://schemas.microsoft.com/office/drawing/2014/main" val="3252423157"/>
                  </a:ext>
                </a:extLst>
              </a:tr>
              <a:tr h="370840">
                <a:tc>
                  <a:txBody>
                    <a:bodyPr/>
                    <a:lstStyle/>
                    <a:p>
                      <a:pPr algn="ctr" fontAlgn="b">
                        <a:buNone/>
                      </a:pPr>
                      <a:r>
                        <a:rPr lang="en-IN" sz="1100" b="1" i="0" u="none" strike="noStrike" dirty="0">
                          <a:solidFill>
                            <a:schemeClr val="bg1"/>
                          </a:solidFill>
                          <a:effectLst/>
                          <a:latin typeface="Calibri" panose="020F0502020204030204" pitchFamily="34" charset="0"/>
                        </a:rPr>
                        <a:t>WH_06</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Flipkart Fulfillment Center Kolkata</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95</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79.4</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YES</a:t>
                      </a:r>
                    </a:p>
                  </a:txBody>
                  <a:tcPr marL="7620" marR="7620" marT="7620" marB="0" anchor="b">
                    <a:solidFill>
                      <a:schemeClr val="accent1"/>
                    </a:solidFill>
                  </a:tcPr>
                </a:tc>
                <a:extLst>
                  <a:ext uri="{0D108BD9-81ED-4DB2-BD59-A6C34878D82A}">
                    <a16:rowId xmlns:a16="http://schemas.microsoft.com/office/drawing/2014/main" val="1921441123"/>
                  </a:ext>
                </a:extLst>
              </a:tr>
              <a:tr h="370840">
                <a:tc>
                  <a:txBody>
                    <a:bodyPr/>
                    <a:lstStyle/>
                    <a:p>
                      <a:pPr algn="ctr" fontAlgn="b">
                        <a:buNone/>
                      </a:pPr>
                      <a:r>
                        <a:rPr lang="en-IN" sz="1100" b="1" i="0" u="none" strike="noStrike" dirty="0">
                          <a:solidFill>
                            <a:schemeClr val="bg1"/>
                          </a:solidFill>
                          <a:effectLst/>
                          <a:latin typeface="Calibri" panose="020F0502020204030204" pitchFamily="34" charset="0"/>
                        </a:rPr>
                        <a:t>WH_03</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Flipkart Fulfillment Center Mumbai</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84</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79.4</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YES</a:t>
                      </a:r>
                    </a:p>
                  </a:txBody>
                  <a:tcPr marL="7620" marR="7620" marT="7620" marB="0" anchor="b">
                    <a:solidFill>
                      <a:schemeClr val="accent1"/>
                    </a:solidFill>
                  </a:tcPr>
                </a:tc>
                <a:extLst>
                  <a:ext uri="{0D108BD9-81ED-4DB2-BD59-A6C34878D82A}">
                    <a16:rowId xmlns:a16="http://schemas.microsoft.com/office/drawing/2014/main" val="3865213287"/>
                  </a:ext>
                </a:extLst>
              </a:tr>
              <a:tr h="370840">
                <a:tc>
                  <a:txBody>
                    <a:bodyPr/>
                    <a:lstStyle/>
                    <a:p>
                      <a:pPr algn="ctr" fontAlgn="b">
                        <a:buNone/>
                      </a:pPr>
                      <a:r>
                        <a:rPr lang="en-IN" sz="1100" b="1" i="0" u="none" strike="noStrike" dirty="0">
                          <a:solidFill>
                            <a:schemeClr val="bg1"/>
                          </a:solidFill>
                          <a:effectLst/>
                          <a:latin typeface="Calibri" panose="020F0502020204030204" pitchFamily="34" charset="0"/>
                        </a:rPr>
                        <a:t>WH_04</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Flipkart Fulfillment Center Ahmedabad</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81</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79.4</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YES</a:t>
                      </a:r>
                    </a:p>
                  </a:txBody>
                  <a:tcPr marL="7620" marR="7620" marT="7620" marB="0" anchor="b">
                    <a:solidFill>
                      <a:schemeClr val="accent1"/>
                    </a:solidFill>
                  </a:tcPr>
                </a:tc>
                <a:extLst>
                  <a:ext uri="{0D108BD9-81ED-4DB2-BD59-A6C34878D82A}">
                    <a16:rowId xmlns:a16="http://schemas.microsoft.com/office/drawing/2014/main" val="2708922746"/>
                  </a:ext>
                </a:extLst>
              </a:tr>
            </a:tbl>
          </a:graphicData>
        </a:graphic>
      </p:graphicFrame>
    </p:spTree>
    <p:extLst>
      <p:ext uri="{BB962C8B-B14F-4D97-AF65-F5344CB8AC3E}">
        <p14:creationId xmlns:p14="http://schemas.microsoft.com/office/powerpoint/2010/main" val="39760102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32651A-9201-1E3D-BDCA-75142ADD03E2}"/>
              </a:ext>
            </a:extLst>
          </p:cNvPr>
          <p:cNvSpPr/>
          <p:nvPr/>
        </p:nvSpPr>
        <p:spPr>
          <a:xfrm>
            <a:off x="653846" y="629265"/>
            <a:ext cx="10884308" cy="16419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latin typeface="Calibri" panose="020F0502020204030204" pitchFamily="34" charset="0"/>
                <a:cs typeface="Calibri" panose="020F0502020204030204" pitchFamily="34" charset="0"/>
              </a:rPr>
              <a:t>WITH Warehouse_Performance AS ( SELECT  warehouse_id, COUNT(*) AS total_orders, SUM(CASE WHEN actual_delivery_date &lt;= expected_delivery_date THEN 1 ELSE 0 END) AS on_time_orders, </a:t>
            </a:r>
          </a:p>
          <a:p>
            <a:r>
              <a:rPr lang="en-US" dirty="0">
                <a:latin typeface="Calibri" panose="020F0502020204030204" pitchFamily="34" charset="0"/>
                <a:cs typeface="Calibri" panose="020F0502020204030204" pitchFamily="34" charset="0"/>
              </a:rPr>
              <a:t>ROUND((SUM(CASE WHEN actual_delivery_date &lt;= expected_delivery_date THEN 1 ELSE 0 END) / COUNT(*)) * 100,2) AS on_time_percentage  FROM flipkart_orders  GROUP BY warehouse_id)SELECT  warehouse_id,  total_orders,  on_time_orders,  on_time_percentage,  dense_rank() OVER (ORDER BY on_time_percentage DESC) AS Rank_By_Performance FROM warehouse_performance ORDER BY Rank_By_Performance ;</a:t>
            </a:r>
            <a:endParaRPr lang="en-IN" dirty="0">
              <a:latin typeface="Calibri" panose="020F0502020204030204" pitchFamily="34" charset="0"/>
              <a:cs typeface="Calibri" panose="020F0502020204030204" pitchFamily="34" charset="0"/>
            </a:endParaRPr>
          </a:p>
        </p:txBody>
      </p:sp>
      <p:graphicFrame>
        <p:nvGraphicFramePr>
          <p:cNvPr id="5" name="Table 4">
            <a:extLst>
              <a:ext uri="{FF2B5EF4-FFF2-40B4-BE49-F238E27FC236}">
                <a16:creationId xmlns:a16="http://schemas.microsoft.com/office/drawing/2014/main" id="{892542EF-C7A8-C3E0-EA0C-66EBC386A15B}"/>
              </a:ext>
            </a:extLst>
          </p:cNvPr>
          <p:cNvGraphicFramePr>
            <a:graphicFrameLocks noGrp="1"/>
          </p:cNvGraphicFramePr>
          <p:nvPr>
            <p:extLst>
              <p:ext uri="{D42A27DB-BD31-4B8C-83A1-F6EECF244321}">
                <p14:modId xmlns:p14="http://schemas.microsoft.com/office/powerpoint/2010/main" val="4109682409"/>
              </p:ext>
            </p:extLst>
          </p:nvPr>
        </p:nvGraphicFramePr>
        <p:xfrm>
          <a:off x="653846" y="2984087"/>
          <a:ext cx="5928851" cy="3256830"/>
        </p:xfrm>
        <a:graphic>
          <a:graphicData uri="http://schemas.openxmlformats.org/drawingml/2006/table">
            <a:tbl>
              <a:tblPr firstRow="1" bandRow="1">
                <a:tableStyleId>{5C22544A-7EE6-4342-B048-85BDC9FD1C3A}</a:tableStyleId>
              </a:tblPr>
              <a:tblGrid>
                <a:gridCol w="1276634">
                  <a:extLst>
                    <a:ext uri="{9D8B030D-6E8A-4147-A177-3AD203B41FA5}">
                      <a16:colId xmlns:a16="http://schemas.microsoft.com/office/drawing/2014/main" val="3483718040"/>
                    </a:ext>
                  </a:extLst>
                </a:gridCol>
                <a:gridCol w="1017671">
                  <a:extLst>
                    <a:ext uri="{9D8B030D-6E8A-4147-A177-3AD203B41FA5}">
                      <a16:colId xmlns:a16="http://schemas.microsoft.com/office/drawing/2014/main" val="2122430703"/>
                    </a:ext>
                  </a:extLst>
                </a:gridCol>
                <a:gridCol w="1099450">
                  <a:extLst>
                    <a:ext uri="{9D8B030D-6E8A-4147-A177-3AD203B41FA5}">
                      <a16:colId xmlns:a16="http://schemas.microsoft.com/office/drawing/2014/main" val="937943069"/>
                    </a:ext>
                  </a:extLst>
                </a:gridCol>
                <a:gridCol w="926810">
                  <a:extLst>
                    <a:ext uri="{9D8B030D-6E8A-4147-A177-3AD203B41FA5}">
                      <a16:colId xmlns:a16="http://schemas.microsoft.com/office/drawing/2014/main" val="1534801599"/>
                    </a:ext>
                  </a:extLst>
                </a:gridCol>
                <a:gridCol w="1608286">
                  <a:extLst>
                    <a:ext uri="{9D8B030D-6E8A-4147-A177-3AD203B41FA5}">
                      <a16:colId xmlns:a16="http://schemas.microsoft.com/office/drawing/2014/main" val="2768420711"/>
                    </a:ext>
                  </a:extLst>
                </a:gridCol>
              </a:tblGrid>
              <a:tr h="291393">
                <a:tc>
                  <a:txBody>
                    <a:bodyPr/>
                    <a:lstStyle/>
                    <a:p>
                      <a:pPr algn="ctr" fontAlgn="b">
                        <a:buNone/>
                      </a:pPr>
                      <a:r>
                        <a:rPr lang="en-IN" sz="1100" b="1" i="0" u="none" strike="noStrike" dirty="0">
                          <a:solidFill>
                            <a:schemeClr val="bg1"/>
                          </a:solidFill>
                          <a:effectLst/>
                          <a:latin typeface="Calibri" panose="020F0502020204030204" pitchFamily="34" charset="0"/>
                        </a:rPr>
                        <a:t>Warehouse ID</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Total Orders</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On time orders</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On Time Delivery%</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Rank  By Performance</a:t>
                      </a:r>
                    </a:p>
                  </a:txBody>
                  <a:tcPr marL="7620" marR="7620" marT="7620" marB="0" anchor="b">
                    <a:solidFill>
                      <a:schemeClr val="accent1"/>
                    </a:solidFill>
                  </a:tcPr>
                </a:tc>
                <a:extLst>
                  <a:ext uri="{0D108BD9-81ED-4DB2-BD59-A6C34878D82A}">
                    <a16:rowId xmlns:a16="http://schemas.microsoft.com/office/drawing/2014/main" val="518694645"/>
                  </a:ext>
                </a:extLst>
              </a:tr>
              <a:tr h="291393">
                <a:tc>
                  <a:txBody>
                    <a:bodyPr/>
                    <a:lstStyle/>
                    <a:p>
                      <a:pPr algn="ctr" fontAlgn="b">
                        <a:buNone/>
                      </a:pPr>
                      <a:r>
                        <a:rPr lang="en-IN" sz="1100" b="1" i="0" u="none" strike="noStrike" dirty="0">
                          <a:solidFill>
                            <a:schemeClr val="bg1"/>
                          </a:solidFill>
                          <a:effectLst/>
                          <a:latin typeface="Calibri" panose="020F0502020204030204" pitchFamily="34" charset="0"/>
                        </a:rPr>
                        <a:t>WH_09</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43</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36</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83.72</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1</a:t>
                      </a:r>
                    </a:p>
                  </a:txBody>
                  <a:tcPr marL="7620" marR="7620" marT="7620" marB="0" anchor="b">
                    <a:solidFill>
                      <a:schemeClr val="accent1"/>
                    </a:solidFill>
                  </a:tcPr>
                </a:tc>
                <a:extLst>
                  <a:ext uri="{0D108BD9-81ED-4DB2-BD59-A6C34878D82A}">
                    <a16:rowId xmlns:a16="http://schemas.microsoft.com/office/drawing/2014/main" val="767960810"/>
                  </a:ext>
                </a:extLst>
              </a:tr>
              <a:tr h="291393">
                <a:tc>
                  <a:txBody>
                    <a:bodyPr/>
                    <a:lstStyle/>
                    <a:p>
                      <a:pPr algn="ctr" fontAlgn="b">
                        <a:buNone/>
                      </a:pPr>
                      <a:r>
                        <a:rPr lang="en-IN" sz="1100" b="1" i="0" u="none" strike="noStrike" dirty="0">
                          <a:solidFill>
                            <a:schemeClr val="bg1"/>
                          </a:solidFill>
                          <a:effectLst/>
                          <a:latin typeface="Calibri" panose="020F0502020204030204" pitchFamily="34" charset="0"/>
                        </a:rPr>
                        <a:t>WH_06</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27</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21</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77.78</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2</a:t>
                      </a:r>
                    </a:p>
                  </a:txBody>
                  <a:tcPr marL="7620" marR="7620" marT="7620" marB="0" anchor="b">
                    <a:solidFill>
                      <a:schemeClr val="accent1"/>
                    </a:solidFill>
                  </a:tcPr>
                </a:tc>
                <a:extLst>
                  <a:ext uri="{0D108BD9-81ED-4DB2-BD59-A6C34878D82A}">
                    <a16:rowId xmlns:a16="http://schemas.microsoft.com/office/drawing/2014/main" val="2425099767"/>
                  </a:ext>
                </a:extLst>
              </a:tr>
              <a:tr h="291393">
                <a:tc>
                  <a:txBody>
                    <a:bodyPr/>
                    <a:lstStyle/>
                    <a:p>
                      <a:pPr algn="ctr" fontAlgn="b">
                        <a:buNone/>
                      </a:pPr>
                      <a:r>
                        <a:rPr lang="en-IN" sz="1100" b="1" i="0" u="none" strike="noStrike" dirty="0">
                          <a:solidFill>
                            <a:schemeClr val="bg1"/>
                          </a:solidFill>
                          <a:effectLst/>
                          <a:latin typeface="Calibri" panose="020F0502020204030204" pitchFamily="34" charset="0"/>
                        </a:rPr>
                        <a:t>WH_01</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24</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18</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75</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3</a:t>
                      </a:r>
                    </a:p>
                  </a:txBody>
                  <a:tcPr marL="7620" marR="7620" marT="7620" marB="0" anchor="b">
                    <a:solidFill>
                      <a:schemeClr val="accent1"/>
                    </a:solidFill>
                  </a:tcPr>
                </a:tc>
                <a:extLst>
                  <a:ext uri="{0D108BD9-81ED-4DB2-BD59-A6C34878D82A}">
                    <a16:rowId xmlns:a16="http://schemas.microsoft.com/office/drawing/2014/main" val="498055023"/>
                  </a:ext>
                </a:extLst>
              </a:tr>
              <a:tr h="291393">
                <a:tc>
                  <a:txBody>
                    <a:bodyPr/>
                    <a:lstStyle/>
                    <a:p>
                      <a:pPr algn="ctr" fontAlgn="b">
                        <a:buNone/>
                      </a:pPr>
                      <a:r>
                        <a:rPr lang="en-IN" sz="1100" b="1" i="0" u="none" strike="noStrike" dirty="0">
                          <a:solidFill>
                            <a:schemeClr val="bg1"/>
                          </a:solidFill>
                          <a:effectLst/>
                          <a:latin typeface="Calibri" panose="020F0502020204030204" pitchFamily="34" charset="0"/>
                        </a:rPr>
                        <a:t>WH_04</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31</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23</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74.19</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4</a:t>
                      </a:r>
                    </a:p>
                  </a:txBody>
                  <a:tcPr marL="7620" marR="7620" marT="7620" marB="0" anchor="b">
                    <a:solidFill>
                      <a:schemeClr val="accent1"/>
                    </a:solidFill>
                  </a:tcPr>
                </a:tc>
                <a:extLst>
                  <a:ext uri="{0D108BD9-81ED-4DB2-BD59-A6C34878D82A}">
                    <a16:rowId xmlns:a16="http://schemas.microsoft.com/office/drawing/2014/main" val="3548437323"/>
                  </a:ext>
                </a:extLst>
              </a:tr>
              <a:tr h="291393">
                <a:tc>
                  <a:txBody>
                    <a:bodyPr/>
                    <a:lstStyle/>
                    <a:p>
                      <a:pPr algn="ctr" fontAlgn="b">
                        <a:buNone/>
                      </a:pPr>
                      <a:r>
                        <a:rPr lang="en-IN" sz="1100" b="1" i="0" u="none" strike="noStrike" dirty="0">
                          <a:solidFill>
                            <a:schemeClr val="bg1"/>
                          </a:solidFill>
                          <a:effectLst/>
                          <a:latin typeface="Calibri" panose="020F0502020204030204" pitchFamily="34" charset="0"/>
                        </a:rPr>
                        <a:t>WH_08</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38</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28</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73.68</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5</a:t>
                      </a:r>
                    </a:p>
                  </a:txBody>
                  <a:tcPr marL="7620" marR="7620" marT="7620" marB="0" anchor="b">
                    <a:solidFill>
                      <a:schemeClr val="accent1"/>
                    </a:solidFill>
                  </a:tcPr>
                </a:tc>
                <a:extLst>
                  <a:ext uri="{0D108BD9-81ED-4DB2-BD59-A6C34878D82A}">
                    <a16:rowId xmlns:a16="http://schemas.microsoft.com/office/drawing/2014/main" val="998948825"/>
                  </a:ext>
                </a:extLst>
              </a:tr>
              <a:tr h="291393">
                <a:tc>
                  <a:txBody>
                    <a:bodyPr/>
                    <a:lstStyle/>
                    <a:p>
                      <a:pPr algn="ctr" fontAlgn="b">
                        <a:buNone/>
                      </a:pPr>
                      <a:r>
                        <a:rPr lang="en-IN" sz="1100" b="1" i="0" u="none" strike="noStrike" dirty="0">
                          <a:solidFill>
                            <a:schemeClr val="bg1"/>
                          </a:solidFill>
                          <a:effectLst/>
                          <a:latin typeface="Calibri" panose="020F0502020204030204" pitchFamily="34" charset="0"/>
                        </a:rPr>
                        <a:t>WH_05</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29</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21</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72.41</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6</a:t>
                      </a:r>
                    </a:p>
                  </a:txBody>
                  <a:tcPr marL="7620" marR="7620" marT="7620" marB="0" anchor="b">
                    <a:solidFill>
                      <a:schemeClr val="accent1"/>
                    </a:solidFill>
                  </a:tcPr>
                </a:tc>
                <a:extLst>
                  <a:ext uri="{0D108BD9-81ED-4DB2-BD59-A6C34878D82A}">
                    <a16:rowId xmlns:a16="http://schemas.microsoft.com/office/drawing/2014/main" val="3858927231"/>
                  </a:ext>
                </a:extLst>
              </a:tr>
              <a:tr h="291393">
                <a:tc>
                  <a:txBody>
                    <a:bodyPr/>
                    <a:lstStyle/>
                    <a:p>
                      <a:pPr algn="ctr" fontAlgn="b">
                        <a:buNone/>
                      </a:pPr>
                      <a:r>
                        <a:rPr lang="en-IN" sz="1100" b="1" i="0" u="none" strike="noStrike" dirty="0">
                          <a:solidFill>
                            <a:schemeClr val="bg1"/>
                          </a:solidFill>
                          <a:effectLst/>
                          <a:latin typeface="Calibri" panose="020F0502020204030204" pitchFamily="34" charset="0"/>
                        </a:rPr>
                        <a:t>WH_07</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26</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18</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69.23</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7</a:t>
                      </a:r>
                    </a:p>
                  </a:txBody>
                  <a:tcPr marL="7620" marR="7620" marT="7620" marB="0" anchor="b">
                    <a:solidFill>
                      <a:schemeClr val="accent1"/>
                    </a:solidFill>
                  </a:tcPr>
                </a:tc>
                <a:extLst>
                  <a:ext uri="{0D108BD9-81ED-4DB2-BD59-A6C34878D82A}">
                    <a16:rowId xmlns:a16="http://schemas.microsoft.com/office/drawing/2014/main" val="2426774275"/>
                  </a:ext>
                </a:extLst>
              </a:tr>
              <a:tr h="291393">
                <a:tc>
                  <a:txBody>
                    <a:bodyPr/>
                    <a:lstStyle/>
                    <a:p>
                      <a:pPr algn="ctr" fontAlgn="b">
                        <a:buNone/>
                      </a:pPr>
                      <a:r>
                        <a:rPr lang="en-IN" sz="1100" b="1" i="0" u="none" strike="noStrike" dirty="0">
                          <a:solidFill>
                            <a:schemeClr val="bg1"/>
                          </a:solidFill>
                          <a:effectLst/>
                          <a:latin typeface="Calibri" panose="020F0502020204030204" pitchFamily="34" charset="0"/>
                        </a:rPr>
                        <a:t>WH_02</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27</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18</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66.67</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8</a:t>
                      </a:r>
                    </a:p>
                  </a:txBody>
                  <a:tcPr marL="7620" marR="7620" marT="7620" marB="0" anchor="b">
                    <a:solidFill>
                      <a:schemeClr val="accent1"/>
                    </a:solidFill>
                  </a:tcPr>
                </a:tc>
                <a:extLst>
                  <a:ext uri="{0D108BD9-81ED-4DB2-BD59-A6C34878D82A}">
                    <a16:rowId xmlns:a16="http://schemas.microsoft.com/office/drawing/2014/main" val="215850319"/>
                  </a:ext>
                </a:extLst>
              </a:tr>
              <a:tr h="291393">
                <a:tc>
                  <a:txBody>
                    <a:bodyPr/>
                    <a:lstStyle/>
                    <a:p>
                      <a:pPr algn="ctr" fontAlgn="b">
                        <a:buNone/>
                      </a:pPr>
                      <a:r>
                        <a:rPr lang="en-IN" sz="1100" b="1" i="0" u="none" strike="noStrike" dirty="0">
                          <a:solidFill>
                            <a:schemeClr val="bg1"/>
                          </a:solidFill>
                          <a:effectLst/>
                          <a:latin typeface="Calibri" panose="020F0502020204030204" pitchFamily="34" charset="0"/>
                        </a:rPr>
                        <a:t>WH_03</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25</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16</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64</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9</a:t>
                      </a:r>
                    </a:p>
                  </a:txBody>
                  <a:tcPr marL="7620" marR="7620" marT="7620" marB="0" anchor="b">
                    <a:solidFill>
                      <a:schemeClr val="accent1"/>
                    </a:solidFill>
                  </a:tcPr>
                </a:tc>
                <a:extLst>
                  <a:ext uri="{0D108BD9-81ED-4DB2-BD59-A6C34878D82A}">
                    <a16:rowId xmlns:a16="http://schemas.microsoft.com/office/drawing/2014/main" val="3961727232"/>
                  </a:ext>
                </a:extLst>
              </a:tr>
              <a:tr h="291393">
                <a:tc>
                  <a:txBody>
                    <a:bodyPr/>
                    <a:lstStyle/>
                    <a:p>
                      <a:pPr algn="ctr" fontAlgn="b">
                        <a:buNone/>
                      </a:pPr>
                      <a:r>
                        <a:rPr lang="en-IN" sz="1100" b="1" i="0" u="none" strike="noStrike" dirty="0">
                          <a:solidFill>
                            <a:schemeClr val="bg1"/>
                          </a:solidFill>
                          <a:effectLst/>
                          <a:latin typeface="Calibri" panose="020F0502020204030204" pitchFamily="34" charset="0"/>
                        </a:rPr>
                        <a:t>WH_10</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30</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19</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63.33</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10</a:t>
                      </a:r>
                    </a:p>
                  </a:txBody>
                  <a:tcPr marL="7620" marR="7620" marT="7620" marB="0" anchor="b">
                    <a:solidFill>
                      <a:schemeClr val="accent1"/>
                    </a:solidFill>
                  </a:tcPr>
                </a:tc>
                <a:extLst>
                  <a:ext uri="{0D108BD9-81ED-4DB2-BD59-A6C34878D82A}">
                    <a16:rowId xmlns:a16="http://schemas.microsoft.com/office/drawing/2014/main" val="1849567160"/>
                  </a:ext>
                </a:extLst>
              </a:tr>
            </a:tbl>
          </a:graphicData>
        </a:graphic>
      </p:graphicFrame>
      <p:sp>
        <p:nvSpPr>
          <p:cNvPr id="6" name="TextBox 5">
            <a:extLst>
              <a:ext uri="{FF2B5EF4-FFF2-40B4-BE49-F238E27FC236}">
                <a16:creationId xmlns:a16="http://schemas.microsoft.com/office/drawing/2014/main" id="{56336AC9-9CBD-2522-3AF0-35BD1622BD56}"/>
              </a:ext>
            </a:extLst>
          </p:cNvPr>
          <p:cNvSpPr txBox="1"/>
          <p:nvPr/>
        </p:nvSpPr>
        <p:spPr>
          <a:xfrm>
            <a:off x="653846" y="2526890"/>
            <a:ext cx="5039031" cy="369332"/>
          </a:xfrm>
          <a:prstGeom prst="rect">
            <a:avLst/>
          </a:prstGeom>
          <a:noFill/>
        </p:spPr>
        <p:txBody>
          <a:bodyPr wrap="square" rtlCol="0">
            <a:spAutoFit/>
          </a:bodyPr>
          <a:lstStyle/>
          <a:p>
            <a:r>
              <a:rPr lang="en-US" b="1" dirty="0">
                <a:latin typeface="Calibri" panose="020F0502020204030204" pitchFamily="34" charset="0"/>
                <a:cs typeface="Calibri" panose="020F0502020204030204" pitchFamily="34" charset="0"/>
              </a:rPr>
              <a:t>Ranking warehouses based on (On Time Delivery%)</a:t>
            </a:r>
            <a:endParaRPr lang="en-IN"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774729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F449A36-025E-7A87-69B5-C5E5FACCC7E2}"/>
              </a:ext>
            </a:extLst>
          </p:cNvPr>
          <p:cNvSpPr/>
          <p:nvPr/>
        </p:nvSpPr>
        <p:spPr>
          <a:xfrm>
            <a:off x="1392903" y="560436"/>
            <a:ext cx="7187380" cy="17698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latin typeface="Calibri" panose="020F0502020204030204" pitchFamily="34" charset="0"/>
                <a:cs typeface="Calibri" panose="020F0502020204030204" pitchFamily="34" charset="0"/>
              </a:rPr>
              <a:t>SELECT Agent_ID,Agent_Name,On_Time_Delivery_Percentage,</a:t>
            </a:r>
          </a:p>
          <a:p>
            <a:r>
              <a:rPr lang="en-US" dirty="0">
                <a:latin typeface="Calibri" panose="020F0502020204030204" pitchFamily="34" charset="0"/>
                <a:cs typeface="Calibri" panose="020F0502020204030204" pitchFamily="34" charset="0"/>
              </a:rPr>
              <a:t>dense_rank() over(order by On_Time_Delivery_Percentage desc) as Rank</a:t>
            </a:r>
          </a:p>
          <a:p>
            <a:r>
              <a:rPr lang="en-US" dirty="0">
                <a:latin typeface="Calibri" panose="020F0502020204030204" pitchFamily="34" charset="0"/>
                <a:cs typeface="Calibri" panose="020F0502020204030204" pitchFamily="34" charset="0"/>
              </a:rPr>
              <a:t>from delivery_agent </a:t>
            </a:r>
          </a:p>
          <a:p>
            <a:r>
              <a:rPr lang="en-US" dirty="0">
                <a:latin typeface="Calibri" panose="020F0502020204030204" pitchFamily="34" charset="0"/>
                <a:cs typeface="Calibri" panose="020F0502020204030204" pitchFamily="34" charset="0"/>
              </a:rPr>
              <a:t>order by Rank desc;</a:t>
            </a:r>
            <a:endParaRPr lang="en-IN" dirty="0">
              <a:latin typeface="Calibri" panose="020F0502020204030204" pitchFamily="34" charset="0"/>
              <a:cs typeface="Calibri" panose="020F0502020204030204" pitchFamily="34" charset="0"/>
            </a:endParaRPr>
          </a:p>
        </p:txBody>
      </p:sp>
      <p:graphicFrame>
        <p:nvGraphicFramePr>
          <p:cNvPr id="3" name="Table 2">
            <a:extLst>
              <a:ext uri="{FF2B5EF4-FFF2-40B4-BE49-F238E27FC236}">
                <a16:creationId xmlns:a16="http://schemas.microsoft.com/office/drawing/2014/main" id="{F5BDDD00-3A93-225E-D236-FAF11961BB65}"/>
              </a:ext>
            </a:extLst>
          </p:cNvPr>
          <p:cNvGraphicFramePr>
            <a:graphicFrameLocks noGrp="1"/>
          </p:cNvGraphicFramePr>
          <p:nvPr>
            <p:extLst>
              <p:ext uri="{D42A27DB-BD31-4B8C-83A1-F6EECF244321}">
                <p14:modId xmlns:p14="http://schemas.microsoft.com/office/powerpoint/2010/main" val="353439180"/>
              </p:ext>
            </p:extLst>
          </p:nvPr>
        </p:nvGraphicFramePr>
        <p:xfrm>
          <a:off x="1392903" y="3048000"/>
          <a:ext cx="5430684" cy="3382295"/>
        </p:xfrm>
        <a:graphic>
          <a:graphicData uri="http://schemas.openxmlformats.org/drawingml/2006/table">
            <a:tbl>
              <a:tblPr firstRow="1" bandRow="1">
                <a:tableStyleId>{5C22544A-7EE6-4342-B048-85BDC9FD1C3A}</a:tableStyleId>
              </a:tblPr>
              <a:tblGrid>
                <a:gridCol w="1357671">
                  <a:extLst>
                    <a:ext uri="{9D8B030D-6E8A-4147-A177-3AD203B41FA5}">
                      <a16:colId xmlns:a16="http://schemas.microsoft.com/office/drawing/2014/main" val="477779363"/>
                    </a:ext>
                  </a:extLst>
                </a:gridCol>
                <a:gridCol w="1357671">
                  <a:extLst>
                    <a:ext uri="{9D8B030D-6E8A-4147-A177-3AD203B41FA5}">
                      <a16:colId xmlns:a16="http://schemas.microsoft.com/office/drawing/2014/main" val="2158059111"/>
                    </a:ext>
                  </a:extLst>
                </a:gridCol>
                <a:gridCol w="1357671">
                  <a:extLst>
                    <a:ext uri="{9D8B030D-6E8A-4147-A177-3AD203B41FA5}">
                      <a16:colId xmlns:a16="http://schemas.microsoft.com/office/drawing/2014/main" val="2133153571"/>
                    </a:ext>
                  </a:extLst>
                </a:gridCol>
                <a:gridCol w="1357671">
                  <a:extLst>
                    <a:ext uri="{9D8B030D-6E8A-4147-A177-3AD203B41FA5}">
                      <a16:colId xmlns:a16="http://schemas.microsoft.com/office/drawing/2014/main" val="1888363565"/>
                    </a:ext>
                  </a:extLst>
                </a:gridCol>
              </a:tblGrid>
              <a:tr h="286275">
                <a:tc>
                  <a:txBody>
                    <a:bodyPr/>
                    <a:lstStyle/>
                    <a:p>
                      <a:pPr algn="ctr" fontAlgn="b">
                        <a:buNone/>
                      </a:pPr>
                      <a:r>
                        <a:rPr lang="en-IN" sz="1100" b="1" i="0" u="none" strike="noStrike" dirty="0">
                          <a:solidFill>
                            <a:schemeClr val="bg1"/>
                          </a:solidFill>
                          <a:effectLst/>
                          <a:latin typeface="Calibri" panose="020F0502020204030204" pitchFamily="34" charset="0"/>
                        </a:rPr>
                        <a:t>Agent ID</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Agent_Name</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On Time Delivery_%</a:t>
                      </a:r>
                    </a:p>
                  </a:txBody>
                  <a:tcPr marL="7620" marR="7620" marT="7620" marB="0" anchor="b">
                    <a:solidFill>
                      <a:schemeClr val="accent1"/>
                    </a:solidFill>
                  </a:tcPr>
                </a:tc>
                <a:tc>
                  <a:txBody>
                    <a:bodyPr/>
                    <a:lstStyle/>
                    <a:p>
                      <a:pPr algn="ctr" fontAlgn="b">
                        <a:buNone/>
                      </a:pPr>
                      <a:r>
                        <a:rPr lang="en-US" sz="1100" b="1" i="0" u="none" strike="noStrike" dirty="0">
                          <a:solidFill>
                            <a:schemeClr val="bg1"/>
                          </a:solidFill>
                          <a:effectLst/>
                          <a:latin typeface="Calibri" panose="020F0502020204030204" pitchFamily="34" charset="0"/>
                        </a:rPr>
                        <a:t>Rank_</a:t>
                      </a:r>
                    </a:p>
                  </a:txBody>
                  <a:tcPr marL="7620" marR="7620" marT="7620" marB="0" anchor="b">
                    <a:solidFill>
                      <a:schemeClr val="accent1"/>
                    </a:solidFill>
                  </a:tcPr>
                </a:tc>
                <a:extLst>
                  <a:ext uri="{0D108BD9-81ED-4DB2-BD59-A6C34878D82A}">
                    <a16:rowId xmlns:a16="http://schemas.microsoft.com/office/drawing/2014/main" val="1036851991"/>
                  </a:ext>
                </a:extLst>
              </a:tr>
              <a:tr h="309602">
                <a:tc>
                  <a:txBody>
                    <a:bodyPr/>
                    <a:lstStyle/>
                    <a:p>
                      <a:pPr algn="ctr" fontAlgn="b">
                        <a:buNone/>
                      </a:pPr>
                      <a:r>
                        <a:rPr lang="en-IN" sz="1100" b="1" i="0" u="none" strike="noStrike" dirty="0">
                          <a:solidFill>
                            <a:schemeClr val="bg1"/>
                          </a:solidFill>
                          <a:effectLst/>
                          <a:latin typeface="Calibri" panose="020F0502020204030204" pitchFamily="34" charset="0"/>
                        </a:rPr>
                        <a:t>AG_031</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Rajesh Sharma</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97.9</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1</a:t>
                      </a:r>
                    </a:p>
                  </a:txBody>
                  <a:tcPr marL="7620" marR="7620" marT="7620" marB="0" anchor="b">
                    <a:solidFill>
                      <a:schemeClr val="accent1"/>
                    </a:solidFill>
                  </a:tcPr>
                </a:tc>
                <a:extLst>
                  <a:ext uri="{0D108BD9-81ED-4DB2-BD59-A6C34878D82A}">
                    <a16:rowId xmlns:a16="http://schemas.microsoft.com/office/drawing/2014/main" val="1648740825"/>
                  </a:ext>
                </a:extLst>
              </a:tr>
              <a:tr h="309602">
                <a:tc>
                  <a:txBody>
                    <a:bodyPr/>
                    <a:lstStyle/>
                    <a:p>
                      <a:pPr algn="ctr" fontAlgn="b">
                        <a:buNone/>
                      </a:pPr>
                      <a:r>
                        <a:rPr lang="en-IN" sz="1100" b="1" i="0" u="none" strike="noStrike" dirty="0">
                          <a:solidFill>
                            <a:schemeClr val="bg1"/>
                          </a:solidFill>
                          <a:effectLst/>
                          <a:latin typeface="Calibri" panose="020F0502020204030204" pitchFamily="34" charset="0"/>
                        </a:rPr>
                        <a:t>AG_049</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Kiran Reddy</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97.2</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2</a:t>
                      </a:r>
                    </a:p>
                  </a:txBody>
                  <a:tcPr marL="7620" marR="7620" marT="7620" marB="0" anchor="b">
                    <a:solidFill>
                      <a:schemeClr val="accent1"/>
                    </a:solidFill>
                  </a:tcPr>
                </a:tc>
                <a:extLst>
                  <a:ext uri="{0D108BD9-81ED-4DB2-BD59-A6C34878D82A}">
                    <a16:rowId xmlns:a16="http://schemas.microsoft.com/office/drawing/2014/main" val="1282024011"/>
                  </a:ext>
                </a:extLst>
              </a:tr>
              <a:tr h="309602">
                <a:tc>
                  <a:txBody>
                    <a:bodyPr/>
                    <a:lstStyle/>
                    <a:p>
                      <a:pPr algn="ctr" fontAlgn="b">
                        <a:buNone/>
                      </a:pPr>
                      <a:r>
                        <a:rPr lang="en-IN" sz="1100" b="1" i="0" u="none" strike="noStrike" dirty="0">
                          <a:solidFill>
                            <a:schemeClr val="bg1"/>
                          </a:solidFill>
                          <a:effectLst/>
                          <a:latin typeface="Calibri" panose="020F0502020204030204" pitchFamily="34" charset="0"/>
                        </a:rPr>
                        <a:t>AG_024</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Meena Patel</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97.1</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3</a:t>
                      </a:r>
                    </a:p>
                  </a:txBody>
                  <a:tcPr marL="7620" marR="7620" marT="7620" marB="0" anchor="b">
                    <a:solidFill>
                      <a:schemeClr val="accent1"/>
                    </a:solidFill>
                  </a:tcPr>
                </a:tc>
                <a:extLst>
                  <a:ext uri="{0D108BD9-81ED-4DB2-BD59-A6C34878D82A}">
                    <a16:rowId xmlns:a16="http://schemas.microsoft.com/office/drawing/2014/main" val="48728929"/>
                  </a:ext>
                </a:extLst>
              </a:tr>
              <a:tr h="309602">
                <a:tc>
                  <a:txBody>
                    <a:bodyPr/>
                    <a:lstStyle/>
                    <a:p>
                      <a:pPr algn="ctr" fontAlgn="b">
                        <a:buNone/>
                      </a:pPr>
                      <a:r>
                        <a:rPr lang="en-IN" sz="1100" b="1" i="0" u="none" strike="noStrike" dirty="0">
                          <a:solidFill>
                            <a:schemeClr val="bg1"/>
                          </a:solidFill>
                          <a:effectLst/>
                          <a:latin typeface="Calibri" panose="020F0502020204030204" pitchFamily="34" charset="0"/>
                        </a:rPr>
                        <a:t>AG_027</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Priya Kumar</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96.4</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4</a:t>
                      </a:r>
                    </a:p>
                  </a:txBody>
                  <a:tcPr marL="7620" marR="7620" marT="7620" marB="0" anchor="b">
                    <a:solidFill>
                      <a:schemeClr val="accent1"/>
                    </a:solidFill>
                  </a:tcPr>
                </a:tc>
                <a:extLst>
                  <a:ext uri="{0D108BD9-81ED-4DB2-BD59-A6C34878D82A}">
                    <a16:rowId xmlns:a16="http://schemas.microsoft.com/office/drawing/2014/main" val="3537638322"/>
                  </a:ext>
                </a:extLst>
              </a:tr>
              <a:tr h="309602">
                <a:tc>
                  <a:txBody>
                    <a:bodyPr/>
                    <a:lstStyle/>
                    <a:p>
                      <a:pPr algn="ctr" fontAlgn="b">
                        <a:buNone/>
                      </a:pPr>
                      <a:r>
                        <a:rPr lang="en-IN" sz="1100" b="1" i="0" u="none" strike="noStrike" dirty="0">
                          <a:solidFill>
                            <a:schemeClr val="bg1"/>
                          </a:solidFill>
                          <a:effectLst/>
                          <a:latin typeface="Calibri" panose="020F0502020204030204" pitchFamily="34" charset="0"/>
                        </a:rPr>
                        <a:t>AG_030</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Arun Patel</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96</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5</a:t>
                      </a:r>
                    </a:p>
                  </a:txBody>
                  <a:tcPr marL="7620" marR="7620" marT="7620" marB="0" anchor="b">
                    <a:solidFill>
                      <a:schemeClr val="accent1"/>
                    </a:solidFill>
                  </a:tcPr>
                </a:tc>
                <a:extLst>
                  <a:ext uri="{0D108BD9-81ED-4DB2-BD59-A6C34878D82A}">
                    <a16:rowId xmlns:a16="http://schemas.microsoft.com/office/drawing/2014/main" val="1578244469"/>
                  </a:ext>
                </a:extLst>
              </a:tr>
              <a:tr h="309602">
                <a:tc>
                  <a:txBody>
                    <a:bodyPr/>
                    <a:lstStyle/>
                    <a:p>
                      <a:pPr algn="ctr" fontAlgn="b">
                        <a:buNone/>
                      </a:pPr>
                      <a:r>
                        <a:rPr lang="en-IN" sz="1100" b="1" i="0" u="none" strike="noStrike" dirty="0">
                          <a:solidFill>
                            <a:schemeClr val="bg1"/>
                          </a:solidFill>
                          <a:effectLst/>
                          <a:latin typeface="Calibri" panose="020F0502020204030204" pitchFamily="34" charset="0"/>
                        </a:rPr>
                        <a:t>AG_043</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Kiran Sharma</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95.9</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6</a:t>
                      </a:r>
                    </a:p>
                  </a:txBody>
                  <a:tcPr marL="7620" marR="7620" marT="7620" marB="0" anchor="b">
                    <a:solidFill>
                      <a:schemeClr val="accent1"/>
                    </a:solidFill>
                  </a:tcPr>
                </a:tc>
                <a:extLst>
                  <a:ext uri="{0D108BD9-81ED-4DB2-BD59-A6C34878D82A}">
                    <a16:rowId xmlns:a16="http://schemas.microsoft.com/office/drawing/2014/main" val="2805439859"/>
                  </a:ext>
                </a:extLst>
              </a:tr>
              <a:tr h="309602">
                <a:tc>
                  <a:txBody>
                    <a:bodyPr/>
                    <a:lstStyle/>
                    <a:p>
                      <a:pPr algn="ctr" fontAlgn="b">
                        <a:buNone/>
                      </a:pPr>
                      <a:r>
                        <a:rPr lang="en-IN" sz="1100" b="1" i="0" u="none" strike="noStrike" dirty="0">
                          <a:solidFill>
                            <a:schemeClr val="bg1"/>
                          </a:solidFill>
                          <a:effectLst/>
                          <a:latin typeface="Calibri" panose="020F0502020204030204" pitchFamily="34" charset="0"/>
                        </a:rPr>
                        <a:t>AG_046</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Rajesh Sharma</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95.7</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7</a:t>
                      </a:r>
                    </a:p>
                  </a:txBody>
                  <a:tcPr marL="7620" marR="7620" marT="7620" marB="0" anchor="b">
                    <a:solidFill>
                      <a:schemeClr val="accent1"/>
                    </a:solidFill>
                  </a:tcPr>
                </a:tc>
                <a:extLst>
                  <a:ext uri="{0D108BD9-81ED-4DB2-BD59-A6C34878D82A}">
                    <a16:rowId xmlns:a16="http://schemas.microsoft.com/office/drawing/2014/main" val="159965032"/>
                  </a:ext>
                </a:extLst>
              </a:tr>
              <a:tr h="309602">
                <a:tc>
                  <a:txBody>
                    <a:bodyPr/>
                    <a:lstStyle/>
                    <a:p>
                      <a:pPr algn="ctr" fontAlgn="b">
                        <a:buNone/>
                      </a:pPr>
                      <a:r>
                        <a:rPr lang="en-IN" sz="1100" b="1" i="0" u="none" strike="noStrike" dirty="0">
                          <a:solidFill>
                            <a:schemeClr val="bg1"/>
                          </a:solidFill>
                          <a:effectLst/>
                          <a:latin typeface="Calibri" panose="020F0502020204030204" pitchFamily="34" charset="0"/>
                        </a:rPr>
                        <a:t>AG_037</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Vikram Nair</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95.4</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8</a:t>
                      </a:r>
                    </a:p>
                  </a:txBody>
                  <a:tcPr marL="7620" marR="7620" marT="7620" marB="0" anchor="b">
                    <a:solidFill>
                      <a:schemeClr val="accent1"/>
                    </a:solidFill>
                  </a:tcPr>
                </a:tc>
                <a:extLst>
                  <a:ext uri="{0D108BD9-81ED-4DB2-BD59-A6C34878D82A}">
                    <a16:rowId xmlns:a16="http://schemas.microsoft.com/office/drawing/2014/main" val="664453096"/>
                  </a:ext>
                </a:extLst>
              </a:tr>
              <a:tr h="309602">
                <a:tc>
                  <a:txBody>
                    <a:bodyPr/>
                    <a:lstStyle/>
                    <a:p>
                      <a:pPr algn="ctr" fontAlgn="b">
                        <a:buNone/>
                      </a:pPr>
                      <a:r>
                        <a:rPr lang="en-IN" sz="1100" b="1" i="0" u="none" strike="noStrike" dirty="0">
                          <a:solidFill>
                            <a:schemeClr val="bg1"/>
                          </a:solidFill>
                          <a:effectLst/>
                          <a:latin typeface="Calibri" panose="020F0502020204030204" pitchFamily="34" charset="0"/>
                        </a:rPr>
                        <a:t>AG_013</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Rajesh Patel</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94.1</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9</a:t>
                      </a:r>
                    </a:p>
                  </a:txBody>
                  <a:tcPr marL="7620" marR="7620" marT="7620" marB="0" anchor="b">
                    <a:solidFill>
                      <a:schemeClr val="accent1"/>
                    </a:solidFill>
                  </a:tcPr>
                </a:tc>
                <a:extLst>
                  <a:ext uri="{0D108BD9-81ED-4DB2-BD59-A6C34878D82A}">
                    <a16:rowId xmlns:a16="http://schemas.microsoft.com/office/drawing/2014/main" val="163843956"/>
                  </a:ext>
                </a:extLst>
              </a:tr>
              <a:tr h="309602">
                <a:tc>
                  <a:txBody>
                    <a:bodyPr/>
                    <a:lstStyle/>
                    <a:p>
                      <a:pPr algn="ctr" fontAlgn="b">
                        <a:buNone/>
                      </a:pPr>
                      <a:r>
                        <a:rPr lang="en-IN" sz="1100" b="1" i="0" u="none" strike="noStrike" dirty="0">
                          <a:solidFill>
                            <a:schemeClr val="bg1"/>
                          </a:solidFill>
                          <a:effectLst/>
                          <a:latin typeface="Calibri" panose="020F0502020204030204" pitchFamily="34" charset="0"/>
                        </a:rPr>
                        <a:t>AG_040</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Anita Gupta</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93.4</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10</a:t>
                      </a:r>
                    </a:p>
                  </a:txBody>
                  <a:tcPr marL="7620" marR="7620" marT="7620" marB="0" anchor="b">
                    <a:solidFill>
                      <a:schemeClr val="accent1"/>
                    </a:solidFill>
                  </a:tcPr>
                </a:tc>
                <a:extLst>
                  <a:ext uri="{0D108BD9-81ED-4DB2-BD59-A6C34878D82A}">
                    <a16:rowId xmlns:a16="http://schemas.microsoft.com/office/drawing/2014/main" val="4629450"/>
                  </a:ext>
                </a:extLst>
              </a:tr>
            </a:tbl>
          </a:graphicData>
        </a:graphic>
      </p:graphicFrame>
      <p:sp>
        <p:nvSpPr>
          <p:cNvPr id="4" name="TextBox 3">
            <a:extLst>
              <a:ext uri="{FF2B5EF4-FFF2-40B4-BE49-F238E27FC236}">
                <a16:creationId xmlns:a16="http://schemas.microsoft.com/office/drawing/2014/main" id="{9FB4001B-A19B-96C0-8BA0-691685F0A368}"/>
              </a:ext>
            </a:extLst>
          </p:cNvPr>
          <p:cNvSpPr txBox="1"/>
          <p:nvPr/>
        </p:nvSpPr>
        <p:spPr>
          <a:xfrm>
            <a:off x="3637935" y="63286"/>
            <a:ext cx="5417830" cy="461665"/>
          </a:xfrm>
          <a:prstGeom prst="rect">
            <a:avLst/>
          </a:prstGeom>
          <a:noFill/>
        </p:spPr>
        <p:txBody>
          <a:bodyPr wrap="none" rtlCol="0">
            <a:spAutoFit/>
          </a:bodyPr>
          <a:lstStyle/>
          <a:p>
            <a:r>
              <a:rPr lang="en-US" sz="2400" b="1" dirty="0">
                <a:solidFill>
                  <a:schemeClr val="accent1"/>
                </a:solidFill>
                <a:latin typeface="Calibri" panose="020F0502020204030204" pitchFamily="34" charset="0"/>
                <a:cs typeface="Calibri" panose="020F0502020204030204" pitchFamily="34" charset="0"/>
              </a:rPr>
              <a:t>TASK 5- DELIVERY AGENT PERFORMANCE</a:t>
            </a:r>
            <a:endParaRPr lang="en-IN" sz="2400" b="1" dirty="0">
              <a:solidFill>
                <a:schemeClr val="accent1"/>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895824F4-D3FE-0DA0-7B75-2CB7C6B483C9}"/>
              </a:ext>
            </a:extLst>
          </p:cNvPr>
          <p:cNvSpPr txBox="1"/>
          <p:nvPr/>
        </p:nvSpPr>
        <p:spPr>
          <a:xfrm>
            <a:off x="1307691" y="2678668"/>
            <a:ext cx="3861442" cy="369332"/>
          </a:xfrm>
          <a:prstGeom prst="rect">
            <a:avLst/>
          </a:prstGeom>
          <a:noFill/>
        </p:spPr>
        <p:txBody>
          <a:bodyPr wrap="none" rtlCol="0">
            <a:spAutoFit/>
          </a:bodyPr>
          <a:lstStyle/>
          <a:p>
            <a:r>
              <a:rPr lang="en-US" b="1" dirty="0">
                <a:latin typeface="Calibri" panose="020F0502020204030204" pitchFamily="34" charset="0"/>
                <a:cs typeface="Calibri" panose="020F0502020204030204" pitchFamily="34" charset="0"/>
              </a:rPr>
              <a:t>Ranking Agents by On Time Delivery %</a:t>
            </a:r>
            <a:endParaRPr lang="en-IN"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096563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4BF6F01-0FBC-90DA-8FEB-792E45EBF7D1}"/>
              </a:ext>
            </a:extLst>
          </p:cNvPr>
          <p:cNvSpPr/>
          <p:nvPr/>
        </p:nvSpPr>
        <p:spPr>
          <a:xfrm>
            <a:off x="1278193" y="314633"/>
            <a:ext cx="5338916" cy="20057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latin typeface="Calibri" panose="020F0502020204030204" pitchFamily="34" charset="0"/>
                <a:cs typeface="Calibri" panose="020F0502020204030204" pitchFamily="34" charset="0"/>
              </a:rPr>
              <a:t>Select Agent_ID,Agent_Name,</a:t>
            </a:r>
          </a:p>
          <a:p>
            <a:r>
              <a:rPr lang="en-US" dirty="0">
                <a:latin typeface="Calibri" panose="020F0502020204030204" pitchFamily="34" charset="0"/>
                <a:cs typeface="Calibri" panose="020F0502020204030204" pitchFamily="34" charset="0"/>
              </a:rPr>
              <a:t>On_Time_Delivery_Percentage </a:t>
            </a:r>
          </a:p>
          <a:p>
            <a:r>
              <a:rPr lang="en-US" dirty="0">
                <a:latin typeface="Calibri" panose="020F0502020204030204" pitchFamily="34" charset="0"/>
                <a:cs typeface="Calibri" panose="020F0502020204030204" pitchFamily="34" charset="0"/>
              </a:rPr>
              <a:t>from delivery_agent</a:t>
            </a:r>
          </a:p>
          <a:p>
            <a:r>
              <a:rPr lang="en-US" dirty="0">
                <a:latin typeface="Calibri" panose="020F0502020204030204" pitchFamily="34" charset="0"/>
                <a:cs typeface="Calibri" panose="020F0502020204030204" pitchFamily="34" charset="0"/>
              </a:rPr>
              <a:t> WHERE On_Time_Delivery_Percentage&lt;80</a:t>
            </a:r>
          </a:p>
          <a:p>
            <a:r>
              <a:rPr lang="en-US" dirty="0">
                <a:latin typeface="Calibri" panose="020F0502020204030204" pitchFamily="34" charset="0"/>
                <a:cs typeface="Calibri" panose="020F0502020204030204" pitchFamily="34" charset="0"/>
              </a:rPr>
              <a:t>ORDER BY On_Time_Delivery_Percentage desc;</a:t>
            </a:r>
            <a:endParaRPr lang="en-IN" dirty="0">
              <a:latin typeface="Calibri" panose="020F0502020204030204" pitchFamily="34" charset="0"/>
              <a:cs typeface="Calibri" panose="020F0502020204030204" pitchFamily="34" charset="0"/>
            </a:endParaRPr>
          </a:p>
        </p:txBody>
      </p:sp>
      <p:graphicFrame>
        <p:nvGraphicFramePr>
          <p:cNvPr id="3" name="Table 2">
            <a:extLst>
              <a:ext uri="{FF2B5EF4-FFF2-40B4-BE49-F238E27FC236}">
                <a16:creationId xmlns:a16="http://schemas.microsoft.com/office/drawing/2014/main" id="{0CEE337A-F9E2-A250-B1D4-4C1C1A0E6E8E}"/>
              </a:ext>
            </a:extLst>
          </p:cNvPr>
          <p:cNvGraphicFramePr>
            <a:graphicFrameLocks noGrp="1"/>
          </p:cNvGraphicFramePr>
          <p:nvPr>
            <p:extLst>
              <p:ext uri="{D42A27DB-BD31-4B8C-83A1-F6EECF244321}">
                <p14:modId xmlns:p14="http://schemas.microsoft.com/office/powerpoint/2010/main" val="2182777586"/>
              </p:ext>
            </p:extLst>
          </p:nvPr>
        </p:nvGraphicFramePr>
        <p:xfrm>
          <a:off x="1366685" y="3069574"/>
          <a:ext cx="4699819" cy="2966720"/>
        </p:xfrm>
        <a:graphic>
          <a:graphicData uri="http://schemas.openxmlformats.org/drawingml/2006/table">
            <a:tbl>
              <a:tblPr firstRow="1" bandRow="1">
                <a:tableStyleId>{5C22544A-7EE6-4342-B048-85BDC9FD1C3A}</a:tableStyleId>
              </a:tblPr>
              <a:tblGrid>
                <a:gridCol w="1137772">
                  <a:extLst>
                    <a:ext uri="{9D8B030D-6E8A-4147-A177-3AD203B41FA5}">
                      <a16:colId xmlns:a16="http://schemas.microsoft.com/office/drawing/2014/main" val="843870548"/>
                    </a:ext>
                  </a:extLst>
                </a:gridCol>
                <a:gridCol w="1212137">
                  <a:extLst>
                    <a:ext uri="{9D8B030D-6E8A-4147-A177-3AD203B41FA5}">
                      <a16:colId xmlns:a16="http://schemas.microsoft.com/office/drawing/2014/main" val="2960258550"/>
                    </a:ext>
                  </a:extLst>
                </a:gridCol>
                <a:gridCol w="2349910">
                  <a:extLst>
                    <a:ext uri="{9D8B030D-6E8A-4147-A177-3AD203B41FA5}">
                      <a16:colId xmlns:a16="http://schemas.microsoft.com/office/drawing/2014/main" val="4009519723"/>
                    </a:ext>
                  </a:extLst>
                </a:gridCol>
              </a:tblGrid>
              <a:tr h="370840">
                <a:tc>
                  <a:txBody>
                    <a:bodyPr/>
                    <a:lstStyle/>
                    <a:p>
                      <a:pPr algn="ctr" fontAlgn="b">
                        <a:buNone/>
                      </a:pPr>
                      <a:r>
                        <a:rPr lang="en-IN" sz="1100" b="1" i="0" u="none" strike="noStrike" dirty="0">
                          <a:solidFill>
                            <a:schemeClr val="bg1"/>
                          </a:solidFill>
                          <a:effectLst/>
                          <a:latin typeface="Calibri" panose="020F0502020204030204" pitchFamily="34" charset="0"/>
                        </a:rPr>
                        <a:t>Agent_ID</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Agent_Name</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On_Time_Delivery_%(&lt;80%)</a:t>
                      </a:r>
                    </a:p>
                  </a:txBody>
                  <a:tcPr marL="7620" marR="7620" marT="7620" marB="0" anchor="b">
                    <a:solidFill>
                      <a:schemeClr val="accent1"/>
                    </a:solidFill>
                  </a:tcPr>
                </a:tc>
                <a:extLst>
                  <a:ext uri="{0D108BD9-81ED-4DB2-BD59-A6C34878D82A}">
                    <a16:rowId xmlns:a16="http://schemas.microsoft.com/office/drawing/2014/main" val="2532409070"/>
                  </a:ext>
                </a:extLst>
              </a:tr>
              <a:tr h="370840">
                <a:tc>
                  <a:txBody>
                    <a:bodyPr/>
                    <a:lstStyle/>
                    <a:p>
                      <a:pPr algn="ctr" fontAlgn="b">
                        <a:buNone/>
                      </a:pPr>
                      <a:r>
                        <a:rPr lang="en-IN" sz="1100" b="1" i="0" u="none" strike="noStrike" dirty="0">
                          <a:solidFill>
                            <a:schemeClr val="bg1"/>
                          </a:solidFill>
                          <a:effectLst/>
                          <a:latin typeface="Calibri" panose="020F0502020204030204" pitchFamily="34" charset="0"/>
                        </a:rPr>
                        <a:t>AG_032</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Pooja Nair</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79.8</a:t>
                      </a:r>
                    </a:p>
                  </a:txBody>
                  <a:tcPr marL="7620" marR="7620" marT="7620" marB="0" anchor="b">
                    <a:solidFill>
                      <a:schemeClr val="accent1"/>
                    </a:solidFill>
                  </a:tcPr>
                </a:tc>
                <a:extLst>
                  <a:ext uri="{0D108BD9-81ED-4DB2-BD59-A6C34878D82A}">
                    <a16:rowId xmlns:a16="http://schemas.microsoft.com/office/drawing/2014/main" val="4205989195"/>
                  </a:ext>
                </a:extLst>
              </a:tr>
              <a:tr h="370840">
                <a:tc>
                  <a:txBody>
                    <a:bodyPr/>
                    <a:lstStyle/>
                    <a:p>
                      <a:pPr algn="ctr" fontAlgn="b">
                        <a:buNone/>
                      </a:pPr>
                      <a:r>
                        <a:rPr lang="en-IN" sz="1100" b="1" i="0" u="none" strike="noStrike" dirty="0">
                          <a:solidFill>
                            <a:schemeClr val="bg1"/>
                          </a:solidFill>
                          <a:effectLst/>
                          <a:latin typeface="Calibri" panose="020F0502020204030204" pitchFamily="34" charset="0"/>
                        </a:rPr>
                        <a:t>AG_050</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Vikram Kumar</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79.7</a:t>
                      </a:r>
                    </a:p>
                  </a:txBody>
                  <a:tcPr marL="7620" marR="7620" marT="7620" marB="0" anchor="b">
                    <a:solidFill>
                      <a:schemeClr val="accent1"/>
                    </a:solidFill>
                  </a:tcPr>
                </a:tc>
                <a:extLst>
                  <a:ext uri="{0D108BD9-81ED-4DB2-BD59-A6C34878D82A}">
                    <a16:rowId xmlns:a16="http://schemas.microsoft.com/office/drawing/2014/main" val="3970525858"/>
                  </a:ext>
                </a:extLst>
              </a:tr>
              <a:tr h="370840">
                <a:tc>
                  <a:txBody>
                    <a:bodyPr/>
                    <a:lstStyle/>
                    <a:p>
                      <a:pPr algn="ctr" fontAlgn="b">
                        <a:buNone/>
                      </a:pPr>
                      <a:r>
                        <a:rPr lang="en-IN" sz="1100" b="1" i="0" u="none" strike="noStrike" dirty="0">
                          <a:solidFill>
                            <a:schemeClr val="bg1"/>
                          </a:solidFill>
                          <a:effectLst/>
                          <a:latin typeface="Calibri" panose="020F0502020204030204" pitchFamily="34" charset="0"/>
                        </a:rPr>
                        <a:t>AG_036</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Vikram Reddy</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79.6</a:t>
                      </a:r>
                    </a:p>
                  </a:txBody>
                  <a:tcPr marL="7620" marR="7620" marT="7620" marB="0" anchor="b">
                    <a:solidFill>
                      <a:schemeClr val="accent1"/>
                    </a:solidFill>
                  </a:tcPr>
                </a:tc>
                <a:extLst>
                  <a:ext uri="{0D108BD9-81ED-4DB2-BD59-A6C34878D82A}">
                    <a16:rowId xmlns:a16="http://schemas.microsoft.com/office/drawing/2014/main" val="563520043"/>
                  </a:ext>
                </a:extLst>
              </a:tr>
              <a:tr h="370840">
                <a:tc>
                  <a:txBody>
                    <a:bodyPr/>
                    <a:lstStyle/>
                    <a:p>
                      <a:pPr algn="ctr" fontAlgn="b">
                        <a:buNone/>
                      </a:pPr>
                      <a:r>
                        <a:rPr lang="en-IN" sz="1100" b="1" i="0" u="none" strike="noStrike" dirty="0">
                          <a:solidFill>
                            <a:schemeClr val="bg1"/>
                          </a:solidFill>
                          <a:effectLst/>
                          <a:latin typeface="Calibri" panose="020F0502020204030204" pitchFamily="34" charset="0"/>
                        </a:rPr>
                        <a:t>AG_011</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Sneha Sharma</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76.9</a:t>
                      </a:r>
                    </a:p>
                  </a:txBody>
                  <a:tcPr marL="7620" marR="7620" marT="7620" marB="0" anchor="b">
                    <a:solidFill>
                      <a:schemeClr val="accent1"/>
                    </a:solidFill>
                  </a:tcPr>
                </a:tc>
                <a:extLst>
                  <a:ext uri="{0D108BD9-81ED-4DB2-BD59-A6C34878D82A}">
                    <a16:rowId xmlns:a16="http://schemas.microsoft.com/office/drawing/2014/main" val="1142210475"/>
                  </a:ext>
                </a:extLst>
              </a:tr>
              <a:tr h="370840">
                <a:tc>
                  <a:txBody>
                    <a:bodyPr/>
                    <a:lstStyle/>
                    <a:p>
                      <a:pPr algn="ctr" fontAlgn="b">
                        <a:buNone/>
                      </a:pPr>
                      <a:r>
                        <a:rPr lang="en-IN" sz="1100" b="1" i="0" u="none" strike="noStrike" dirty="0">
                          <a:solidFill>
                            <a:schemeClr val="bg1"/>
                          </a:solidFill>
                          <a:effectLst/>
                          <a:latin typeface="Calibri" panose="020F0502020204030204" pitchFamily="34" charset="0"/>
                        </a:rPr>
                        <a:t>AG_012</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Rajesh Nair</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76.2</a:t>
                      </a:r>
                    </a:p>
                  </a:txBody>
                  <a:tcPr marL="7620" marR="7620" marT="7620" marB="0" anchor="b">
                    <a:solidFill>
                      <a:schemeClr val="accent1"/>
                    </a:solidFill>
                  </a:tcPr>
                </a:tc>
                <a:extLst>
                  <a:ext uri="{0D108BD9-81ED-4DB2-BD59-A6C34878D82A}">
                    <a16:rowId xmlns:a16="http://schemas.microsoft.com/office/drawing/2014/main" val="3879475806"/>
                  </a:ext>
                </a:extLst>
              </a:tr>
              <a:tr h="370840">
                <a:tc>
                  <a:txBody>
                    <a:bodyPr/>
                    <a:lstStyle/>
                    <a:p>
                      <a:pPr algn="ctr" fontAlgn="b">
                        <a:buNone/>
                      </a:pPr>
                      <a:r>
                        <a:rPr lang="en-IN" sz="1100" b="1" i="0" u="none" strike="noStrike" dirty="0">
                          <a:solidFill>
                            <a:schemeClr val="bg1"/>
                          </a:solidFill>
                          <a:effectLst/>
                          <a:latin typeface="Calibri" panose="020F0502020204030204" pitchFamily="34" charset="0"/>
                        </a:rPr>
                        <a:t>AG_014</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Pooja Reddy</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73.7</a:t>
                      </a:r>
                    </a:p>
                  </a:txBody>
                  <a:tcPr marL="7620" marR="7620" marT="7620" marB="0" anchor="b">
                    <a:solidFill>
                      <a:schemeClr val="accent1"/>
                    </a:solidFill>
                  </a:tcPr>
                </a:tc>
                <a:extLst>
                  <a:ext uri="{0D108BD9-81ED-4DB2-BD59-A6C34878D82A}">
                    <a16:rowId xmlns:a16="http://schemas.microsoft.com/office/drawing/2014/main" val="2710302229"/>
                  </a:ext>
                </a:extLst>
              </a:tr>
              <a:tr h="370840">
                <a:tc>
                  <a:txBody>
                    <a:bodyPr/>
                    <a:lstStyle/>
                    <a:p>
                      <a:pPr algn="ctr" fontAlgn="b">
                        <a:buNone/>
                      </a:pPr>
                      <a:r>
                        <a:rPr lang="en-IN" sz="1100" b="1" i="0" u="none" strike="noStrike" dirty="0">
                          <a:solidFill>
                            <a:schemeClr val="bg1"/>
                          </a:solidFill>
                          <a:effectLst/>
                          <a:latin typeface="Calibri" panose="020F0502020204030204" pitchFamily="34" charset="0"/>
                        </a:rPr>
                        <a:t>AG_008</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Meena Kumar</a:t>
                      </a:r>
                    </a:p>
                  </a:txBody>
                  <a:tcPr marL="7620" marR="7620" marT="7620" marB="0" anchor="b">
                    <a:solidFill>
                      <a:schemeClr val="accent1"/>
                    </a:solidFill>
                  </a:tcPr>
                </a:tc>
                <a:tc>
                  <a:txBody>
                    <a:bodyPr/>
                    <a:lstStyle/>
                    <a:p>
                      <a:pPr algn="ctr" fontAlgn="b">
                        <a:buNone/>
                      </a:pPr>
                      <a:r>
                        <a:rPr lang="en-IN" sz="1100" b="1" i="0" u="none" strike="noStrike" dirty="0">
                          <a:solidFill>
                            <a:schemeClr val="bg1"/>
                          </a:solidFill>
                          <a:effectLst/>
                          <a:latin typeface="Calibri" panose="020F0502020204030204" pitchFamily="34" charset="0"/>
                        </a:rPr>
                        <a:t>73.6</a:t>
                      </a:r>
                    </a:p>
                  </a:txBody>
                  <a:tcPr marL="7620" marR="7620" marT="7620" marB="0" anchor="b">
                    <a:solidFill>
                      <a:schemeClr val="accent1"/>
                    </a:solidFill>
                  </a:tcPr>
                </a:tc>
                <a:extLst>
                  <a:ext uri="{0D108BD9-81ED-4DB2-BD59-A6C34878D82A}">
                    <a16:rowId xmlns:a16="http://schemas.microsoft.com/office/drawing/2014/main" val="3215537424"/>
                  </a:ext>
                </a:extLst>
              </a:tr>
            </a:tbl>
          </a:graphicData>
        </a:graphic>
      </p:graphicFrame>
      <p:sp>
        <p:nvSpPr>
          <p:cNvPr id="4" name="TextBox 3">
            <a:extLst>
              <a:ext uri="{FF2B5EF4-FFF2-40B4-BE49-F238E27FC236}">
                <a16:creationId xmlns:a16="http://schemas.microsoft.com/office/drawing/2014/main" id="{6D21CF64-685E-DEFC-8109-14A516B6CE1A}"/>
              </a:ext>
            </a:extLst>
          </p:cNvPr>
          <p:cNvSpPr txBox="1"/>
          <p:nvPr/>
        </p:nvSpPr>
        <p:spPr>
          <a:xfrm>
            <a:off x="1278193" y="2700242"/>
            <a:ext cx="3591752" cy="369332"/>
          </a:xfrm>
          <a:prstGeom prst="rect">
            <a:avLst/>
          </a:prstGeom>
          <a:noFill/>
        </p:spPr>
        <p:txBody>
          <a:bodyPr wrap="none" rtlCol="0">
            <a:spAutoFit/>
          </a:bodyPr>
          <a:lstStyle/>
          <a:p>
            <a:r>
              <a:rPr lang="en-US" b="1" dirty="0">
                <a:latin typeface="Calibri" panose="020F0502020204030204" pitchFamily="34" charset="0"/>
                <a:cs typeface="Calibri" panose="020F0502020204030204" pitchFamily="34" charset="0"/>
              </a:rPr>
              <a:t>Agents with On Time Delivery %&lt;80</a:t>
            </a:r>
            <a:endParaRPr lang="en-IN"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496243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8554D-E08C-538D-D1BD-3FCDA159B0E6}"/>
              </a:ext>
            </a:extLst>
          </p:cNvPr>
          <p:cNvSpPr>
            <a:spLocks noGrp="1"/>
          </p:cNvSpPr>
          <p:nvPr>
            <p:ph type="title"/>
          </p:nvPr>
        </p:nvSpPr>
        <p:spPr/>
        <p:txBody>
          <a:bodyPr/>
          <a:lstStyle/>
          <a:p>
            <a:endParaRPr lang="en-IN" dirty="0"/>
          </a:p>
        </p:txBody>
      </p:sp>
      <p:sp>
        <p:nvSpPr>
          <p:cNvPr id="4" name="Rectangle 3">
            <a:extLst>
              <a:ext uri="{FF2B5EF4-FFF2-40B4-BE49-F238E27FC236}">
                <a16:creationId xmlns:a16="http://schemas.microsoft.com/office/drawing/2014/main" id="{38060846-B0B7-5D9B-BD87-163844C7D985}"/>
              </a:ext>
            </a:extLst>
          </p:cNvPr>
          <p:cNvSpPr/>
          <p:nvPr/>
        </p:nvSpPr>
        <p:spPr>
          <a:xfrm>
            <a:off x="1376515" y="363794"/>
            <a:ext cx="10166555" cy="22712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dirty="0">
                <a:latin typeface="Calibri" panose="020F0502020204030204" pitchFamily="34" charset="0"/>
                <a:cs typeface="Calibri" panose="020F0502020204030204" pitchFamily="34" charset="0"/>
              </a:rPr>
              <a:t>SELECT ROUND(AVG(Avg_Speed_KMPH), 2) FROM (SELECT Avg_Speed_KMPH FROM delivery_agent     </a:t>
            </a:r>
          </a:p>
          <a:p>
            <a:r>
              <a:rPr lang="en-IN" dirty="0">
                <a:latin typeface="Calibri" panose="020F0502020204030204" pitchFamily="34" charset="0"/>
                <a:cs typeface="Calibri" panose="020F0502020204030204" pitchFamily="34" charset="0"/>
              </a:rPr>
              <a:t>ORDER BY Avg_Speed_KMPH DESC LIMIT 5) AS top5 _avg_speed,  </a:t>
            </a:r>
          </a:p>
          <a:p>
            <a:r>
              <a:rPr lang="en-IN" dirty="0">
                <a:latin typeface="Calibri" panose="020F0502020204030204" pitchFamily="34" charset="0"/>
                <a:cs typeface="Calibri" panose="020F0502020204030204" pitchFamily="34" charset="0"/>
              </a:rPr>
              <a:t>SELECT ROUND(AVG(Avg_Speed_KMPH), 2)  FROM (SELECT Avg_Speed_KMPH FROM delivery_agent     ORDER BY Avg_Speed_KMPH LIMIT 5) AS bottom5_avg_speed;</a:t>
            </a:r>
          </a:p>
        </p:txBody>
      </p:sp>
      <p:graphicFrame>
        <p:nvGraphicFramePr>
          <p:cNvPr id="6" name="Table 5">
            <a:extLst>
              <a:ext uri="{FF2B5EF4-FFF2-40B4-BE49-F238E27FC236}">
                <a16:creationId xmlns:a16="http://schemas.microsoft.com/office/drawing/2014/main" id="{278F3D4A-A324-60A8-86B6-D34626936500}"/>
              </a:ext>
            </a:extLst>
          </p:cNvPr>
          <p:cNvGraphicFramePr>
            <a:graphicFrameLocks noGrp="1"/>
          </p:cNvGraphicFramePr>
          <p:nvPr>
            <p:extLst>
              <p:ext uri="{D42A27DB-BD31-4B8C-83A1-F6EECF244321}">
                <p14:modId xmlns:p14="http://schemas.microsoft.com/office/powerpoint/2010/main" val="2592493369"/>
              </p:ext>
            </p:extLst>
          </p:nvPr>
        </p:nvGraphicFramePr>
        <p:xfrm>
          <a:off x="1376515" y="3598934"/>
          <a:ext cx="3756025" cy="741680"/>
        </p:xfrm>
        <a:graphic>
          <a:graphicData uri="http://schemas.openxmlformats.org/drawingml/2006/table">
            <a:tbl>
              <a:tblPr firstRow="1" bandRow="1">
                <a:tableStyleId>{5C22544A-7EE6-4342-B048-85BDC9FD1C3A}</a:tableStyleId>
              </a:tblPr>
              <a:tblGrid>
                <a:gridCol w="1590600">
                  <a:extLst>
                    <a:ext uri="{9D8B030D-6E8A-4147-A177-3AD203B41FA5}">
                      <a16:colId xmlns:a16="http://schemas.microsoft.com/office/drawing/2014/main" val="1538461812"/>
                    </a:ext>
                  </a:extLst>
                </a:gridCol>
                <a:gridCol w="2165425">
                  <a:extLst>
                    <a:ext uri="{9D8B030D-6E8A-4147-A177-3AD203B41FA5}">
                      <a16:colId xmlns:a16="http://schemas.microsoft.com/office/drawing/2014/main" val="2590656768"/>
                    </a:ext>
                  </a:extLst>
                </a:gridCol>
              </a:tblGrid>
              <a:tr h="370840">
                <a:tc>
                  <a:txBody>
                    <a:bodyPr/>
                    <a:lstStyle/>
                    <a:p>
                      <a:pPr algn="ctr" fontAlgn="b">
                        <a:buNone/>
                      </a:pPr>
                      <a:r>
                        <a:rPr lang="en-US" sz="1400" b="1" i="0" u="none" strike="noStrike" dirty="0">
                          <a:solidFill>
                            <a:schemeClr val="bg1"/>
                          </a:solidFill>
                          <a:effectLst/>
                          <a:latin typeface="Calibri" panose="020F0502020204030204" pitchFamily="34" charset="0"/>
                        </a:rPr>
                        <a:t>T</a:t>
                      </a:r>
                      <a:r>
                        <a:rPr lang="en-IN" sz="1400" b="1" i="0" u="none" strike="noStrike" dirty="0">
                          <a:solidFill>
                            <a:schemeClr val="bg1"/>
                          </a:solidFill>
                          <a:effectLst/>
                          <a:latin typeface="Calibri" panose="020F0502020204030204" pitchFamily="34" charset="0"/>
                        </a:rPr>
                        <a:t>op 5 Average Speed</a:t>
                      </a:r>
                    </a:p>
                  </a:txBody>
                  <a:tcPr marL="7620" marR="7620" marT="7620" marB="0" anchor="b">
                    <a:solidFill>
                      <a:schemeClr val="accent1"/>
                    </a:solidFill>
                  </a:tcPr>
                </a:tc>
                <a:tc>
                  <a:txBody>
                    <a:bodyPr/>
                    <a:lstStyle/>
                    <a:p>
                      <a:pPr algn="ctr" fontAlgn="b">
                        <a:buNone/>
                      </a:pPr>
                      <a:r>
                        <a:rPr lang="en-US" sz="1400" b="1" i="0" u="none" strike="noStrike" dirty="0">
                          <a:solidFill>
                            <a:schemeClr val="bg1"/>
                          </a:solidFill>
                          <a:effectLst/>
                          <a:latin typeface="Calibri" panose="020F0502020204030204" pitchFamily="34" charset="0"/>
                        </a:rPr>
                        <a:t>Bottom 5 Average Speed</a:t>
                      </a:r>
                      <a:endParaRPr lang="en-IN" sz="1400" b="1" i="0" u="none" strike="noStrike" dirty="0">
                        <a:solidFill>
                          <a:schemeClr val="bg1"/>
                        </a:solidFill>
                        <a:effectLst/>
                        <a:latin typeface="Calibri" panose="020F0502020204030204" pitchFamily="34" charset="0"/>
                      </a:endParaRPr>
                    </a:p>
                  </a:txBody>
                  <a:tcPr marL="7620" marR="7620" marT="7620" marB="0" anchor="b">
                    <a:solidFill>
                      <a:schemeClr val="accent1"/>
                    </a:solidFill>
                  </a:tcPr>
                </a:tc>
                <a:extLst>
                  <a:ext uri="{0D108BD9-81ED-4DB2-BD59-A6C34878D82A}">
                    <a16:rowId xmlns:a16="http://schemas.microsoft.com/office/drawing/2014/main" val="2675592377"/>
                  </a:ext>
                </a:extLst>
              </a:tr>
              <a:tr h="370840">
                <a:tc>
                  <a:txBody>
                    <a:bodyPr/>
                    <a:lstStyle/>
                    <a:p>
                      <a:pPr algn="ctr" fontAlgn="b">
                        <a:buNone/>
                      </a:pPr>
                      <a:r>
                        <a:rPr lang="en-IN" sz="1400" b="1" i="0" u="none" strike="noStrike" dirty="0">
                          <a:solidFill>
                            <a:schemeClr val="bg1"/>
                          </a:solidFill>
                          <a:effectLst/>
                          <a:latin typeface="Calibri" panose="020F0502020204030204" pitchFamily="34" charset="0"/>
                        </a:rPr>
                        <a:t>53.02</a:t>
                      </a:r>
                    </a:p>
                  </a:txBody>
                  <a:tcPr marL="7620" marR="7620" marT="7620" marB="0" anchor="b">
                    <a:solidFill>
                      <a:schemeClr val="accent1"/>
                    </a:solidFill>
                  </a:tcPr>
                </a:tc>
                <a:tc>
                  <a:txBody>
                    <a:bodyPr/>
                    <a:lstStyle/>
                    <a:p>
                      <a:pPr algn="ctr" fontAlgn="b">
                        <a:buNone/>
                      </a:pPr>
                      <a:r>
                        <a:rPr lang="en-IN" sz="1400" b="1" i="0" u="none" strike="noStrike" dirty="0">
                          <a:solidFill>
                            <a:schemeClr val="bg1"/>
                          </a:solidFill>
                          <a:effectLst/>
                          <a:latin typeface="Calibri" panose="020F0502020204030204" pitchFamily="34" charset="0"/>
                        </a:rPr>
                        <a:t>35.32</a:t>
                      </a:r>
                    </a:p>
                  </a:txBody>
                  <a:tcPr marL="7620" marR="7620" marT="7620" marB="0" anchor="b">
                    <a:solidFill>
                      <a:schemeClr val="accent1"/>
                    </a:solidFill>
                  </a:tcPr>
                </a:tc>
                <a:extLst>
                  <a:ext uri="{0D108BD9-81ED-4DB2-BD59-A6C34878D82A}">
                    <a16:rowId xmlns:a16="http://schemas.microsoft.com/office/drawing/2014/main" val="3133093100"/>
                  </a:ext>
                </a:extLst>
              </a:tr>
            </a:tbl>
          </a:graphicData>
        </a:graphic>
      </p:graphicFrame>
      <p:sp>
        <p:nvSpPr>
          <p:cNvPr id="7" name="TextBox 6">
            <a:extLst>
              <a:ext uri="{FF2B5EF4-FFF2-40B4-BE49-F238E27FC236}">
                <a16:creationId xmlns:a16="http://schemas.microsoft.com/office/drawing/2014/main" id="{2BAE4C7B-ED11-D1A0-38BB-9A7541010178}"/>
              </a:ext>
            </a:extLst>
          </p:cNvPr>
          <p:cNvSpPr txBox="1"/>
          <p:nvPr/>
        </p:nvSpPr>
        <p:spPr>
          <a:xfrm>
            <a:off x="1284430" y="3075770"/>
            <a:ext cx="8228791" cy="369332"/>
          </a:xfrm>
          <a:prstGeom prst="rect">
            <a:avLst/>
          </a:prstGeom>
          <a:noFill/>
        </p:spPr>
        <p:txBody>
          <a:bodyPr wrap="none" rtlCol="0">
            <a:spAutoFit/>
          </a:bodyPr>
          <a:lstStyle/>
          <a:p>
            <a:r>
              <a:rPr lang="en-US" b="1" dirty="0">
                <a:latin typeface="Calibri" panose="020F0502020204030204" pitchFamily="34" charset="0"/>
                <a:cs typeface="Calibri" panose="020F0502020204030204" pitchFamily="34" charset="0"/>
              </a:rPr>
              <a:t>Comparison of Average Speed of Top 5 Agents vs Average Speed of Bottom 5 Agents </a:t>
            </a:r>
            <a:endParaRPr lang="en-IN"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435837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AD56F11-77DB-F8C7-CFC5-9849A4B997B5}"/>
              </a:ext>
            </a:extLst>
          </p:cNvPr>
          <p:cNvSpPr/>
          <p:nvPr/>
        </p:nvSpPr>
        <p:spPr>
          <a:xfrm>
            <a:off x="1445342" y="550606"/>
            <a:ext cx="7610168" cy="38837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latin typeface="Calibri" panose="020F0502020204030204" pitchFamily="34" charset="0"/>
                <a:cs typeface="Calibri" panose="020F0502020204030204" pitchFamily="34" charset="0"/>
              </a:rPr>
              <a:t>      Recommendations for low performers</a:t>
            </a:r>
          </a:p>
          <a:p>
            <a:pPr algn="ctr"/>
            <a:endParaRPr lang="en-US" b="1" dirty="0">
              <a:latin typeface="Calibri" panose="020F0502020204030204" pitchFamily="34" charset="0"/>
              <a:cs typeface="Calibri" panose="020F0502020204030204" pitchFamily="34" charset="0"/>
            </a:endParaRPr>
          </a:p>
          <a:p>
            <a:pPr marL="285750" indent="-285750">
              <a:buFont typeface="Wingdings" panose="05000000000000000000" pitchFamily="2" charset="2"/>
              <a:buChar char="v"/>
            </a:pPr>
            <a:r>
              <a:rPr lang="en-US" b="1" dirty="0">
                <a:latin typeface="Calibri" panose="020F0502020204030204" pitchFamily="34" charset="0"/>
                <a:cs typeface="Calibri" panose="020F0502020204030204" pitchFamily="34" charset="0"/>
              </a:rPr>
              <a:t>Provide training regarding usage of GPS like Google Maps thus helping them to find  best route with minimum traffic ensuring timely delivery to customers.</a:t>
            </a:r>
          </a:p>
          <a:p>
            <a:pPr marL="285750" indent="-285750">
              <a:buFont typeface="Wingdings" panose="05000000000000000000" pitchFamily="2" charset="2"/>
              <a:buChar char="v"/>
            </a:pPr>
            <a:endParaRPr lang="en-US" b="1" dirty="0">
              <a:latin typeface="Calibri" panose="020F0502020204030204" pitchFamily="34" charset="0"/>
              <a:cs typeface="Calibri" panose="020F0502020204030204" pitchFamily="34" charset="0"/>
            </a:endParaRPr>
          </a:p>
          <a:p>
            <a:pPr marL="285750" indent="-285750">
              <a:buFont typeface="Wingdings" panose="05000000000000000000" pitchFamily="2" charset="2"/>
              <a:buChar char="v"/>
            </a:pPr>
            <a:r>
              <a:rPr lang="en-US" b="1" dirty="0">
                <a:latin typeface="Calibri" panose="020F0502020204030204" pitchFamily="34" charset="0"/>
                <a:cs typeface="Calibri" panose="020F0502020204030204" pitchFamily="34" charset="0"/>
              </a:rPr>
              <a:t> Also giving proper training  on App Usage like marking ‘Order as Picked up’,    ’Delivered’, ’In Transit’ etc. Thus helping manager to track their live progress and can thus identify and solve problem.</a:t>
            </a:r>
          </a:p>
          <a:p>
            <a:pPr marL="285750" indent="-285750">
              <a:buFont typeface="Wingdings" panose="05000000000000000000" pitchFamily="2" charset="2"/>
              <a:buChar char="v"/>
            </a:pPr>
            <a:endParaRPr lang="en-US" b="1" dirty="0">
              <a:latin typeface="Calibri" panose="020F0502020204030204" pitchFamily="34" charset="0"/>
              <a:cs typeface="Calibri" panose="020F0502020204030204" pitchFamily="34" charset="0"/>
            </a:endParaRPr>
          </a:p>
          <a:p>
            <a:pPr marL="285750" indent="-285750">
              <a:buFont typeface="Wingdings" panose="05000000000000000000" pitchFamily="2" charset="2"/>
              <a:buChar char="v"/>
            </a:pPr>
            <a:r>
              <a:rPr lang="en-US" b="1" dirty="0">
                <a:latin typeface="Calibri" panose="020F0502020204030204" pitchFamily="34" charset="0"/>
                <a:cs typeface="Calibri" panose="020F0502020204030204" pitchFamily="34" charset="0"/>
              </a:rPr>
              <a:t>Encouraging them by providing bonuses like cash or gift vouchers on achieving target. Thus increasing their performance.</a:t>
            </a:r>
            <a:endParaRPr lang="en-IN"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582779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6E94C72-E331-A284-D096-FCBD2BA5F2D8}"/>
              </a:ext>
            </a:extLst>
          </p:cNvPr>
          <p:cNvSpPr/>
          <p:nvPr/>
        </p:nvSpPr>
        <p:spPr>
          <a:xfrm>
            <a:off x="894961" y="867715"/>
            <a:ext cx="6489066" cy="19541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latin typeface="Calibri" panose="020F0502020204030204" pitchFamily="34" charset="0"/>
                <a:cs typeface="Calibri" panose="020F0502020204030204" pitchFamily="34" charset="0"/>
              </a:rPr>
              <a:t>SELECT  st.order_id,  st.checkpoint_time  FROM </a:t>
            </a:r>
          </a:p>
          <a:p>
            <a:r>
              <a:rPr lang="en-US" dirty="0">
                <a:latin typeface="Calibri" panose="020F0502020204030204" pitchFamily="34" charset="0"/>
                <a:cs typeface="Calibri" panose="020F0502020204030204" pitchFamily="34" charset="0"/>
              </a:rPr>
              <a:t>(SELECT order_id, MAX(checkpoint_time) AS last_checkpoint_time  </a:t>
            </a:r>
          </a:p>
          <a:p>
            <a:r>
              <a:rPr lang="en-US" dirty="0">
                <a:latin typeface="Calibri" panose="020F0502020204030204" pitchFamily="34" charset="0"/>
                <a:cs typeface="Calibri" panose="020F0502020204030204" pitchFamily="34" charset="0"/>
              </a:rPr>
              <a:t>FROM shipment_tracking  </a:t>
            </a:r>
          </a:p>
          <a:p>
            <a:r>
              <a:rPr lang="en-US" dirty="0">
                <a:latin typeface="Calibri" panose="020F0502020204030204" pitchFamily="34" charset="0"/>
                <a:cs typeface="Calibri" panose="020F0502020204030204" pitchFamily="34" charset="0"/>
              </a:rPr>
              <a:t>GROUP BY order_id)</a:t>
            </a:r>
          </a:p>
          <a:p>
            <a:r>
              <a:rPr lang="en-US" dirty="0">
                <a:latin typeface="Calibri" panose="020F0502020204030204" pitchFamily="34" charset="0"/>
                <a:cs typeface="Calibri" panose="020F0502020204030204" pitchFamily="34" charset="0"/>
              </a:rPr>
              <a:t>JOIN shipment_tracking.st  </a:t>
            </a:r>
          </a:p>
          <a:p>
            <a:r>
              <a:rPr lang="en-US" dirty="0">
                <a:latin typeface="Calibri" panose="020F0502020204030204" pitchFamily="34" charset="0"/>
                <a:cs typeface="Calibri" panose="020F0502020204030204" pitchFamily="34" charset="0"/>
              </a:rPr>
              <a:t>ON st.order_id = s.order_id  </a:t>
            </a:r>
          </a:p>
          <a:p>
            <a:r>
              <a:rPr lang="en-US" dirty="0">
                <a:latin typeface="Calibri" panose="020F0502020204030204" pitchFamily="34" charset="0"/>
                <a:cs typeface="Calibri" panose="020F0502020204030204" pitchFamily="34" charset="0"/>
              </a:rPr>
              <a:t>AND st.checkpoint_time = s.last_checkpoint_time;</a:t>
            </a:r>
            <a:endParaRPr lang="en-IN"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365AC283-0287-B0C8-6D30-DA044BB97BED}"/>
              </a:ext>
            </a:extLst>
          </p:cNvPr>
          <p:cNvSpPr txBox="1"/>
          <p:nvPr/>
        </p:nvSpPr>
        <p:spPr>
          <a:xfrm>
            <a:off x="3303639" y="147069"/>
            <a:ext cx="5869857" cy="461665"/>
          </a:xfrm>
          <a:prstGeom prst="rect">
            <a:avLst/>
          </a:prstGeom>
          <a:noFill/>
        </p:spPr>
        <p:txBody>
          <a:bodyPr wrap="square" rtlCol="0">
            <a:spAutoFit/>
          </a:bodyPr>
          <a:lstStyle/>
          <a:p>
            <a:r>
              <a:rPr lang="en-US" sz="2400" b="1" dirty="0">
                <a:solidFill>
                  <a:schemeClr val="accent1"/>
                </a:solidFill>
                <a:latin typeface="Calibri" panose="020F0502020204030204" pitchFamily="34" charset="0"/>
                <a:cs typeface="Calibri" panose="020F0502020204030204" pitchFamily="34" charset="0"/>
              </a:rPr>
              <a:t>TASK 6- SHIPMENT TRACKING ANALYTICS</a:t>
            </a:r>
            <a:endParaRPr lang="en-IN" sz="2400" b="1" dirty="0">
              <a:solidFill>
                <a:schemeClr val="accent1"/>
              </a:solidFill>
              <a:latin typeface="Calibri" panose="020F0502020204030204" pitchFamily="34" charset="0"/>
              <a:cs typeface="Calibri" panose="020F0502020204030204" pitchFamily="34" charset="0"/>
            </a:endParaRPr>
          </a:p>
        </p:txBody>
      </p:sp>
      <p:graphicFrame>
        <p:nvGraphicFramePr>
          <p:cNvPr id="2" name="Table 1">
            <a:extLst>
              <a:ext uri="{FF2B5EF4-FFF2-40B4-BE49-F238E27FC236}">
                <a16:creationId xmlns:a16="http://schemas.microsoft.com/office/drawing/2014/main" id="{D9E6FBCA-26DA-55E5-5383-628B9EED0ABF}"/>
              </a:ext>
            </a:extLst>
          </p:cNvPr>
          <p:cNvGraphicFramePr>
            <a:graphicFrameLocks noGrp="1"/>
          </p:cNvGraphicFramePr>
          <p:nvPr>
            <p:extLst>
              <p:ext uri="{D42A27DB-BD31-4B8C-83A1-F6EECF244321}">
                <p14:modId xmlns:p14="http://schemas.microsoft.com/office/powerpoint/2010/main" val="2057996451"/>
              </p:ext>
            </p:extLst>
          </p:nvPr>
        </p:nvGraphicFramePr>
        <p:xfrm>
          <a:off x="894961" y="3429000"/>
          <a:ext cx="2687842" cy="2006178"/>
        </p:xfrm>
        <a:graphic>
          <a:graphicData uri="http://schemas.openxmlformats.org/drawingml/2006/table">
            <a:tbl>
              <a:tblPr firstRow="1" bandRow="1">
                <a:tableStyleId>{5C22544A-7EE6-4342-B048-85BDC9FD1C3A}</a:tableStyleId>
              </a:tblPr>
              <a:tblGrid>
                <a:gridCol w="990938">
                  <a:extLst>
                    <a:ext uri="{9D8B030D-6E8A-4147-A177-3AD203B41FA5}">
                      <a16:colId xmlns:a16="http://schemas.microsoft.com/office/drawing/2014/main" val="1663656938"/>
                    </a:ext>
                  </a:extLst>
                </a:gridCol>
                <a:gridCol w="1696904">
                  <a:extLst>
                    <a:ext uri="{9D8B030D-6E8A-4147-A177-3AD203B41FA5}">
                      <a16:colId xmlns:a16="http://schemas.microsoft.com/office/drawing/2014/main" val="2518909890"/>
                    </a:ext>
                  </a:extLst>
                </a:gridCol>
              </a:tblGrid>
              <a:tr h="334363">
                <a:tc>
                  <a:txBody>
                    <a:bodyPr/>
                    <a:lstStyle/>
                    <a:p>
                      <a:pPr algn="ctr" fontAlgn="b">
                        <a:buNone/>
                      </a:pPr>
                      <a:r>
                        <a:rPr lang="en-IN" sz="1200" b="1" i="0" u="none" strike="noStrike" dirty="0">
                          <a:solidFill>
                            <a:schemeClr val="bg1"/>
                          </a:solidFill>
                          <a:effectLst/>
                          <a:latin typeface="Calibri" panose="020F0502020204030204" pitchFamily="34" charset="0"/>
                        </a:rPr>
                        <a:t>Order ID</a:t>
                      </a:r>
                    </a:p>
                  </a:txBody>
                  <a:tcPr marL="7620" marR="7620" marT="7620" marB="0" anchor="b">
                    <a:solidFill>
                      <a:schemeClr val="accent1"/>
                    </a:solidFill>
                  </a:tcPr>
                </a:tc>
                <a:tc>
                  <a:txBody>
                    <a:bodyPr/>
                    <a:lstStyle/>
                    <a:p>
                      <a:pPr algn="ctr" fontAlgn="b">
                        <a:buNone/>
                      </a:pPr>
                      <a:r>
                        <a:rPr lang="en-IN" sz="1200" b="1" i="0" u="none" strike="noStrike" dirty="0">
                          <a:solidFill>
                            <a:schemeClr val="bg1"/>
                          </a:solidFill>
                          <a:effectLst/>
                          <a:latin typeface="Calibri" panose="020F0502020204030204" pitchFamily="34" charset="0"/>
                        </a:rPr>
                        <a:t>Checkpoint Time</a:t>
                      </a:r>
                    </a:p>
                  </a:txBody>
                  <a:tcPr marL="7620" marR="7620" marT="7620" marB="0" anchor="b">
                    <a:solidFill>
                      <a:schemeClr val="accent1"/>
                    </a:solidFill>
                  </a:tcPr>
                </a:tc>
                <a:extLst>
                  <a:ext uri="{0D108BD9-81ED-4DB2-BD59-A6C34878D82A}">
                    <a16:rowId xmlns:a16="http://schemas.microsoft.com/office/drawing/2014/main" val="2683296073"/>
                  </a:ext>
                </a:extLst>
              </a:tr>
              <a:tr h="334363">
                <a:tc>
                  <a:txBody>
                    <a:bodyPr/>
                    <a:lstStyle/>
                    <a:p>
                      <a:pPr algn="ctr" fontAlgn="b">
                        <a:buNone/>
                      </a:pPr>
                      <a:r>
                        <a:rPr lang="en-IN" sz="1200" b="1" i="0" u="none" strike="noStrike" dirty="0">
                          <a:solidFill>
                            <a:schemeClr val="bg1"/>
                          </a:solidFill>
                          <a:effectLst/>
                          <a:latin typeface="Calibri" panose="020F0502020204030204" pitchFamily="34" charset="0"/>
                        </a:rPr>
                        <a:t>FLP-ORD-0021</a:t>
                      </a:r>
                    </a:p>
                  </a:txBody>
                  <a:tcPr marL="7620" marR="7620" marT="7620" marB="0" anchor="b">
                    <a:solidFill>
                      <a:schemeClr val="accent1"/>
                    </a:solidFill>
                  </a:tcPr>
                </a:tc>
                <a:tc>
                  <a:txBody>
                    <a:bodyPr/>
                    <a:lstStyle/>
                    <a:p>
                      <a:pPr algn="ctr" fontAlgn="b">
                        <a:buNone/>
                      </a:pPr>
                      <a:r>
                        <a:rPr lang="en-IN" sz="1200" b="1" i="0" u="none" strike="noStrike" dirty="0">
                          <a:solidFill>
                            <a:schemeClr val="bg1"/>
                          </a:solidFill>
                          <a:effectLst/>
                          <a:latin typeface="Calibri" panose="020F0502020204030204" pitchFamily="34" charset="0"/>
                        </a:rPr>
                        <a:t>21-08-2025 18:46</a:t>
                      </a:r>
                    </a:p>
                  </a:txBody>
                  <a:tcPr marL="7620" marR="7620" marT="7620" marB="0" anchor="b">
                    <a:solidFill>
                      <a:schemeClr val="accent1"/>
                    </a:solidFill>
                  </a:tcPr>
                </a:tc>
                <a:extLst>
                  <a:ext uri="{0D108BD9-81ED-4DB2-BD59-A6C34878D82A}">
                    <a16:rowId xmlns:a16="http://schemas.microsoft.com/office/drawing/2014/main" val="2146907300"/>
                  </a:ext>
                </a:extLst>
              </a:tr>
              <a:tr h="334363">
                <a:tc>
                  <a:txBody>
                    <a:bodyPr/>
                    <a:lstStyle/>
                    <a:p>
                      <a:pPr algn="ctr" fontAlgn="b">
                        <a:buNone/>
                      </a:pPr>
                      <a:r>
                        <a:rPr lang="en-IN" sz="1200" b="1" i="0" u="none" strike="noStrike" dirty="0">
                          <a:solidFill>
                            <a:schemeClr val="bg1"/>
                          </a:solidFill>
                          <a:effectLst/>
                          <a:latin typeface="Calibri" panose="020F0502020204030204" pitchFamily="34" charset="0"/>
                        </a:rPr>
                        <a:t>FLP-ORD-0283</a:t>
                      </a:r>
                    </a:p>
                  </a:txBody>
                  <a:tcPr marL="7620" marR="7620" marT="7620" marB="0" anchor="b">
                    <a:solidFill>
                      <a:schemeClr val="accent1"/>
                    </a:solidFill>
                  </a:tcPr>
                </a:tc>
                <a:tc>
                  <a:txBody>
                    <a:bodyPr/>
                    <a:lstStyle/>
                    <a:p>
                      <a:pPr algn="ctr" fontAlgn="b">
                        <a:buNone/>
                      </a:pPr>
                      <a:r>
                        <a:rPr lang="en-IN" sz="1200" b="1" i="0" u="none" strike="noStrike" dirty="0">
                          <a:solidFill>
                            <a:schemeClr val="bg1"/>
                          </a:solidFill>
                          <a:effectLst/>
                          <a:latin typeface="Calibri" panose="020F0502020204030204" pitchFamily="34" charset="0"/>
                        </a:rPr>
                        <a:t>25-07-2025 14:34</a:t>
                      </a:r>
                    </a:p>
                  </a:txBody>
                  <a:tcPr marL="7620" marR="7620" marT="7620" marB="0" anchor="b">
                    <a:solidFill>
                      <a:schemeClr val="accent1"/>
                    </a:solidFill>
                  </a:tcPr>
                </a:tc>
                <a:extLst>
                  <a:ext uri="{0D108BD9-81ED-4DB2-BD59-A6C34878D82A}">
                    <a16:rowId xmlns:a16="http://schemas.microsoft.com/office/drawing/2014/main" val="1396510224"/>
                  </a:ext>
                </a:extLst>
              </a:tr>
              <a:tr h="334363">
                <a:tc>
                  <a:txBody>
                    <a:bodyPr/>
                    <a:lstStyle/>
                    <a:p>
                      <a:pPr algn="ctr" fontAlgn="b">
                        <a:buNone/>
                      </a:pPr>
                      <a:r>
                        <a:rPr lang="en-IN" sz="1200" b="1" i="0" u="none" strike="noStrike" dirty="0">
                          <a:solidFill>
                            <a:schemeClr val="bg1"/>
                          </a:solidFill>
                          <a:effectLst/>
                          <a:latin typeface="Calibri" panose="020F0502020204030204" pitchFamily="34" charset="0"/>
                        </a:rPr>
                        <a:t>FLP-ORD-0134</a:t>
                      </a:r>
                    </a:p>
                  </a:txBody>
                  <a:tcPr marL="7620" marR="7620" marT="7620" marB="0" anchor="b">
                    <a:solidFill>
                      <a:schemeClr val="accent1"/>
                    </a:solidFill>
                  </a:tcPr>
                </a:tc>
                <a:tc>
                  <a:txBody>
                    <a:bodyPr/>
                    <a:lstStyle/>
                    <a:p>
                      <a:pPr algn="ctr" fontAlgn="b">
                        <a:buNone/>
                      </a:pPr>
                      <a:r>
                        <a:rPr lang="en-IN" sz="1200" b="1" i="0" u="none" strike="noStrike" dirty="0">
                          <a:solidFill>
                            <a:schemeClr val="bg1"/>
                          </a:solidFill>
                          <a:effectLst/>
                          <a:latin typeface="Calibri" panose="020F0502020204030204" pitchFamily="34" charset="0"/>
                        </a:rPr>
                        <a:t>26-08-2025 15:29</a:t>
                      </a:r>
                    </a:p>
                  </a:txBody>
                  <a:tcPr marL="7620" marR="7620" marT="7620" marB="0" anchor="b">
                    <a:solidFill>
                      <a:schemeClr val="accent1"/>
                    </a:solidFill>
                  </a:tcPr>
                </a:tc>
                <a:extLst>
                  <a:ext uri="{0D108BD9-81ED-4DB2-BD59-A6C34878D82A}">
                    <a16:rowId xmlns:a16="http://schemas.microsoft.com/office/drawing/2014/main" val="2012005135"/>
                  </a:ext>
                </a:extLst>
              </a:tr>
              <a:tr h="334363">
                <a:tc>
                  <a:txBody>
                    <a:bodyPr/>
                    <a:lstStyle/>
                    <a:p>
                      <a:pPr algn="ctr" fontAlgn="b">
                        <a:buNone/>
                      </a:pPr>
                      <a:r>
                        <a:rPr lang="en-IN" sz="1200" b="1" i="0" u="none" strike="noStrike" dirty="0">
                          <a:solidFill>
                            <a:schemeClr val="bg1"/>
                          </a:solidFill>
                          <a:effectLst/>
                          <a:latin typeface="Calibri" panose="020F0502020204030204" pitchFamily="34" charset="0"/>
                        </a:rPr>
                        <a:t>FLP-ORD-0126</a:t>
                      </a:r>
                    </a:p>
                  </a:txBody>
                  <a:tcPr marL="7620" marR="7620" marT="7620" marB="0" anchor="b">
                    <a:solidFill>
                      <a:schemeClr val="accent1"/>
                    </a:solidFill>
                  </a:tcPr>
                </a:tc>
                <a:tc>
                  <a:txBody>
                    <a:bodyPr/>
                    <a:lstStyle/>
                    <a:p>
                      <a:pPr algn="ctr" fontAlgn="b">
                        <a:buNone/>
                      </a:pPr>
                      <a:r>
                        <a:rPr lang="en-IN" sz="1200" b="1" i="0" u="none" strike="noStrike" dirty="0">
                          <a:solidFill>
                            <a:schemeClr val="bg1"/>
                          </a:solidFill>
                          <a:effectLst/>
                          <a:latin typeface="Calibri" panose="020F0502020204030204" pitchFamily="34" charset="0"/>
                        </a:rPr>
                        <a:t>11-08-2025 21:21</a:t>
                      </a:r>
                    </a:p>
                  </a:txBody>
                  <a:tcPr marL="7620" marR="7620" marT="7620" marB="0" anchor="b">
                    <a:solidFill>
                      <a:schemeClr val="accent1"/>
                    </a:solidFill>
                  </a:tcPr>
                </a:tc>
                <a:extLst>
                  <a:ext uri="{0D108BD9-81ED-4DB2-BD59-A6C34878D82A}">
                    <a16:rowId xmlns:a16="http://schemas.microsoft.com/office/drawing/2014/main" val="3872729510"/>
                  </a:ext>
                </a:extLst>
              </a:tr>
              <a:tr h="334363">
                <a:tc>
                  <a:txBody>
                    <a:bodyPr/>
                    <a:lstStyle/>
                    <a:p>
                      <a:pPr algn="ctr" fontAlgn="b">
                        <a:buNone/>
                      </a:pPr>
                      <a:r>
                        <a:rPr lang="en-IN" sz="1200" b="1" i="0" u="none" strike="noStrike" dirty="0">
                          <a:solidFill>
                            <a:schemeClr val="bg1"/>
                          </a:solidFill>
                          <a:effectLst/>
                          <a:latin typeface="Calibri" panose="020F0502020204030204" pitchFamily="34" charset="0"/>
                        </a:rPr>
                        <a:t>FLP-ORD-0280</a:t>
                      </a:r>
                    </a:p>
                  </a:txBody>
                  <a:tcPr marL="7620" marR="7620" marT="7620" marB="0" anchor="b">
                    <a:solidFill>
                      <a:schemeClr val="accent1"/>
                    </a:solidFill>
                  </a:tcPr>
                </a:tc>
                <a:tc>
                  <a:txBody>
                    <a:bodyPr/>
                    <a:lstStyle/>
                    <a:p>
                      <a:pPr algn="ctr" fontAlgn="b">
                        <a:buNone/>
                      </a:pPr>
                      <a:r>
                        <a:rPr lang="en-IN" sz="1200" b="1" i="0" u="none" strike="noStrike" dirty="0">
                          <a:solidFill>
                            <a:schemeClr val="bg1"/>
                          </a:solidFill>
                          <a:effectLst/>
                          <a:latin typeface="Calibri" panose="020F0502020204030204" pitchFamily="34" charset="0"/>
                        </a:rPr>
                        <a:t>28-08-2025 17:41</a:t>
                      </a:r>
                    </a:p>
                  </a:txBody>
                  <a:tcPr marL="7620" marR="7620" marT="7620" marB="0" anchor="b">
                    <a:solidFill>
                      <a:schemeClr val="accent1"/>
                    </a:solidFill>
                  </a:tcPr>
                </a:tc>
                <a:extLst>
                  <a:ext uri="{0D108BD9-81ED-4DB2-BD59-A6C34878D82A}">
                    <a16:rowId xmlns:a16="http://schemas.microsoft.com/office/drawing/2014/main" val="589531141"/>
                  </a:ext>
                </a:extLst>
              </a:tr>
            </a:tbl>
          </a:graphicData>
        </a:graphic>
      </p:graphicFrame>
      <p:sp>
        <p:nvSpPr>
          <p:cNvPr id="3" name="TextBox 2">
            <a:extLst>
              <a:ext uri="{FF2B5EF4-FFF2-40B4-BE49-F238E27FC236}">
                <a16:creationId xmlns:a16="http://schemas.microsoft.com/office/drawing/2014/main" id="{DB806384-4EE2-9013-BB8A-B4BC12AF3565}"/>
              </a:ext>
            </a:extLst>
          </p:cNvPr>
          <p:cNvSpPr txBox="1"/>
          <p:nvPr/>
        </p:nvSpPr>
        <p:spPr>
          <a:xfrm>
            <a:off x="796414" y="2988506"/>
            <a:ext cx="3725315" cy="369332"/>
          </a:xfrm>
          <a:prstGeom prst="rect">
            <a:avLst/>
          </a:prstGeom>
          <a:noFill/>
        </p:spPr>
        <p:txBody>
          <a:bodyPr wrap="none" rtlCol="0">
            <a:spAutoFit/>
          </a:bodyPr>
          <a:lstStyle/>
          <a:p>
            <a:r>
              <a:rPr lang="en-US" b="1" dirty="0">
                <a:latin typeface="Calibri" panose="020F0502020204030204" pitchFamily="34" charset="0"/>
                <a:cs typeface="Calibri" panose="020F0502020204030204" pitchFamily="34" charset="0"/>
              </a:rPr>
              <a:t>Checkpoints and Time for each Order</a:t>
            </a:r>
            <a:endParaRPr lang="en-IN"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07010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9E074AC-A9C7-3708-04A0-651FD47289B9}"/>
              </a:ext>
            </a:extLst>
          </p:cNvPr>
          <p:cNvSpPr txBox="1"/>
          <p:nvPr/>
        </p:nvSpPr>
        <p:spPr>
          <a:xfrm>
            <a:off x="718458" y="584537"/>
            <a:ext cx="3862873" cy="2031325"/>
          </a:xfrm>
          <a:prstGeom prst="rect">
            <a:avLst/>
          </a:prstGeom>
          <a:noFill/>
        </p:spPr>
        <p:txBody>
          <a:bodyPr wrap="square" rtlCol="0">
            <a:spAutoFit/>
          </a:bodyPr>
          <a:lstStyle/>
          <a:p>
            <a:r>
              <a:rPr lang="en-US" dirty="0"/>
              <a:t>SELECT delay_reason,COUNT(*) AS total_occurrences FROM shipment_tracking WHERE delay_reason IS NOT NULL  AND delay_reason &lt;&gt; 'None’</a:t>
            </a:r>
          </a:p>
          <a:p>
            <a:r>
              <a:rPr lang="en-US" dirty="0"/>
              <a:t>GROUP BY delay_reason </a:t>
            </a:r>
          </a:p>
          <a:p>
            <a:r>
              <a:rPr lang="en-US" dirty="0"/>
              <a:t>ORDER BY total_occurrences DESC;</a:t>
            </a:r>
            <a:endParaRPr lang="en-IN" dirty="0"/>
          </a:p>
        </p:txBody>
      </p:sp>
      <p:sp>
        <p:nvSpPr>
          <p:cNvPr id="7" name="Rectangle 6">
            <a:extLst>
              <a:ext uri="{FF2B5EF4-FFF2-40B4-BE49-F238E27FC236}">
                <a16:creationId xmlns:a16="http://schemas.microsoft.com/office/drawing/2014/main" id="{C35F3D39-2121-7DA6-4737-686E347D1592}"/>
              </a:ext>
            </a:extLst>
          </p:cNvPr>
          <p:cNvSpPr/>
          <p:nvPr/>
        </p:nvSpPr>
        <p:spPr>
          <a:xfrm>
            <a:off x="802433" y="597159"/>
            <a:ext cx="4422710" cy="19967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latin typeface="Calibri" panose="020F0502020204030204" pitchFamily="34" charset="0"/>
                <a:cs typeface="Calibri" panose="020F0502020204030204" pitchFamily="34" charset="0"/>
              </a:rPr>
              <a:t>SELECT Delay_Reason, COUNT(*) AS Total_Count FROM Shipment_Tracking WHERE Delay_Reason IS NOT NULL </a:t>
            </a:r>
          </a:p>
          <a:p>
            <a:r>
              <a:rPr lang="en-US" dirty="0">
                <a:latin typeface="Calibri" panose="020F0502020204030204" pitchFamily="34" charset="0"/>
                <a:cs typeface="Calibri" panose="020F0502020204030204" pitchFamily="34" charset="0"/>
              </a:rPr>
              <a:t>AND Delay_Reason &lt;&gt; 'None’ </a:t>
            </a:r>
          </a:p>
          <a:p>
            <a:r>
              <a:rPr lang="en-US" dirty="0">
                <a:latin typeface="Calibri" panose="020F0502020204030204" pitchFamily="34" charset="0"/>
                <a:cs typeface="Calibri" panose="020F0502020204030204" pitchFamily="34" charset="0"/>
              </a:rPr>
              <a:t>GROUP BY Delay_Reason </a:t>
            </a:r>
          </a:p>
          <a:p>
            <a:r>
              <a:rPr lang="en-US" dirty="0">
                <a:latin typeface="Calibri" panose="020F0502020204030204" pitchFamily="34" charset="0"/>
                <a:cs typeface="Calibri" panose="020F0502020204030204" pitchFamily="34" charset="0"/>
              </a:rPr>
              <a:t>ORDER BY Total_Count DESC;</a:t>
            </a:r>
            <a:endParaRPr lang="en-IN" dirty="0">
              <a:latin typeface="Calibri" panose="020F0502020204030204" pitchFamily="34" charset="0"/>
              <a:cs typeface="Calibri" panose="020F0502020204030204" pitchFamily="34" charset="0"/>
            </a:endParaRPr>
          </a:p>
        </p:txBody>
      </p:sp>
      <p:graphicFrame>
        <p:nvGraphicFramePr>
          <p:cNvPr id="8" name="Chart 7">
            <a:extLst>
              <a:ext uri="{FF2B5EF4-FFF2-40B4-BE49-F238E27FC236}">
                <a16:creationId xmlns:a16="http://schemas.microsoft.com/office/drawing/2014/main" id="{CD711DDF-78BF-D75C-E0C7-1488F0EED4C9}"/>
              </a:ext>
            </a:extLst>
          </p:cNvPr>
          <p:cNvGraphicFramePr>
            <a:graphicFrameLocks/>
          </p:cNvGraphicFramePr>
          <p:nvPr>
            <p:extLst>
              <p:ext uri="{D42A27DB-BD31-4B8C-83A1-F6EECF244321}">
                <p14:modId xmlns:p14="http://schemas.microsoft.com/office/powerpoint/2010/main" val="3484733857"/>
              </p:ext>
            </p:extLst>
          </p:nvPr>
        </p:nvGraphicFramePr>
        <p:xfrm>
          <a:off x="802433" y="3094854"/>
          <a:ext cx="4723296" cy="275582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Table 8">
            <a:extLst>
              <a:ext uri="{FF2B5EF4-FFF2-40B4-BE49-F238E27FC236}">
                <a16:creationId xmlns:a16="http://schemas.microsoft.com/office/drawing/2014/main" id="{9B5744D4-3492-475B-FF83-F8FB5020F5BA}"/>
              </a:ext>
            </a:extLst>
          </p:cNvPr>
          <p:cNvGraphicFramePr>
            <a:graphicFrameLocks noGrp="1"/>
          </p:cNvGraphicFramePr>
          <p:nvPr>
            <p:extLst>
              <p:ext uri="{D42A27DB-BD31-4B8C-83A1-F6EECF244321}">
                <p14:modId xmlns:p14="http://schemas.microsoft.com/office/powerpoint/2010/main" val="374492433"/>
              </p:ext>
            </p:extLst>
          </p:nvPr>
        </p:nvGraphicFramePr>
        <p:xfrm>
          <a:off x="6653029" y="584537"/>
          <a:ext cx="2771192" cy="1429083"/>
        </p:xfrm>
        <a:graphic>
          <a:graphicData uri="http://schemas.openxmlformats.org/drawingml/2006/table">
            <a:tbl>
              <a:tblPr/>
              <a:tblGrid>
                <a:gridCol w="1166326">
                  <a:extLst>
                    <a:ext uri="{9D8B030D-6E8A-4147-A177-3AD203B41FA5}">
                      <a16:colId xmlns:a16="http://schemas.microsoft.com/office/drawing/2014/main" val="285561353"/>
                    </a:ext>
                  </a:extLst>
                </a:gridCol>
                <a:gridCol w="1604866">
                  <a:extLst>
                    <a:ext uri="{9D8B030D-6E8A-4147-A177-3AD203B41FA5}">
                      <a16:colId xmlns:a16="http://schemas.microsoft.com/office/drawing/2014/main" val="3220432178"/>
                    </a:ext>
                  </a:extLst>
                </a:gridCol>
              </a:tblGrid>
              <a:tr h="487179">
                <a:tc>
                  <a:txBody>
                    <a:bodyPr/>
                    <a:lstStyle/>
                    <a:p>
                      <a:pPr algn="ctr" fontAlgn="b">
                        <a:buNone/>
                      </a:pPr>
                      <a:r>
                        <a:rPr lang="en-US" sz="1400" b="1" i="0" u="none" strike="noStrike" dirty="0">
                          <a:solidFill>
                            <a:srgbClr val="000000"/>
                          </a:solidFill>
                          <a:effectLst/>
                          <a:latin typeface="Calibri" panose="020F0502020204030204" pitchFamily="34" charset="0"/>
                        </a:rPr>
                        <a:t>D</a:t>
                      </a:r>
                      <a:r>
                        <a:rPr lang="en-IN" sz="1400" b="1" i="0" u="none" strike="noStrike" dirty="0">
                          <a:solidFill>
                            <a:srgbClr val="000000"/>
                          </a:solidFill>
                          <a:effectLst/>
                          <a:latin typeface="Calibri" panose="020F0502020204030204" pitchFamily="34" charset="0"/>
                        </a:rPr>
                        <a:t>elay Reason</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400" b="1" i="0" u="none" strike="noStrike" dirty="0">
                          <a:solidFill>
                            <a:srgbClr val="000000"/>
                          </a:solidFill>
                          <a:effectLst/>
                          <a:latin typeface="Calibri" panose="020F0502020204030204" pitchFamily="34" charset="0"/>
                        </a:rPr>
                        <a:t>T</a:t>
                      </a:r>
                      <a:r>
                        <a:rPr lang="en-IN" sz="1400" b="1" i="0" u="none" strike="noStrike" dirty="0">
                          <a:solidFill>
                            <a:srgbClr val="000000"/>
                          </a:solidFill>
                          <a:effectLst/>
                          <a:latin typeface="Calibri" panose="020F0502020204030204" pitchFamily="34" charset="0"/>
                        </a:rPr>
                        <a:t>otal Count</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40849996"/>
                  </a:ext>
                </a:extLst>
              </a:tr>
              <a:tr h="294968">
                <a:tc>
                  <a:txBody>
                    <a:bodyPr/>
                    <a:lstStyle/>
                    <a:p>
                      <a:pPr algn="ctr" fontAlgn="b">
                        <a:buNone/>
                      </a:pPr>
                      <a:r>
                        <a:rPr lang="en-IN" sz="1400" b="1" i="0" u="none" strike="noStrike" dirty="0">
                          <a:solidFill>
                            <a:srgbClr val="000000"/>
                          </a:solidFill>
                          <a:effectLst/>
                          <a:latin typeface="Calibri" panose="020F0502020204030204" pitchFamily="34" charset="0"/>
                        </a:rPr>
                        <a:t>Traffic</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1400" b="1" i="0" u="none" strike="noStrike" dirty="0">
                          <a:solidFill>
                            <a:srgbClr val="000000"/>
                          </a:solidFill>
                          <a:effectLst/>
                          <a:latin typeface="Calibri" panose="020F0502020204030204" pitchFamily="34" charset="0"/>
                        </a:rPr>
                        <a:t>115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39828186"/>
                  </a:ext>
                </a:extLst>
              </a:tr>
              <a:tr h="323468">
                <a:tc>
                  <a:txBody>
                    <a:bodyPr/>
                    <a:lstStyle/>
                    <a:p>
                      <a:pPr algn="ctr" fontAlgn="b">
                        <a:buNone/>
                      </a:pPr>
                      <a:r>
                        <a:rPr lang="en-IN" sz="1400" b="1" i="0" u="none" strike="noStrike" dirty="0">
                          <a:solidFill>
                            <a:srgbClr val="000000"/>
                          </a:solidFill>
                          <a:effectLst/>
                          <a:latin typeface="Calibri" panose="020F0502020204030204" pitchFamily="34" charset="0"/>
                        </a:rPr>
                        <a:t>Weather</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1400" b="1" i="0" u="none" strike="noStrike" dirty="0">
                          <a:solidFill>
                            <a:srgbClr val="000000"/>
                          </a:solidFill>
                          <a:effectLst/>
                          <a:latin typeface="Calibri" panose="020F0502020204030204" pitchFamily="34" charset="0"/>
                        </a:rPr>
                        <a:t>56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3536334"/>
                  </a:ext>
                </a:extLst>
              </a:tr>
              <a:tr h="323468">
                <a:tc>
                  <a:txBody>
                    <a:bodyPr/>
                    <a:lstStyle/>
                    <a:p>
                      <a:pPr algn="ctr" fontAlgn="b">
                        <a:buNone/>
                      </a:pPr>
                      <a:r>
                        <a:rPr lang="en-IN" sz="1400" b="1" i="0" u="none" strike="noStrike" dirty="0">
                          <a:solidFill>
                            <a:srgbClr val="000000"/>
                          </a:solidFill>
                          <a:effectLst/>
                          <a:latin typeface="Calibri" panose="020F0502020204030204" pitchFamily="34" charset="0"/>
                        </a:rPr>
                        <a:t>Technical Issue</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1400" b="1" i="0" u="none" strike="noStrike" dirty="0">
                          <a:solidFill>
                            <a:srgbClr val="000000"/>
                          </a:solidFill>
                          <a:effectLst/>
                          <a:latin typeface="Calibri" panose="020F0502020204030204" pitchFamily="34" charset="0"/>
                        </a:rPr>
                        <a:t>29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86173808"/>
                  </a:ext>
                </a:extLst>
              </a:tr>
            </a:tbl>
          </a:graphicData>
        </a:graphic>
      </p:graphicFrame>
    </p:spTree>
    <p:extLst>
      <p:ext uri="{BB962C8B-B14F-4D97-AF65-F5344CB8AC3E}">
        <p14:creationId xmlns:p14="http://schemas.microsoft.com/office/powerpoint/2010/main" val="37390142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158A65E-5F21-E74C-1ED4-26FF935DE5B2}"/>
              </a:ext>
            </a:extLst>
          </p:cNvPr>
          <p:cNvSpPr/>
          <p:nvPr/>
        </p:nvSpPr>
        <p:spPr>
          <a:xfrm>
            <a:off x="688258" y="468107"/>
            <a:ext cx="9566787" cy="30971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latin typeface="Calibri" panose="020F0502020204030204" pitchFamily="34" charset="0"/>
                <a:cs typeface="Calibri" panose="020F0502020204030204" pitchFamily="34" charset="0"/>
              </a:rPr>
              <a:t>SELECT  order_id,  </a:t>
            </a:r>
          </a:p>
          <a:p>
            <a:r>
              <a:rPr lang="en-US" dirty="0">
                <a:latin typeface="Calibri" panose="020F0502020204030204" pitchFamily="34" charset="0"/>
                <a:cs typeface="Calibri" panose="020F0502020204030204" pitchFamily="34" charset="0"/>
              </a:rPr>
              <a:t>checkpoint,  </a:t>
            </a:r>
          </a:p>
          <a:p>
            <a:r>
              <a:rPr lang="en-US" dirty="0">
                <a:latin typeface="Calibri" panose="020F0502020204030204" pitchFamily="34" charset="0"/>
                <a:cs typeface="Calibri" panose="020F0502020204030204" pitchFamily="34" charset="0"/>
              </a:rPr>
              <a:t>delay_reason,  </a:t>
            </a:r>
          </a:p>
          <a:p>
            <a:r>
              <a:rPr lang="en-US" dirty="0">
                <a:latin typeface="Calibri" panose="020F0502020204030204" pitchFamily="34" charset="0"/>
                <a:cs typeface="Calibri" panose="020F0502020204030204" pitchFamily="34" charset="0"/>
              </a:rPr>
              <a:t>delay_minutes</a:t>
            </a:r>
          </a:p>
          <a:p>
            <a:r>
              <a:rPr lang="en-US" dirty="0">
                <a:latin typeface="Calibri" panose="020F0502020204030204" pitchFamily="34" charset="0"/>
                <a:cs typeface="Calibri" panose="020F0502020204030204" pitchFamily="34" charset="0"/>
              </a:rPr>
              <a:t>FROM shipment_tracking </a:t>
            </a:r>
          </a:p>
          <a:p>
            <a:r>
              <a:rPr lang="en-US" dirty="0">
                <a:latin typeface="Calibri" panose="020F0502020204030204" pitchFamily="34" charset="0"/>
                <a:cs typeface="Calibri" panose="020F0502020204030204" pitchFamily="34" charset="0"/>
              </a:rPr>
              <a:t>WHERE order_id IN (  SELECT order_id  FROM shipment_tracking  WHERE delay_reason IS NOT NULL    AND delay_reason &lt;&gt; 'None'    AND delay_minutes &gt; 0  GROUP BY order_id  HAVING COUNT(*) &gt; 2)</a:t>
            </a:r>
          </a:p>
          <a:p>
            <a:r>
              <a:rPr lang="en-US" dirty="0">
                <a:latin typeface="Calibri" panose="020F0502020204030204" pitchFamily="34" charset="0"/>
                <a:cs typeface="Calibri" panose="020F0502020204030204" pitchFamily="34" charset="0"/>
              </a:rPr>
              <a:t>ORDER BY order_id, checkpoint_time;</a:t>
            </a:r>
            <a:endParaRPr lang="en-IN"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01F0B27B-C362-B68E-774E-5BB8085E1C13}"/>
              </a:ext>
            </a:extLst>
          </p:cNvPr>
          <p:cNvSpPr txBox="1"/>
          <p:nvPr/>
        </p:nvSpPr>
        <p:spPr>
          <a:xfrm>
            <a:off x="609601" y="3997264"/>
            <a:ext cx="6096000" cy="369332"/>
          </a:xfrm>
          <a:prstGeom prst="rect">
            <a:avLst/>
          </a:prstGeom>
          <a:noFill/>
        </p:spPr>
        <p:txBody>
          <a:bodyPr wrap="square">
            <a:spAutoFit/>
          </a:bodyPr>
          <a:lstStyle/>
          <a:p>
            <a:r>
              <a:rPr lang="en-US" sz="1800" b="1" i="0" u="none" strike="noStrike" dirty="0">
                <a:effectLst/>
                <a:latin typeface="Calibri" panose="020F0502020204030204" pitchFamily="34" charset="0"/>
              </a:rPr>
              <a:t>order_id,</a:t>
            </a:r>
            <a:r>
              <a:rPr lang="en-US" b="1" dirty="0">
                <a:effectLst/>
              </a:rPr>
              <a:t> </a:t>
            </a:r>
            <a:r>
              <a:rPr lang="en-US" sz="1800" b="1" i="0" u="none" strike="noStrike" dirty="0">
                <a:effectLst/>
                <a:latin typeface="Calibri" panose="020F0502020204030204" pitchFamily="34" charset="0"/>
              </a:rPr>
              <a:t>checkpoint,</a:t>
            </a:r>
            <a:r>
              <a:rPr lang="en-US" b="1" dirty="0">
                <a:effectLst/>
              </a:rPr>
              <a:t> </a:t>
            </a:r>
            <a:r>
              <a:rPr lang="en-US" sz="1800" b="1" i="0" u="none" strike="noStrike" dirty="0">
                <a:effectLst/>
                <a:latin typeface="Calibri" panose="020F0502020204030204" pitchFamily="34" charset="0"/>
              </a:rPr>
              <a:t>delay_reason,</a:t>
            </a:r>
            <a:r>
              <a:rPr lang="en-US" b="1" dirty="0">
                <a:effectLst/>
              </a:rPr>
              <a:t> </a:t>
            </a:r>
            <a:r>
              <a:rPr lang="en-US" sz="1800" b="1" i="0" u="none" strike="noStrike" dirty="0">
                <a:effectLst/>
                <a:latin typeface="Calibri" panose="020F0502020204030204" pitchFamily="34" charset="0"/>
              </a:rPr>
              <a:t>delay_minutes</a:t>
            </a:r>
            <a:r>
              <a:rPr lang="en-US" b="1" dirty="0">
                <a:effectLst/>
              </a:rPr>
              <a:t> </a:t>
            </a:r>
            <a:endParaRPr lang="en-IN" b="1" dirty="0"/>
          </a:p>
        </p:txBody>
      </p:sp>
      <p:sp>
        <p:nvSpPr>
          <p:cNvPr id="8" name="TextBox 7">
            <a:extLst>
              <a:ext uri="{FF2B5EF4-FFF2-40B4-BE49-F238E27FC236}">
                <a16:creationId xmlns:a16="http://schemas.microsoft.com/office/drawing/2014/main" id="{761750C4-9604-A530-07D5-F201B1F585F6}"/>
              </a:ext>
            </a:extLst>
          </p:cNvPr>
          <p:cNvSpPr txBox="1"/>
          <p:nvPr/>
        </p:nvSpPr>
        <p:spPr>
          <a:xfrm>
            <a:off x="609601" y="5486357"/>
            <a:ext cx="8750709" cy="646331"/>
          </a:xfrm>
          <a:prstGeom prst="rect">
            <a:avLst/>
          </a:prstGeom>
          <a:noFill/>
        </p:spPr>
        <p:txBody>
          <a:bodyPr wrap="square" rtlCol="0">
            <a:spAutoFit/>
          </a:bodyPr>
          <a:lstStyle/>
          <a:p>
            <a:r>
              <a:rPr lang="en-US" b="1" dirty="0"/>
              <a:t>*On executing above query, only following column names appeared with no data indicating there was  no order with 2&gt;delay checkpoints.</a:t>
            </a:r>
            <a:endParaRPr lang="en-IN" b="1" dirty="0"/>
          </a:p>
        </p:txBody>
      </p:sp>
      <p:sp>
        <p:nvSpPr>
          <p:cNvPr id="9" name="Arrow: Up 8">
            <a:extLst>
              <a:ext uri="{FF2B5EF4-FFF2-40B4-BE49-F238E27FC236}">
                <a16:creationId xmlns:a16="http://schemas.microsoft.com/office/drawing/2014/main" id="{53DED137-177D-35B7-F6FE-E99EB56AD7DE}"/>
              </a:ext>
            </a:extLst>
          </p:cNvPr>
          <p:cNvSpPr/>
          <p:nvPr/>
        </p:nvSpPr>
        <p:spPr>
          <a:xfrm>
            <a:off x="5923935" y="3678874"/>
            <a:ext cx="978310" cy="1649673"/>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 name="Arrow: Up 9">
            <a:extLst>
              <a:ext uri="{FF2B5EF4-FFF2-40B4-BE49-F238E27FC236}">
                <a16:creationId xmlns:a16="http://schemas.microsoft.com/office/drawing/2014/main" id="{370CE944-025D-9E3C-D1BD-49498E31D774}"/>
              </a:ext>
            </a:extLst>
          </p:cNvPr>
          <p:cNvSpPr/>
          <p:nvPr/>
        </p:nvSpPr>
        <p:spPr>
          <a:xfrm>
            <a:off x="1887794" y="4453476"/>
            <a:ext cx="589936" cy="875071"/>
          </a:xfrm>
          <a:prstGeom prst="upArrow">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12822770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8ADFA5D-57CE-200D-3066-707B756C4CD3}"/>
              </a:ext>
            </a:extLst>
          </p:cNvPr>
          <p:cNvSpPr/>
          <p:nvPr/>
        </p:nvSpPr>
        <p:spPr>
          <a:xfrm>
            <a:off x="1451579" y="794871"/>
            <a:ext cx="4133144" cy="17401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latin typeface="Calibri" panose="020F0502020204030204" pitchFamily="34" charset="0"/>
                <a:cs typeface="Calibri" panose="020F0502020204030204" pitchFamily="34" charset="0"/>
              </a:rPr>
              <a:t>Select Start_Location,</a:t>
            </a:r>
          </a:p>
          <a:p>
            <a:r>
              <a:rPr lang="en-US" dirty="0">
                <a:latin typeface="Calibri" panose="020F0502020204030204" pitchFamily="34" charset="0"/>
                <a:cs typeface="Calibri" panose="020F0502020204030204" pitchFamily="34" charset="0"/>
              </a:rPr>
              <a:t>round(Avg(Traffic_Delay_Min),2) as Average_Delivery_Delay </a:t>
            </a:r>
          </a:p>
          <a:p>
            <a:r>
              <a:rPr lang="en-US" dirty="0">
                <a:latin typeface="Calibri" panose="020F0502020204030204" pitchFamily="34" charset="0"/>
                <a:cs typeface="Calibri" panose="020F0502020204030204" pitchFamily="34" charset="0"/>
              </a:rPr>
              <a:t>from delivery_routes </a:t>
            </a:r>
          </a:p>
          <a:p>
            <a:r>
              <a:rPr lang="en-US" dirty="0">
                <a:latin typeface="Calibri" panose="020F0502020204030204" pitchFamily="34" charset="0"/>
                <a:cs typeface="Calibri" panose="020F0502020204030204" pitchFamily="34" charset="0"/>
              </a:rPr>
              <a:t>group by Start_Location </a:t>
            </a:r>
          </a:p>
          <a:p>
            <a:r>
              <a:rPr lang="en-US" dirty="0">
                <a:latin typeface="Calibri" panose="020F0502020204030204" pitchFamily="34" charset="0"/>
                <a:cs typeface="Calibri" panose="020F0502020204030204" pitchFamily="34" charset="0"/>
              </a:rPr>
              <a:t>order by Average_Delivery_Delay desc;</a:t>
            </a:r>
            <a:endParaRPr lang="en-IN" dirty="0">
              <a:latin typeface="Calibri" panose="020F0502020204030204" pitchFamily="34" charset="0"/>
              <a:cs typeface="Calibri" panose="020F0502020204030204" pitchFamily="34" charset="0"/>
            </a:endParaRPr>
          </a:p>
        </p:txBody>
      </p:sp>
      <p:graphicFrame>
        <p:nvGraphicFramePr>
          <p:cNvPr id="7" name="Chart 6">
            <a:extLst>
              <a:ext uri="{FF2B5EF4-FFF2-40B4-BE49-F238E27FC236}">
                <a16:creationId xmlns:a16="http://schemas.microsoft.com/office/drawing/2014/main" id="{A2073309-FA3F-6A74-8C3C-CF21C3CC8FA8}"/>
              </a:ext>
            </a:extLst>
          </p:cNvPr>
          <p:cNvGraphicFramePr>
            <a:graphicFrameLocks/>
          </p:cNvGraphicFramePr>
          <p:nvPr>
            <p:extLst>
              <p:ext uri="{D42A27DB-BD31-4B8C-83A1-F6EECF244321}">
                <p14:modId xmlns:p14="http://schemas.microsoft.com/office/powerpoint/2010/main" val="517443644"/>
              </p:ext>
            </p:extLst>
          </p:nvPr>
        </p:nvGraphicFramePr>
        <p:xfrm>
          <a:off x="1451579" y="3595233"/>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Table 9">
            <a:extLst>
              <a:ext uri="{FF2B5EF4-FFF2-40B4-BE49-F238E27FC236}">
                <a16:creationId xmlns:a16="http://schemas.microsoft.com/office/drawing/2014/main" id="{44F771D6-4426-B7CD-BE1C-BD3C8BE2927C}"/>
              </a:ext>
            </a:extLst>
          </p:cNvPr>
          <p:cNvGraphicFramePr>
            <a:graphicFrameLocks noGrp="1"/>
          </p:cNvGraphicFramePr>
          <p:nvPr>
            <p:extLst>
              <p:ext uri="{D42A27DB-BD31-4B8C-83A1-F6EECF244321}">
                <p14:modId xmlns:p14="http://schemas.microsoft.com/office/powerpoint/2010/main" val="2618347311"/>
              </p:ext>
            </p:extLst>
          </p:nvPr>
        </p:nvGraphicFramePr>
        <p:xfrm>
          <a:off x="7405488" y="794871"/>
          <a:ext cx="4060724" cy="2595880"/>
        </p:xfrm>
        <a:graphic>
          <a:graphicData uri="http://schemas.openxmlformats.org/drawingml/2006/table">
            <a:tbl>
              <a:tblPr firstRow="1" firstCol="1" lastCol="1" bandRow="1">
                <a:tableStyleId>{5C22544A-7EE6-4342-B048-85BDC9FD1C3A}</a:tableStyleId>
              </a:tblPr>
              <a:tblGrid>
                <a:gridCol w="2030362">
                  <a:extLst>
                    <a:ext uri="{9D8B030D-6E8A-4147-A177-3AD203B41FA5}">
                      <a16:colId xmlns:a16="http://schemas.microsoft.com/office/drawing/2014/main" val="1390942345"/>
                    </a:ext>
                  </a:extLst>
                </a:gridCol>
                <a:gridCol w="2030362">
                  <a:extLst>
                    <a:ext uri="{9D8B030D-6E8A-4147-A177-3AD203B41FA5}">
                      <a16:colId xmlns:a16="http://schemas.microsoft.com/office/drawing/2014/main" val="590856197"/>
                    </a:ext>
                  </a:extLst>
                </a:gridCol>
              </a:tblGrid>
              <a:tr h="370840">
                <a:tc>
                  <a:txBody>
                    <a:bodyPr/>
                    <a:lstStyle/>
                    <a:p>
                      <a:pPr algn="ctr" fontAlgn="b">
                        <a:buNone/>
                      </a:pPr>
                      <a:r>
                        <a:rPr lang="en-IN" sz="1400" b="1" i="0" u="none" strike="noStrike" dirty="0">
                          <a:solidFill>
                            <a:srgbClr val="FFFFFF"/>
                          </a:solidFill>
                          <a:effectLst/>
                          <a:latin typeface="Calibri" panose="020F0502020204030204" pitchFamily="34" charset="0"/>
                        </a:rPr>
                        <a:t>Start Location</a:t>
                      </a:r>
                    </a:p>
                  </a:txBody>
                  <a:tcPr marL="7620" marR="7620" marT="7620" marB="0" anchor="b"/>
                </a:tc>
                <a:tc>
                  <a:txBody>
                    <a:bodyPr/>
                    <a:lstStyle/>
                    <a:p>
                      <a:pPr algn="ctr" fontAlgn="b">
                        <a:buNone/>
                      </a:pPr>
                      <a:r>
                        <a:rPr lang="en-IN" sz="1400" b="1" i="0" u="none" strike="noStrike" dirty="0">
                          <a:solidFill>
                            <a:srgbClr val="FFFFFF"/>
                          </a:solidFill>
                          <a:effectLst/>
                          <a:latin typeface="Calibri" panose="020F0502020204030204" pitchFamily="34" charset="0"/>
                        </a:rPr>
                        <a:t>Average Delivery Delay</a:t>
                      </a:r>
                    </a:p>
                  </a:txBody>
                  <a:tcPr marL="7620" marR="7620" marT="7620" marB="0" anchor="b"/>
                </a:tc>
                <a:extLst>
                  <a:ext uri="{0D108BD9-81ED-4DB2-BD59-A6C34878D82A}">
                    <a16:rowId xmlns:a16="http://schemas.microsoft.com/office/drawing/2014/main" val="3281965287"/>
                  </a:ext>
                </a:extLst>
              </a:tr>
              <a:tr h="370840">
                <a:tc>
                  <a:txBody>
                    <a:bodyPr/>
                    <a:lstStyle/>
                    <a:p>
                      <a:pPr algn="ctr" fontAlgn="b">
                        <a:buNone/>
                      </a:pPr>
                      <a:r>
                        <a:rPr lang="en-IN" sz="1400" b="1" i="0" u="none" strike="noStrike" dirty="0">
                          <a:solidFill>
                            <a:schemeClr val="bg1"/>
                          </a:solidFill>
                          <a:effectLst/>
                          <a:latin typeface="Calibri" panose="020F0502020204030204" pitchFamily="34" charset="0"/>
                        </a:rPr>
                        <a:t>Pune</a:t>
                      </a:r>
                    </a:p>
                  </a:txBody>
                  <a:tcPr marL="7620" marR="7620" marT="7620" marB="0" anchor="b"/>
                </a:tc>
                <a:tc>
                  <a:txBody>
                    <a:bodyPr/>
                    <a:lstStyle/>
                    <a:p>
                      <a:pPr algn="ctr" fontAlgn="b">
                        <a:buNone/>
                      </a:pPr>
                      <a:r>
                        <a:rPr lang="en-IN" sz="1400" b="1" i="0" u="none" strike="noStrike" dirty="0">
                          <a:solidFill>
                            <a:schemeClr val="bg1"/>
                          </a:solidFill>
                          <a:effectLst/>
                          <a:latin typeface="Calibri" panose="020F0502020204030204" pitchFamily="34" charset="0"/>
                        </a:rPr>
                        <a:t>72.50</a:t>
                      </a:r>
                    </a:p>
                  </a:txBody>
                  <a:tcPr marL="7620" marR="7620" marT="7620" marB="0" anchor="b"/>
                </a:tc>
                <a:extLst>
                  <a:ext uri="{0D108BD9-81ED-4DB2-BD59-A6C34878D82A}">
                    <a16:rowId xmlns:a16="http://schemas.microsoft.com/office/drawing/2014/main" val="3108998834"/>
                  </a:ext>
                </a:extLst>
              </a:tr>
              <a:tr h="370840">
                <a:tc>
                  <a:txBody>
                    <a:bodyPr/>
                    <a:lstStyle/>
                    <a:p>
                      <a:pPr algn="ctr" fontAlgn="b">
                        <a:buNone/>
                      </a:pPr>
                      <a:r>
                        <a:rPr lang="en-IN" sz="1400" b="1" i="0" u="none" strike="noStrike" dirty="0">
                          <a:solidFill>
                            <a:schemeClr val="bg1"/>
                          </a:solidFill>
                          <a:effectLst/>
                          <a:latin typeface="Calibri" panose="020F0502020204030204" pitchFamily="34" charset="0"/>
                        </a:rPr>
                        <a:t>Lucknow</a:t>
                      </a:r>
                    </a:p>
                  </a:txBody>
                  <a:tcPr marL="7620" marR="7620" marT="7620" marB="0" anchor="b"/>
                </a:tc>
                <a:tc>
                  <a:txBody>
                    <a:bodyPr/>
                    <a:lstStyle/>
                    <a:p>
                      <a:pPr algn="ctr" fontAlgn="b">
                        <a:buNone/>
                      </a:pPr>
                      <a:r>
                        <a:rPr lang="en-IN" sz="1400" b="1" i="0" u="none" strike="noStrike" dirty="0">
                          <a:solidFill>
                            <a:schemeClr val="bg1"/>
                          </a:solidFill>
                          <a:effectLst/>
                          <a:latin typeface="Calibri" panose="020F0502020204030204" pitchFamily="34" charset="0"/>
                        </a:rPr>
                        <a:t>67.00</a:t>
                      </a:r>
                    </a:p>
                  </a:txBody>
                  <a:tcPr marL="7620" marR="7620" marT="7620" marB="0" anchor="b"/>
                </a:tc>
                <a:extLst>
                  <a:ext uri="{0D108BD9-81ED-4DB2-BD59-A6C34878D82A}">
                    <a16:rowId xmlns:a16="http://schemas.microsoft.com/office/drawing/2014/main" val="2327513130"/>
                  </a:ext>
                </a:extLst>
              </a:tr>
              <a:tr h="370840">
                <a:tc>
                  <a:txBody>
                    <a:bodyPr/>
                    <a:lstStyle/>
                    <a:p>
                      <a:pPr algn="ctr" fontAlgn="b">
                        <a:buNone/>
                      </a:pPr>
                      <a:r>
                        <a:rPr lang="en-IN" sz="1400" b="1" i="0" u="none" strike="noStrike" dirty="0">
                          <a:solidFill>
                            <a:schemeClr val="bg1"/>
                          </a:solidFill>
                          <a:effectLst/>
                          <a:latin typeface="Calibri" panose="020F0502020204030204" pitchFamily="34" charset="0"/>
                        </a:rPr>
                        <a:t>Ahmedabad</a:t>
                      </a:r>
                    </a:p>
                  </a:txBody>
                  <a:tcPr marL="7620" marR="7620" marT="7620" marB="0" anchor="b"/>
                </a:tc>
                <a:tc>
                  <a:txBody>
                    <a:bodyPr/>
                    <a:lstStyle/>
                    <a:p>
                      <a:pPr algn="ctr" fontAlgn="b">
                        <a:buNone/>
                      </a:pPr>
                      <a:r>
                        <a:rPr lang="en-IN" sz="1400" b="1" i="0" u="none" strike="noStrike" dirty="0">
                          <a:solidFill>
                            <a:schemeClr val="bg1"/>
                          </a:solidFill>
                          <a:effectLst/>
                          <a:latin typeface="Calibri" panose="020F0502020204030204" pitchFamily="34" charset="0"/>
                        </a:rPr>
                        <a:t>56.50</a:t>
                      </a:r>
                    </a:p>
                  </a:txBody>
                  <a:tcPr marL="7620" marR="7620" marT="7620" marB="0" anchor="b"/>
                </a:tc>
                <a:extLst>
                  <a:ext uri="{0D108BD9-81ED-4DB2-BD59-A6C34878D82A}">
                    <a16:rowId xmlns:a16="http://schemas.microsoft.com/office/drawing/2014/main" val="3431000914"/>
                  </a:ext>
                </a:extLst>
              </a:tr>
              <a:tr h="370840">
                <a:tc>
                  <a:txBody>
                    <a:bodyPr/>
                    <a:lstStyle/>
                    <a:p>
                      <a:pPr algn="ctr" fontAlgn="b">
                        <a:buNone/>
                      </a:pPr>
                      <a:r>
                        <a:rPr lang="en-IN" sz="1400" b="1" i="0" u="none" strike="noStrike" dirty="0">
                          <a:solidFill>
                            <a:schemeClr val="bg1"/>
                          </a:solidFill>
                          <a:effectLst/>
                          <a:latin typeface="Calibri" panose="020F0502020204030204" pitchFamily="34" charset="0"/>
                        </a:rPr>
                        <a:t>Mumbai</a:t>
                      </a:r>
                    </a:p>
                  </a:txBody>
                  <a:tcPr marL="7620" marR="7620" marT="7620" marB="0" anchor="b"/>
                </a:tc>
                <a:tc>
                  <a:txBody>
                    <a:bodyPr/>
                    <a:lstStyle/>
                    <a:p>
                      <a:pPr algn="ctr" fontAlgn="b">
                        <a:buNone/>
                      </a:pPr>
                      <a:r>
                        <a:rPr lang="en-IN" sz="1400" b="1" i="0" u="none" strike="noStrike" dirty="0">
                          <a:solidFill>
                            <a:schemeClr val="bg1"/>
                          </a:solidFill>
                          <a:effectLst/>
                          <a:latin typeface="Calibri" panose="020F0502020204030204" pitchFamily="34" charset="0"/>
                        </a:rPr>
                        <a:t>51.25</a:t>
                      </a:r>
                    </a:p>
                  </a:txBody>
                  <a:tcPr marL="7620" marR="7620" marT="7620" marB="0" anchor="b"/>
                </a:tc>
                <a:extLst>
                  <a:ext uri="{0D108BD9-81ED-4DB2-BD59-A6C34878D82A}">
                    <a16:rowId xmlns:a16="http://schemas.microsoft.com/office/drawing/2014/main" val="2161475733"/>
                  </a:ext>
                </a:extLst>
              </a:tr>
              <a:tr h="370840">
                <a:tc>
                  <a:txBody>
                    <a:bodyPr/>
                    <a:lstStyle/>
                    <a:p>
                      <a:pPr algn="ctr" fontAlgn="b">
                        <a:buNone/>
                      </a:pPr>
                      <a:r>
                        <a:rPr lang="en-IN" sz="1400" b="1" i="0" u="none" strike="noStrike" dirty="0">
                          <a:solidFill>
                            <a:schemeClr val="bg1"/>
                          </a:solidFill>
                          <a:effectLst/>
                          <a:latin typeface="Calibri" panose="020F0502020204030204" pitchFamily="34" charset="0"/>
                        </a:rPr>
                        <a:t>Hyderabad</a:t>
                      </a:r>
                    </a:p>
                  </a:txBody>
                  <a:tcPr marL="7620" marR="7620" marT="7620" marB="0" anchor="b"/>
                </a:tc>
                <a:tc>
                  <a:txBody>
                    <a:bodyPr/>
                    <a:lstStyle/>
                    <a:p>
                      <a:pPr algn="ctr" fontAlgn="b">
                        <a:buNone/>
                      </a:pPr>
                      <a:r>
                        <a:rPr lang="en-IN" sz="1400" b="1" i="0" u="none" strike="noStrike" dirty="0">
                          <a:solidFill>
                            <a:schemeClr val="bg1"/>
                          </a:solidFill>
                          <a:effectLst/>
                          <a:latin typeface="Calibri" panose="020F0502020204030204" pitchFamily="34" charset="0"/>
                        </a:rPr>
                        <a:t>39.20</a:t>
                      </a:r>
                    </a:p>
                  </a:txBody>
                  <a:tcPr marL="7620" marR="7620" marT="7620" marB="0" anchor="b"/>
                </a:tc>
                <a:extLst>
                  <a:ext uri="{0D108BD9-81ED-4DB2-BD59-A6C34878D82A}">
                    <a16:rowId xmlns:a16="http://schemas.microsoft.com/office/drawing/2014/main" val="3534940509"/>
                  </a:ext>
                </a:extLst>
              </a:tr>
              <a:tr h="370840">
                <a:tc>
                  <a:txBody>
                    <a:bodyPr/>
                    <a:lstStyle/>
                    <a:p>
                      <a:pPr algn="ctr" fontAlgn="b">
                        <a:buNone/>
                      </a:pPr>
                      <a:r>
                        <a:rPr lang="en-IN" sz="1400" b="1" i="0" u="none" strike="noStrike" dirty="0">
                          <a:solidFill>
                            <a:schemeClr val="bg1"/>
                          </a:solidFill>
                          <a:effectLst/>
                          <a:latin typeface="Calibri" panose="020F0502020204030204" pitchFamily="34" charset="0"/>
                        </a:rPr>
                        <a:t>Bengaluru</a:t>
                      </a:r>
                    </a:p>
                  </a:txBody>
                  <a:tcPr marL="7620" marR="7620" marT="7620" marB="0" anchor="b"/>
                </a:tc>
                <a:tc>
                  <a:txBody>
                    <a:bodyPr/>
                    <a:lstStyle/>
                    <a:p>
                      <a:pPr algn="ctr" fontAlgn="b">
                        <a:buNone/>
                      </a:pPr>
                      <a:r>
                        <a:rPr lang="en-IN" sz="1400" b="1" i="0" u="none" strike="noStrike" dirty="0">
                          <a:solidFill>
                            <a:schemeClr val="bg1"/>
                          </a:solidFill>
                          <a:effectLst/>
                          <a:latin typeface="Calibri" panose="020F0502020204030204" pitchFamily="34" charset="0"/>
                        </a:rPr>
                        <a:t>15.00</a:t>
                      </a:r>
                    </a:p>
                  </a:txBody>
                  <a:tcPr marL="7620" marR="7620" marT="7620" marB="0" anchor="b"/>
                </a:tc>
                <a:extLst>
                  <a:ext uri="{0D108BD9-81ED-4DB2-BD59-A6C34878D82A}">
                    <a16:rowId xmlns:a16="http://schemas.microsoft.com/office/drawing/2014/main" val="3623037381"/>
                  </a:ext>
                </a:extLst>
              </a:tr>
            </a:tbl>
          </a:graphicData>
        </a:graphic>
      </p:graphicFrame>
      <p:sp>
        <p:nvSpPr>
          <p:cNvPr id="14" name="Arrow: Right 13">
            <a:extLst>
              <a:ext uri="{FF2B5EF4-FFF2-40B4-BE49-F238E27FC236}">
                <a16:creationId xmlns:a16="http://schemas.microsoft.com/office/drawing/2014/main" id="{F3EF0E8E-4D99-B8F4-AA76-9F00F11C107E}"/>
              </a:ext>
            </a:extLst>
          </p:cNvPr>
          <p:cNvSpPr/>
          <p:nvPr/>
        </p:nvSpPr>
        <p:spPr>
          <a:xfrm>
            <a:off x="5791200" y="1474839"/>
            <a:ext cx="1386348" cy="26547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5" name="Arrow: Down 14">
            <a:extLst>
              <a:ext uri="{FF2B5EF4-FFF2-40B4-BE49-F238E27FC236}">
                <a16:creationId xmlns:a16="http://schemas.microsoft.com/office/drawing/2014/main" id="{E91C0A8F-B493-F3FB-B358-B1016292BFB7}"/>
              </a:ext>
            </a:extLst>
          </p:cNvPr>
          <p:cNvSpPr/>
          <p:nvPr/>
        </p:nvSpPr>
        <p:spPr>
          <a:xfrm>
            <a:off x="2851355" y="2831690"/>
            <a:ext cx="245806" cy="59731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TextBox 15">
            <a:extLst>
              <a:ext uri="{FF2B5EF4-FFF2-40B4-BE49-F238E27FC236}">
                <a16:creationId xmlns:a16="http://schemas.microsoft.com/office/drawing/2014/main" id="{DA8E6F4A-B1A4-7904-B384-E9B036C662F0}"/>
              </a:ext>
            </a:extLst>
          </p:cNvPr>
          <p:cNvSpPr txBox="1"/>
          <p:nvPr/>
        </p:nvSpPr>
        <p:spPr>
          <a:xfrm>
            <a:off x="4341256" y="128911"/>
            <a:ext cx="4687565" cy="461665"/>
          </a:xfrm>
          <a:prstGeom prst="rect">
            <a:avLst/>
          </a:prstGeom>
          <a:noFill/>
        </p:spPr>
        <p:txBody>
          <a:bodyPr wrap="none" rtlCol="0">
            <a:spAutoFit/>
          </a:bodyPr>
          <a:lstStyle/>
          <a:p>
            <a:r>
              <a:rPr lang="en-US" sz="2400" b="1" dirty="0">
                <a:solidFill>
                  <a:schemeClr val="accent1"/>
                </a:solidFill>
                <a:latin typeface="Calibri" panose="020F0502020204030204" pitchFamily="34" charset="0"/>
                <a:cs typeface="Calibri" panose="020F0502020204030204" pitchFamily="34" charset="0"/>
              </a:rPr>
              <a:t>TASK 7- ADVANCED KPI REPORTING</a:t>
            </a:r>
            <a:endParaRPr lang="en-IN" sz="2400" b="1" dirty="0">
              <a:solidFill>
                <a:schemeClr val="accent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673980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9F858D71-0EAA-82FA-D8A0-D9B52E5EE986}"/>
              </a:ext>
            </a:extLst>
          </p:cNvPr>
          <p:cNvGraphicFramePr>
            <a:graphicFrameLocks noGrp="1"/>
          </p:cNvGraphicFramePr>
          <p:nvPr>
            <p:ph idx="1"/>
            <p:extLst>
              <p:ext uri="{D42A27DB-BD31-4B8C-83A1-F6EECF244321}">
                <p14:modId xmlns:p14="http://schemas.microsoft.com/office/powerpoint/2010/main" val="2750316854"/>
              </p:ext>
            </p:extLst>
          </p:nvPr>
        </p:nvGraphicFramePr>
        <p:xfrm>
          <a:off x="1451579" y="3579925"/>
          <a:ext cx="3205316" cy="533400"/>
        </p:xfrm>
        <a:graphic>
          <a:graphicData uri="http://schemas.openxmlformats.org/drawingml/2006/table">
            <a:tbl>
              <a:tblPr/>
              <a:tblGrid>
                <a:gridCol w="3205316">
                  <a:extLst>
                    <a:ext uri="{9D8B030D-6E8A-4147-A177-3AD203B41FA5}">
                      <a16:colId xmlns:a16="http://schemas.microsoft.com/office/drawing/2014/main" val="1362996698"/>
                    </a:ext>
                  </a:extLst>
                </a:gridCol>
              </a:tblGrid>
              <a:tr h="126591">
                <a:tc>
                  <a:txBody>
                    <a:bodyPr/>
                    <a:lstStyle/>
                    <a:p>
                      <a:pPr algn="l" fontAlgn="b">
                        <a:buNone/>
                      </a:pPr>
                      <a:r>
                        <a:rPr lang="en-IN" sz="1800" b="1" i="0" u="none" strike="noStrike" dirty="0">
                          <a:solidFill>
                            <a:schemeClr val="bg1"/>
                          </a:solidFill>
                          <a:effectLst/>
                          <a:latin typeface="Calibri" panose="020F0502020204030204" pitchFamily="34" charset="0"/>
                        </a:rPr>
                        <a:t>On Time Delivery %= 72.67%</a:t>
                      </a:r>
                    </a:p>
                  </a:txBody>
                  <a:tcPr marL="7620" marR="7620" marT="7620" marB="0" anchor="b">
                    <a:lnL>
                      <a:noFill/>
                    </a:lnL>
                    <a:lnR>
                      <a:noFill/>
                    </a:lnR>
                    <a:lnT>
                      <a:noFill/>
                    </a:lnT>
                    <a:lnB>
                      <a:noFill/>
                    </a:lnB>
                    <a:solidFill>
                      <a:schemeClr val="accent1"/>
                    </a:solidFill>
                  </a:tcPr>
                </a:tc>
                <a:extLst>
                  <a:ext uri="{0D108BD9-81ED-4DB2-BD59-A6C34878D82A}">
                    <a16:rowId xmlns:a16="http://schemas.microsoft.com/office/drawing/2014/main" val="4141007166"/>
                  </a:ext>
                </a:extLst>
              </a:tr>
              <a:tr h="90704">
                <a:tc>
                  <a:txBody>
                    <a:bodyPr/>
                    <a:lstStyle/>
                    <a:p>
                      <a:pPr algn="r" fontAlgn="b">
                        <a:buNone/>
                      </a:pPr>
                      <a:endParaRPr lang="en-IN" sz="16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noFill/>
                  </a:tcPr>
                </a:tc>
                <a:extLst>
                  <a:ext uri="{0D108BD9-81ED-4DB2-BD59-A6C34878D82A}">
                    <a16:rowId xmlns:a16="http://schemas.microsoft.com/office/drawing/2014/main" val="3539613290"/>
                  </a:ext>
                </a:extLst>
              </a:tr>
            </a:tbl>
          </a:graphicData>
        </a:graphic>
      </p:graphicFrame>
      <p:sp>
        <p:nvSpPr>
          <p:cNvPr id="4" name="Rectangle 3">
            <a:extLst>
              <a:ext uri="{FF2B5EF4-FFF2-40B4-BE49-F238E27FC236}">
                <a16:creationId xmlns:a16="http://schemas.microsoft.com/office/drawing/2014/main" id="{5A916243-E911-707B-EFC5-280236381C80}"/>
              </a:ext>
            </a:extLst>
          </p:cNvPr>
          <p:cNvSpPr/>
          <p:nvPr/>
        </p:nvSpPr>
        <p:spPr>
          <a:xfrm>
            <a:off x="1451579" y="393680"/>
            <a:ext cx="8292189" cy="199594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latin typeface="Calibri" panose="020F0502020204030204" pitchFamily="34" charset="0"/>
                <a:cs typeface="Calibri" panose="020F0502020204030204" pitchFamily="34" charset="0"/>
              </a:rPr>
              <a:t>SELECT   </a:t>
            </a:r>
          </a:p>
          <a:p>
            <a:r>
              <a:rPr lang="en-US" dirty="0">
                <a:latin typeface="Calibri" panose="020F0502020204030204" pitchFamily="34" charset="0"/>
                <a:cs typeface="Calibri" panose="020F0502020204030204" pitchFamily="34" charset="0"/>
              </a:rPr>
              <a:t>ROUND(SUM(CASE  WHEN Actual_Delivery_Date &lt;= Expected_Delivery_Date THEN 1 ELSE 0 END)*100 / COUNT(*),  2) AS On_Time_Delivery_Percent </a:t>
            </a:r>
          </a:p>
          <a:p>
            <a:r>
              <a:rPr lang="en-US" dirty="0">
                <a:latin typeface="Calibri" panose="020F0502020204030204" pitchFamily="34" charset="0"/>
                <a:cs typeface="Calibri" panose="020F0502020204030204" pitchFamily="34" charset="0"/>
              </a:rPr>
              <a:t>FROM Flipkart_Orders;</a:t>
            </a:r>
            <a:endParaRPr lang="en-IN" dirty="0">
              <a:latin typeface="Calibri" panose="020F0502020204030204" pitchFamily="34" charset="0"/>
              <a:cs typeface="Calibri" panose="020F0502020204030204" pitchFamily="34" charset="0"/>
            </a:endParaRPr>
          </a:p>
        </p:txBody>
      </p:sp>
      <p:sp>
        <p:nvSpPr>
          <p:cNvPr id="6" name="Arrow: Down 5">
            <a:extLst>
              <a:ext uri="{FF2B5EF4-FFF2-40B4-BE49-F238E27FC236}">
                <a16:creationId xmlns:a16="http://schemas.microsoft.com/office/drawing/2014/main" id="{944416B9-FF6E-4413-E9C4-46662CF5DF2E}"/>
              </a:ext>
            </a:extLst>
          </p:cNvPr>
          <p:cNvSpPr/>
          <p:nvPr/>
        </p:nvSpPr>
        <p:spPr>
          <a:xfrm>
            <a:off x="3549445" y="2576052"/>
            <a:ext cx="324465" cy="85294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24194591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4EF64A3-1298-7CEF-5F10-22D15C7E11CC}"/>
              </a:ext>
            </a:extLst>
          </p:cNvPr>
          <p:cNvSpPr/>
          <p:nvPr/>
        </p:nvSpPr>
        <p:spPr>
          <a:xfrm>
            <a:off x="1451579" y="657035"/>
            <a:ext cx="6263148" cy="17911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latin typeface="Calibri" panose="020F0502020204030204" pitchFamily="34" charset="0"/>
                <a:cs typeface="Calibri" panose="020F0502020204030204" pitchFamily="34" charset="0"/>
              </a:rPr>
              <a:t>select Route_ID,</a:t>
            </a:r>
          </a:p>
          <a:p>
            <a:r>
              <a:rPr lang="en-US" dirty="0">
                <a:latin typeface="Calibri" panose="020F0502020204030204" pitchFamily="34" charset="0"/>
                <a:cs typeface="Calibri" panose="020F0502020204030204" pitchFamily="34" charset="0"/>
              </a:rPr>
              <a:t>round(avg(Traffic_Delay_Min),2) as Average_Traffic_Delay </a:t>
            </a:r>
          </a:p>
          <a:p>
            <a:r>
              <a:rPr lang="en-US" dirty="0">
                <a:latin typeface="Calibri" panose="020F0502020204030204" pitchFamily="34" charset="0"/>
                <a:cs typeface="Calibri" panose="020F0502020204030204" pitchFamily="34" charset="0"/>
              </a:rPr>
              <a:t>from delivery_routes </a:t>
            </a:r>
          </a:p>
          <a:p>
            <a:r>
              <a:rPr lang="en-US" dirty="0">
                <a:latin typeface="Calibri" panose="020F0502020204030204" pitchFamily="34" charset="0"/>
                <a:cs typeface="Calibri" panose="020F0502020204030204" pitchFamily="34" charset="0"/>
              </a:rPr>
              <a:t>group by Route_ID </a:t>
            </a:r>
          </a:p>
          <a:p>
            <a:r>
              <a:rPr lang="en-US" dirty="0">
                <a:latin typeface="Calibri" panose="020F0502020204030204" pitchFamily="34" charset="0"/>
                <a:cs typeface="Calibri" panose="020F0502020204030204" pitchFamily="34" charset="0"/>
              </a:rPr>
              <a:t>order by Average_Traffic_Delay desc;</a:t>
            </a:r>
            <a:endParaRPr lang="en-IN" dirty="0">
              <a:latin typeface="Calibri" panose="020F0502020204030204" pitchFamily="34" charset="0"/>
              <a:cs typeface="Calibri" panose="020F0502020204030204" pitchFamily="34" charset="0"/>
            </a:endParaRPr>
          </a:p>
        </p:txBody>
      </p:sp>
      <p:graphicFrame>
        <p:nvGraphicFramePr>
          <p:cNvPr id="3" name="Table 2">
            <a:extLst>
              <a:ext uri="{FF2B5EF4-FFF2-40B4-BE49-F238E27FC236}">
                <a16:creationId xmlns:a16="http://schemas.microsoft.com/office/drawing/2014/main" id="{E98F602D-EAD3-8A9B-EC90-7D6A829DC102}"/>
              </a:ext>
            </a:extLst>
          </p:cNvPr>
          <p:cNvGraphicFramePr>
            <a:graphicFrameLocks noGrp="1"/>
          </p:cNvGraphicFramePr>
          <p:nvPr>
            <p:extLst>
              <p:ext uri="{D42A27DB-BD31-4B8C-83A1-F6EECF244321}">
                <p14:modId xmlns:p14="http://schemas.microsoft.com/office/powerpoint/2010/main" val="1474860544"/>
              </p:ext>
            </p:extLst>
          </p:nvPr>
        </p:nvGraphicFramePr>
        <p:xfrm>
          <a:off x="1514033" y="3415728"/>
          <a:ext cx="2965747" cy="2651760"/>
        </p:xfrm>
        <a:graphic>
          <a:graphicData uri="http://schemas.openxmlformats.org/drawingml/2006/table">
            <a:tbl>
              <a:tblPr firstRow="1" bandRow="1">
                <a:tableStyleId>{5C22544A-7EE6-4342-B048-85BDC9FD1C3A}</a:tableStyleId>
              </a:tblPr>
              <a:tblGrid>
                <a:gridCol w="973394">
                  <a:extLst>
                    <a:ext uri="{9D8B030D-6E8A-4147-A177-3AD203B41FA5}">
                      <a16:colId xmlns:a16="http://schemas.microsoft.com/office/drawing/2014/main" val="2386955153"/>
                    </a:ext>
                  </a:extLst>
                </a:gridCol>
                <a:gridCol w="1992353">
                  <a:extLst>
                    <a:ext uri="{9D8B030D-6E8A-4147-A177-3AD203B41FA5}">
                      <a16:colId xmlns:a16="http://schemas.microsoft.com/office/drawing/2014/main" val="3071088003"/>
                    </a:ext>
                  </a:extLst>
                </a:gridCol>
              </a:tblGrid>
              <a:tr h="212873">
                <a:tc>
                  <a:txBody>
                    <a:bodyPr/>
                    <a:lstStyle/>
                    <a:p>
                      <a:pPr algn="ctr" fontAlgn="b">
                        <a:buNone/>
                      </a:pPr>
                      <a:r>
                        <a:rPr lang="en-IN" sz="1400" b="1" i="0" u="none" strike="noStrike" dirty="0">
                          <a:solidFill>
                            <a:schemeClr val="bg1"/>
                          </a:solidFill>
                          <a:effectLst/>
                          <a:latin typeface="Calibri" panose="020F0502020204030204" pitchFamily="34" charset="0"/>
                        </a:rPr>
                        <a:t>Route ID</a:t>
                      </a:r>
                    </a:p>
                  </a:txBody>
                  <a:tcPr marL="7620" marR="7620" marT="7620" marB="0" anchor="b">
                    <a:lnR w="12700" cap="flat" cmpd="sng" algn="ctr">
                      <a:solidFill>
                        <a:schemeClr val="tx1"/>
                      </a:solidFill>
                      <a:prstDash val="solid"/>
                      <a:round/>
                      <a:headEnd type="none" w="med" len="med"/>
                      <a:tailEnd type="none" w="med" len="med"/>
                    </a:lnR>
                    <a:solidFill>
                      <a:schemeClr val="accent1"/>
                    </a:solidFill>
                  </a:tcPr>
                </a:tc>
                <a:tc>
                  <a:txBody>
                    <a:bodyPr/>
                    <a:lstStyle/>
                    <a:p>
                      <a:pPr algn="ctr" fontAlgn="b">
                        <a:buNone/>
                      </a:pPr>
                      <a:r>
                        <a:rPr lang="en-IN" sz="1400" b="1" i="0" u="none" strike="noStrike" dirty="0">
                          <a:solidFill>
                            <a:schemeClr val="bg1"/>
                          </a:solidFill>
                          <a:effectLst/>
                          <a:latin typeface="Calibri" panose="020F0502020204030204" pitchFamily="34" charset="0"/>
                        </a:rPr>
                        <a:t>Average Traffic Delay(min)</a:t>
                      </a:r>
                    </a:p>
                  </a:txBody>
                  <a:tcPr marL="7620" marR="7620" marT="7620" marB="0" anchor="b">
                    <a:lnL w="12700" cap="flat" cmpd="sng" algn="ctr">
                      <a:solidFill>
                        <a:schemeClr val="tx1"/>
                      </a:solidFill>
                      <a:prstDash val="solid"/>
                      <a:round/>
                      <a:headEnd type="none" w="med" len="med"/>
                      <a:tailEnd type="none" w="med" len="med"/>
                    </a:lnL>
                    <a:solidFill>
                      <a:schemeClr val="accent1"/>
                    </a:solidFill>
                  </a:tcPr>
                </a:tc>
                <a:extLst>
                  <a:ext uri="{0D108BD9-81ED-4DB2-BD59-A6C34878D82A}">
                    <a16:rowId xmlns:a16="http://schemas.microsoft.com/office/drawing/2014/main" val="3588917588"/>
                  </a:ext>
                </a:extLst>
              </a:tr>
              <a:tr h="212873">
                <a:tc>
                  <a:txBody>
                    <a:bodyPr/>
                    <a:lstStyle/>
                    <a:p>
                      <a:pPr algn="ctr" fontAlgn="b">
                        <a:buNone/>
                      </a:pPr>
                      <a:r>
                        <a:rPr lang="en-IN" sz="1400" b="1" i="0" u="none" strike="noStrike" dirty="0">
                          <a:solidFill>
                            <a:schemeClr val="bg1"/>
                          </a:solidFill>
                          <a:effectLst/>
                          <a:latin typeface="Calibri" panose="020F0502020204030204" pitchFamily="34" charset="0"/>
                        </a:rPr>
                        <a:t>RT_08</a:t>
                      </a:r>
                    </a:p>
                  </a:txBody>
                  <a:tcPr marL="7620" marR="7620" marT="7620" marB="0" anchor="b">
                    <a:lnR w="12700" cap="flat" cmpd="sng" algn="ctr">
                      <a:solidFill>
                        <a:schemeClr val="tx1"/>
                      </a:solidFill>
                      <a:prstDash val="solid"/>
                      <a:round/>
                      <a:headEnd type="none" w="med" len="med"/>
                      <a:tailEnd type="none" w="med" len="med"/>
                    </a:lnR>
                    <a:solidFill>
                      <a:schemeClr val="accent1"/>
                    </a:solidFill>
                  </a:tcPr>
                </a:tc>
                <a:tc>
                  <a:txBody>
                    <a:bodyPr/>
                    <a:lstStyle/>
                    <a:p>
                      <a:pPr algn="ctr" fontAlgn="b">
                        <a:buNone/>
                      </a:pPr>
                      <a:r>
                        <a:rPr lang="en-IN" sz="1400" b="1" i="0" u="none" strike="noStrike" dirty="0">
                          <a:solidFill>
                            <a:schemeClr val="bg1"/>
                          </a:solidFill>
                          <a:effectLst/>
                          <a:latin typeface="Calibri" panose="020F0502020204030204" pitchFamily="34" charset="0"/>
                        </a:rPr>
                        <a:t>90</a:t>
                      </a:r>
                    </a:p>
                  </a:txBody>
                  <a:tcPr marL="7620" marR="7620" marT="7620" marB="0" anchor="b">
                    <a:lnL w="12700" cap="flat" cmpd="sng" algn="ctr">
                      <a:solidFill>
                        <a:schemeClr val="tx1"/>
                      </a:solidFill>
                      <a:prstDash val="solid"/>
                      <a:round/>
                      <a:headEnd type="none" w="med" len="med"/>
                      <a:tailEnd type="none" w="med" len="med"/>
                    </a:lnL>
                    <a:solidFill>
                      <a:schemeClr val="accent1"/>
                    </a:solidFill>
                  </a:tcPr>
                </a:tc>
                <a:extLst>
                  <a:ext uri="{0D108BD9-81ED-4DB2-BD59-A6C34878D82A}">
                    <a16:rowId xmlns:a16="http://schemas.microsoft.com/office/drawing/2014/main" val="707777074"/>
                  </a:ext>
                </a:extLst>
              </a:tr>
              <a:tr h="212873">
                <a:tc>
                  <a:txBody>
                    <a:bodyPr/>
                    <a:lstStyle/>
                    <a:p>
                      <a:pPr algn="ctr" fontAlgn="b">
                        <a:buNone/>
                      </a:pPr>
                      <a:r>
                        <a:rPr lang="en-IN" sz="1400" b="1" i="0" u="none" strike="noStrike" dirty="0">
                          <a:solidFill>
                            <a:schemeClr val="bg1"/>
                          </a:solidFill>
                          <a:effectLst/>
                          <a:latin typeface="Calibri" panose="020F0502020204030204" pitchFamily="34" charset="0"/>
                        </a:rPr>
                        <a:t>RT_15</a:t>
                      </a:r>
                    </a:p>
                  </a:txBody>
                  <a:tcPr marL="7620" marR="7620" marT="7620" marB="0" anchor="b">
                    <a:lnR w="12700" cap="flat" cmpd="sng" algn="ctr">
                      <a:solidFill>
                        <a:schemeClr val="tx1"/>
                      </a:solidFill>
                      <a:prstDash val="solid"/>
                      <a:round/>
                      <a:headEnd type="none" w="med" len="med"/>
                      <a:tailEnd type="none" w="med" len="med"/>
                    </a:lnR>
                    <a:solidFill>
                      <a:schemeClr val="accent1"/>
                    </a:solidFill>
                  </a:tcPr>
                </a:tc>
                <a:tc>
                  <a:txBody>
                    <a:bodyPr/>
                    <a:lstStyle/>
                    <a:p>
                      <a:pPr algn="ctr" fontAlgn="b">
                        <a:buNone/>
                      </a:pPr>
                      <a:r>
                        <a:rPr lang="en-IN" sz="1400" b="1" i="0" u="none" strike="noStrike" dirty="0">
                          <a:solidFill>
                            <a:schemeClr val="bg1"/>
                          </a:solidFill>
                          <a:effectLst/>
                          <a:latin typeface="Calibri" panose="020F0502020204030204" pitchFamily="34" charset="0"/>
                        </a:rPr>
                        <a:t>87</a:t>
                      </a:r>
                    </a:p>
                  </a:txBody>
                  <a:tcPr marL="7620" marR="7620" marT="7620" marB="0" anchor="b">
                    <a:lnL w="12700" cap="flat" cmpd="sng" algn="ctr">
                      <a:solidFill>
                        <a:schemeClr val="tx1"/>
                      </a:solidFill>
                      <a:prstDash val="solid"/>
                      <a:round/>
                      <a:headEnd type="none" w="med" len="med"/>
                      <a:tailEnd type="none" w="med" len="med"/>
                    </a:lnL>
                    <a:solidFill>
                      <a:schemeClr val="accent1"/>
                    </a:solidFill>
                  </a:tcPr>
                </a:tc>
                <a:extLst>
                  <a:ext uri="{0D108BD9-81ED-4DB2-BD59-A6C34878D82A}">
                    <a16:rowId xmlns:a16="http://schemas.microsoft.com/office/drawing/2014/main" val="2237361960"/>
                  </a:ext>
                </a:extLst>
              </a:tr>
              <a:tr h="212873">
                <a:tc>
                  <a:txBody>
                    <a:bodyPr/>
                    <a:lstStyle/>
                    <a:p>
                      <a:pPr algn="ctr" fontAlgn="b">
                        <a:buNone/>
                      </a:pPr>
                      <a:r>
                        <a:rPr lang="en-IN" sz="1400" b="1" i="0" u="none" strike="noStrike" dirty="0">
                          <a:solidFill>
                            <a:schemeClr val="bg1"/>
                          </a:solidFill>
                          <a:effectLst/>
                          <a:latin typeface="Calibri" panose="020F0502020204030204" pitchFamily="34" charset="0"/>
                        </a:rPr>
                        <a:t>RT_09</a:t>
                      </a:r>
                    </a:p>
                  </a:txBody>
                  <a:tcPr marL="7620" marR="7620" marT="7620" marB="0" anchor="b">
                    <a:lnR w="12700" cap="flat" cmpd="sng" algn="ctr">
                      <a:solidFill>
                        <a:schemeClr val="tx1"/>
                      </a:solidFill>
                      <a:prstDash val="solid"/>
                      <a:round/>
                      <a:headEnd type="none" w="med" len="med"/>
                      <a:tailEnd type="none" w="med" len="med"/>
                    </a:lnR>
                    <a:solidFill>
                      <a:schemeClr val="accent1"/>
                    </a:solidFill>
                  </a:tcPr>
                </a:tc>
                <a:tc>
                  <a:txBody>
                    <a:bodyPr/>
                    <a:lstStyle/>
                    <a:p>
                      <a:pPr algn="ctr" fontAlgn="b">
                        <a:buNone/>
                      </a:pPr>
                      <a:r>
                        <a:rPr lang="en-IN" sz="1400" b="1" i="0" u="none" strike="noStrike" dirty="0">
                          <a:solidFill>
                            <a:schemeClr val="bg1"/>
                          </a:solidFill>
                          <a:effectLst/>
                          <a:latin typeface="Calibri" panose="020F0502020204030204" pitchFamily="34" charset="0"/>
                        </a:rPr>
                        <a:t>83</a:t>
                      </a:r>
                    </a:p>
                  </a:txBody>
                  <a:tcPr marL="7620" marR="7620" marT="7620" marB="0" anchor="b">
                    <a:lnL w="12700" cap="flat" cmpd="sng" algn="ctr">
                      <a:solidFill>
                        <a:schemeClr val="tx1"/>
                      </a:solidFill>
                      <a:prstDash val="solid"/>
                      <a:round/>
                      <a:headEnd type="none" w="med" len="med"/>
                      <a:tailEnd type="none" w="med" len="med"/>
                    </a:lnL>
                    <a:solidFill>
                      <a:schemeClr val="accent1"/>
                    </a:solidFill>
                  </a:tcPr>
                </a:tc>
                <a:extLst>
                  <a:ext uri="{0D108BD9-81ED-4DB2-BD59-A6C34878D82A}">
                    <a16:rowId xmlns:a16="http://schemas.microsoft.com/office/drawing/2014/main" val="3810083916"/>
                  </a:ext>
                </a:extLst>
              </a:tr>
              <a:tr h="212873">
                <a:tc>
                  <a:txBody>
                    <a:bodyPr/>
                    <a:lstStyle/>
                    <a:p>
                      <a:pPr algn="ctr" fontAlgn="b">
                        <a:buNone/>
                      </a:pPr>
                      <a:r>
                        <a:rPr lang="en-IN" sz="1400" b="1" i="0" u="none" strike="noStrike" dirty="0">
                          <a:solidFill>
                            <a:schemeClr val="bg1"/>
                          </a:solidFill>
                          <a:effectLst/>
                          <a:latin typeface="Calibri" panose="020F0502020204030204" pitchFamily="34" charset="0"/>
                        </a:rPr>
                        <a:t>RT_17</a:t>
                      </a:r>
                    </a:p>
                  </a:txBody>
                  <a:tcPr marL="7620" marR="7620" marT="7620" marB="0" anchor="b">
                    <a:lnR w="12700" cap="flat" cmpd="sng" algn="ctr">
                      <a:solidFill>
                        <a:schemeClr val="tx1"/>
                      </a:solidFill>
                      <a:prstDash val="solid"/>
                      <a:round/>
                      <a:headEnd type="none" w="med" len="med"/>
                      <a:tailEnd type="none" w="med" len="med"/>
                    </a:lnR>
                    <a:solidFill>
                      <a:schemeClr val="accent1"/>
                    </a:solidFill>
                  </a:tcPr>
                </a:tc>
                <a:tc>
                  <a:txBody>
                    <a:bodyPr/>
                    <a:lstStyle/>
                    <a:p>
                      <a:pPr algn="ctr" fontAlgn="b">
                        <a:buNone/>
                      </a:pPr>
                      <a:r>
                        <a:rPr lang="en-IN" sz="1400" b="1" i="0" u="none" strike="noStrike" dirty="0">
                          <a:solidFill>
                            <a:schemeClr val="bg1"/>
                          </a:solidFill>
                          <a:effectLst/>
                          <a:latin typeface="Calibri" panose="020F0502020204030204" pitchFamily="34" charset="0"/>
                        </a:rPr>
                        <a:t>81</a:t>
                      </a:r>
                    </a:p>
                  </a:txBody>
                  <a:tcPr marL="7620" marR="7620" marT="7620" marB="0" anchor="b">
                    <a:lnL w="12700" cap="flat" cmpd="sng" algn="ctr">
                      <a:solidFill>
                        <a:schemeClr val="tx1"/>
                      </a:solidFill>
                      <a:prstDash val="solid"/>
                      <a:round/>
                      <a:headEnd type="none" w="med" len="med"/>
                      <a:tailEnd type="none" w="med" len="med"/>
                    </a:lnL>
                    <a:solidFill>
                      <a:schemeClr val="accent1"/>
                    </a:solidFill>
                  </a:tcPr>
                </a:tc>
                <a:extLst>
                  <a:ext uri="{0D108BD9-81ED-4DB2-BD59-A6C34878D82A}">
                    <a16:rowId xmlns:a16="http://schemas.microsoft.com/office/drawing/2014/main" val="2113526297"/>
                  </a:ext>
                </a:extLst>
              </a:tr>
              <a:tr h="212873">
                <a:tc>
                  <a:txBody>
                    <a:bodyPr/>
                    <a:lstStyle/>
                    <a:p>
                      <a:pPr algn="ctr" fontAlgn="b">
                        <a:buNone/>
                      </a:pPr>
                      <a:r>
                        <a:rPr lang="en-IN" sz="1400" b="1" i="0" u="none" strike="noStrike" dirty="0">
                          <a:solidFill>
                            <a:schemeClr val="bg1"/>
                          </a:solidFill>
                          <a:effectLst/>
                          <a:latin typeface="Calibri" panose="020F0502020204030204" pitchFamily="34" charset="0"/>
                        </a:rPr>
                        <a:t>RT_01</a:t>
                      </a:r>
                    </a:p>
                  </a:txBody>
                  <a:tcPr marL="7620" marR="7620" marT="7620" marB="0" anchor="b">
                    <a:lnR w="12700" cap="flat" cmpd="sng" algn="ctr">
                      <a:solidFill>
                        <a:schemeClr val="tx1"/>
                      </a:solidFill>
                      <a:prstDash val="solid"/>
                      <a:round/>
                      <a:headEnd type="none" w="med" len="med"/>
                      <a:tailEnd type="none" w="med" len="med"/>
                    </a:lnR>
                    <a:solidFill>
                      <a:schemeClr val="accent1"/>
                    </a:solidFill>
                  </a:tcPr>
                </a:tc>
                <a:tc>
                  <a:txBody>
                    <a:bodyPr/>
                    <a:lstStyle/>
                    <a:p>
                      <a:pPr algn="ctr" fontAlgn="b">
                        <a:buNone/>
                      </a:pPr>
                      <a:r>
                        <a:rPr lang="en-IN" sz="1400" b="1" i="0" u="none" strike="noStrike" dirty="0">
                          <a:solidFill>
                            <a:schemeClr val="bg1"/>
                          </a:solidFill>
                          <a:effectLst/>
                          <a:latin typeface="Calibri" panose="020F0502020204030204" pitchFamily="34" charset="0"/>
                        </a:rPr>
                        <a:t>67</a:t>
                      </a:r>
                    </a:p>
                  </a:txBody>
                  <a:tcPr marL="7620" marR="7620" marT="7620" marB="0" anchor="b">
                    <a:lnL w="12700" cap="flat" cmpd="sng" algn="ctr">
                      <a:solidFill>
                        <a:schemeClr val="tx1"/>
                      </a:solidFill>
                      <a:prstDash val="solid"/>
                      <a:round/>
                      <a:headEnd type="none" w="med" len="med"/>
                      <a:tailEnd type="none" w="med" len="med"/>
                    </a:lnL>
                    <a:solidFill>
                      <a:schemeClr val="accent1"/>
                    </a:solidFill>
                  </a:tcPr>
                </a:tc>
                <a:extLst>
                  <a:ext uri="{0D108BD9-81ED-4DB2-BD59-A6C34878D82A}">
                    <a16:rowId xmlns:a16="http://schemas.microsoft.com/office/drawing/2014/main" val="264294350"/>
                  </a:ext>
                </a:extLst>
              </a:tr>
              <a:tr h="212873">
                <a:tc>
                  <a:txBody>
                    <a:bodyPr/>
                    <a:lstStyle/>
                    <a:p>
                      <a:pPr algn="ctr" fontAlgn="b">
                        <a:buNone/>
                      </a:pPr>
                      <a:r>
                        <a:rPr lang="en-IN" sz="1400" b="1" i="0" u="none" strike="noStrike" dirty="0">
                          <a:solidFill>
                            <a:schemeClr val="bg1"/>
                          </a:solidFill>
                          <a:effectLst/>
                          <a:latin typeface="Calibri" panose="020F0502020204030204" pitchFamily="34" charset="0"/>
                        </a:rPr>
                        <a:t>RT_07</a:t>
                      </a:r>
                    </a:p>
                  </a:txBody>
                  <a:tcPr marL="7620" marR="7620" marT="7620" marB="0" anchor="b">
                    <a:lnR w="12700" cap="flat" cmpd="sng" algn="ctr">
                      <a:solidFill>
                        <a:schemeClr val="tx1"/>
                      </a:solidFill>
                      <a:prstDash val="solid"/>
                      <a:round/>
                      <a:headEnd type="none" w="med" len="med"/>
                      <a:tailEnd type="none" w="med" len="med"/>
                    </a:lnR>
                    <a:solidFill>
                      <a:schemeClr val="accent1"/>
                    </a:solidFill>
                  </a:tcPr>
                </a:tc>
                <a:tc>
                  <a:txBody>
                    <a:bodyPr/>
                    <a:lstStyle/>
                    <a:p>
                      <a:pPr algn="ctr" fontAlgn="b">
                        <a:buNone/>
                      </a:pPr>
                      <a:r>
                        <a:rPr lang="en-IN" sz="1400" b="1" i="0" u="none" strike="noStrike" dirty="0">
                          <a:solidFill>
                            <a:schemeClr val="bg1"/>
                          </a:solidFill>
                          <a:effectLst/>
                          <a:latin typeface="Calibri" panose="020F0502020204030204" pitchFamily="34" charset="0"/>
                        </a:rPr>
                        <a:t>58</a:t>
                      </a:r>
                    </a:p>
                  </a:txBody>
                  <a:tcPr marL="7620" marR="7620" marT="7620" marB="0" anchor="b">
                    <a:lnL w="12700" cap="flat" cmpd="sng" algn="ctr">
                      <a:solidFill>
                        <a:schemeClr val="tx1"/>
                      </a:solidFill>
                      <a:prstDash val="solid"/>
                      <a:round/>
                      <a:headEnd type="none" w="med" len="med"/>
                      <a:tailEnd type="none" w="med" len="med"/>
                    </a:lnL>
                    <a:solidFill>
                      <a:schemeClr val="accent1"/>
                    </a:solidFill>
                  </a:tcPr>
                </a:tc>
                <a:extLst>
                  <a:ext uri="{0D108BD9-81ED-4DB2-BD59-A6C34878D82A}">
                    <a16:rowId xmlns:a16="http://schemas.microsoft.com/office/drawing/2014/main" val="3556235785"/>
                  </a:ext>
                </a:extLst>
              </a:tr>
              <a:tr h="212873">
                <a:tc>
                  <a:txBody>
                    <a:bodyPr/>
                    <a:lstStyle/>
                    <a:p>
                      <a:pPr algn="ctr" fontAlgn="b">
                        <a:buNone/>
                      </a:pPr>
                      <a:r>
                        <a:rPr lang="en-IN" sz="1400" b="1" i="0" u="none" strike="noStrike" dirty="0">
                          <a:solidFill>
                            <a:schemeClr val="bg1"/>
                          </a:solidFill>
                          <a:effectLst/>
                          <a:latin typeface="Calibri" panose="020F0502020204030204" pitchFamily="34" charset="0"/>
                        </a:rPr>
                        <a:t>RT_12</a:t>
                      </a:r>
                    </a:p>
                  </a:txBody>
                  <a:tcPr marL="7620" marR="7620" marT="7620" marB="0" anchor="b">
                    <a:lnR w="12700" cap="flat" cmpd="sng" algn="ctr">
                      <a:solidFill>
                        <a:schemeClr val="tx1"/>
                      </a:solidFill>
                      <a:prstDash val="solid"/>
                      <a:round/>
                      <a:headEnd type="none" w="med" len="med"/>
                      <a:tailEnd type="none" w="med" len="med"/>
                    </a:lnR>
                    <a:solidFill>
                      <a:schemeClr val="accent1"/>
                    </a:solidFill>
                  </a:tcPr>
                </a:tc>
                <a:tc>
                  <a:txBody>
                    <a:bodyPr/>
                    <a:lstStyle/>
                    <a:p>
                      <a:pPr algn="ctr" fontAlgn="b">
                        <a:buNone/>
                      </a:pPr>
                      <a:r>
                        <a:rPr lang="en-IN" sz="1400" b="1" i="0" u="none" strike="noStrike" dirty="0">
                          <a:solidFill>
                            <a:schemeClr val="bg1"/>
                          </a:solidFill>
                          <a:effectLst/>
                          <a:latin typeface="Calibri" panose="020F0502020204030204" pitchFamily="34" charset="0"/>
                        </a:rPr>
                        <a:t>58</a:t>
                      </a:r>
                    </a:p>
                  </a:txBody>
                  <a:tcPr marL="7620" marR="7620" marT="7620" marB="0" anchor="b">
                    <a:lnL w="12700" cap="flat" cmpd="sng" algn="ctr">
                      <a:solidFill>
                        <a:schemeClr val="tx1"/>
                      </a:solidFill>
                      <a:prstDash val="solid"/>
                      <a:round/>
                      <a:headEnd type="none" w="med" len="med"/>
                      <a:tailEnd type="none" w="med" len="med"/>
                    </a:lnL>
                    <a:solidFill>
                      <a:schemeClr val="accent1"/>
                    </a:solidFill>
                  </a:tcPr>
                </a:tc>
                <a:extLst>
                  <a:ext uri="{0D108BD9-81ED-4DB2-BD59-A6C34878D82A}">
                    <a16:rowId xmlns:a16="http://schemas.microsoft.com/office/drawing/2014/main" val="2979625947"/>
                  </a:ext>
                </a:extLst>
              </a:tr>
              <a:tr h="212873">
                <a:tc>
                  <a:txBody>
                    <a:bodyPr/>
                    <a:lstStyle/>
                    <a:p>
                      <a:pPr algn="ctr" fontAlgn="b">
                        <a:buNone/>
                      </a:pPr>
                      <a:r>
                        <a:rPr lang="en-IN" sz="1400" b="1" i="0" u="none" strike="noStrike" dirty="0">
                          <a:solidFill>
                            <a:schemeClr val="bg1"/>
                          </a:solidFill>
                          <a:effectLst/>
                          <a:latin typeface="Calibri" panose="020F0502020204030204" pitchFamily="34" charset="0"/>
                        </a:rPr>
                        <a:t>RT_13</a:t>
                      </a:r>
                    </a:p>
                  </a:txBody>
                  <a:tcPr marL="7620" marR="7620" marT="7620" marB="0" anchor="b">
                    <a:lnR w="12700" cap="flat" cmpd="sng" algn="ctr">
                      <a:solidFill>
                        <a:schemeClr val="tx1"/>
                      </a:solidFill>
                      <a:prstDash val="solid"/>
                      <a:round/>
                      <a:headEnd type="none" w="med" len="med"/>
                      <a:tailEnd type="none" w="med" len="med"/>
                    </a:lnR>
                    <a:solidFill>
                      <a:schemeClr val="accent1"/>
                    </a:solidFill>
                  </a:tcPr>
                </a:tc>
                <a:tc>
                  <a:txBody>
                    <a:bodyPr/>
                    <a:lstStyle/>
                    <a:p>
                      <a:pPr algn="ctr" fontAlgn="b">
                        <a:buNone/>
                      </a:pPr>
                      <a:r>
                        <a:rPr lang="en-IN" sz="1400" b="1" i="0" u="none" strike="noStrike" dirty="0">
                          <a:solidFill>
                            <a:schemeClr val="bg1"/>
                          </a:solidFill>
                          <a:effectLst/>
                          <a:latin typeface="Calibri" panose="020F0502020204030204" pitchFamily="34" charset="0"/>
                        </a:rPr>
                        <a:t>56</a:t>
                      </a:r>
                    </a:p>
                  </a:txBody>
                  <a:tcPr marL="7620" marR="7620" marT="7620" marB="0" anchor="b">
                    <a:lnL w="12700" cap="flat" cmpd="sng" algn="ctr">
                      <a:solidFill>
                        <a:schemeClr val="tx1"/>
                      </a:solidFill>
                      <a:prstDash val="solid"/>
                      <a:round/>
                      <a:headEnd type="none" w="med" len="med"/>
                      <a:tailEnd type="none" w="med" len="med"/>
                    </a:lnL>
                    <a:solidFill>
                      <a:schemeClr val="accent1"/>
                    </a:solidFill>
                  </a:tcPr>
                </a:tc>
                <a:extLst>
                  <a:ext uri="{0D108BD9-81ED-4DB2-BD59-A6C34878D82A}">
                    <a16:rowId xmlns:a16="http://schemas.microsoft.com/office/drawing/2014/main" val="3649392773"/>
                  </a:ext>
                </a:extLst>
              </a:tr>
              <a:tr h="212873">
                <a:tc>
                  <a:txBody>
                    <a:bodyPr/>
                    <a:lstStyle/>
                    <a:p>
                      <a:pPr algn="ctr" fontAlgn="b">
                        <a:buNone/>
                      </a:pPr>
                      <a:r>
                        <a:rPr lang="en-IN" sz="1400" b="1" i="0" u="none" strike="noStrike" dirty="0">
                          <a:solidFill>
                            <a:schemeClr val="bg1"/>
                          </a:solidFill>
                          <a:effectLst/>
                          <a:latin typeface="Calibri" panose="020F0502020204030204" pitchFamily="34" charset="0"/>
                        </a:rPr>
                        <a:t>RT_05</a:t>
                      </a:r>
                    </a:p>
                  </a:txBody>
                  <a:tcPr marL="7620" marR="7620" marT="7620" marB="0" anchor="b">
                    <a:lnR w="12700" cap="flat" cmpd="sng" algn="ctr">
                      <a:solidFill>
                        <a:schemeClr val="tx1"/>
                      </a:solidFill>
                      <a:prstDash val="solid"/>
                      <a:round/>
                      <a:headEnd type="none" w="med" len="med"/>
                      <a:tailEnd type="none" w="med" len="med"/>
                    </a:lnR>
                    <a:solidFill>
                      <a:schemeClr val="accent1"/>
                    </a:solidFill>
                  </a:tcPr>
                </a:tc>
                <a:tc>
                  <a:txBody>
                    <a:bodyPr/>
                    <a:lstStyle/>
                    <a:p>
                      <a:pPr algn="ctr" fontAlgn="b">
                        <a:buNone/>
                      </a:pPr>
                      <a:r>
                        <a:rPr lang="en-IN" sz="1400" b="1" i="0" u="none" strike="noStrike" dirty="0">
                          <a:solidFill>
                            <a:schemeClr val="bg1"/>
                          </a:solidFill>
                          <a:effectLst/>
                          <a:latin typeface="Calibri" panose="020F0502020204030204" pitchFamily="34" charset="0"/>
                        </a:rPr>
                        <a:t>55</a:t>
                      </a:r>
                    </a:p>
                  </a:txBody>
                  <a:tcPr marL="7620" marR="7620" marT="7620" marB="0" anchor="b">
                    <a:lnL w="12700" cap="flat" cmpd="sng" algn="ctr">
                      <a:solidFill>
                        <a:schemeClr val="tx1"/>
                      </a:solidFill>
                      <a:prstDash val="solid"/>
                      <a:round/>
                      <a:headEnd type="none" w="med" len="med"/>
                      <a:tailEnd type="none" w="med" len="med"/>
                    </a:lnL>
                    <a:solidFill>
                      <a:schemeClr val="accent1"/>
                    </a:solidFill>
                  </a:tcPr>
                </a:tc>
                <a:extLst>
                  <a:ext uri="{0D108BD9-81ED-4DB2-BD59-A6C34878D82A}">
                    <a16:rowId xmlns:a16="http://schemas.microsoft.com/office/drawing/2014/main" val="49479355"/>
                  </a:ext>
                </a:extLst>
              </a:tr>
              <a:tr h="212873">
                <a:tc>
                  <a:txBody>
                    <a:bodyPr/>
                    <a:lstStyle/>
                    <a:p>
                      <a:pPr algn="ctr" fontAlgn="b">
                        <a:buNone/>
                      </a:pPr>
                      <a:r>
                        <a:rPr lang="en-IN" sz="1400" b="1" i="0" u="none" strike="noStrike" dirty="0">
                          <a:solidFill>
                            <a:schemeClr val="bg1"/>
                          </a:solidFill>
                          <a:effectLst/>
                          <a:latin typeface="Calibri" panose="020F0502020204030204" pitchFamily="34" charset="0"/>
                        </a:rPr>
                        <a:t>RT_19</a:t>
                      </a:r>
                    </a:p>
                  </a:txBody>
                  <a:tcPr marL="7620" marR="7620" marT="7620" marB="0" anchor="b">
                    <a:lnR w="12700" cap="flat" cmpd="sng" algn="ctr">
                      <a:solidFill>
                        <a:schemeClr val="tx1"/>
                      </a:solidFill>
                      <a:prstDash val="solid"/>
                      <a:round/>
                      <a:headEnd type="none" w="med" len="med"/>
                      <a:tailEnd type="none" w="med" len="med"/>
                    </a:lnR>
                    <a:solidFill>
                      <a:schemeClr val="accent1"/>
                    </a:solidFill>
                  </a:tcPr>
                </a:tc>
                <a:tc>
                  <a:txBody>
                    <a:bodyPr/>
                    <a:lstStyle/>
                    <a:p>
                      <a:pPr algn="ctr" fontAlgn="b">
                        <a:buNone/>
                      </a:pPr>
                      <a:r>
                        <a:rPr lang="en-IN" sz="1400" b="1" i="0" u="none" strike="noStrike" dirty="0">
                          <a:solidFill>
                            <a:schemeClr val="bg1"/>
                          </a:solidFill>
                          <a:effectLst/>
                          <a:latin typeface="Calibri" panose="020F0502020204030204" pitchFamily="34" charset="0"/>
                        </a:rPr>
                        <a:t>50</a:t>
                      </a:r>
                    </a:p>
                  </a:txBody>
                  <a:tcPr marL="7620" marR="7620" marT="7620" marB="0" anchor="b">
                    <a:lnL w="12700" cap="flat" cmpd="sng" algn="ctr">
                      <a:solidFill>
                        <a:schemeClr val="tx1"/>
                      </a:solidFill>
                      <a:prstDash val="solid"/>
                      <a:round/>
                      <a:headEnd type="none" w="med" len="med"/>
                      <a:tailEnd type="none" w="med" len="med"/>
                    </a:lnL>
                    <a:solidFill>
                      <a:schemeClr val="accent1"/>
                    </a:solidFill>
                  </a:tcPr>
                </a:tc>
                <a:extLst>
                  <a:ext uri="{0D108BD9-81ED-4DB2-BD59-A6C34878D82A}">
                    <a16:rowId xmlns:a16="http://schemas.microsoft.com/office/drawing/2014/main" val="394820002"/>
                  </a:ext>
                </a:extLst>
              </a:tr>
              <a:tr h="212873">
                <a:tc>
                  <a:txBody>
                    <a:bodyPr/>
                    <a:lstStyle/>
                    <a:p>
                      <a:pPr algn="ctr" fontAlgn="b">
                        <a:buNone/>
                      </a:pPr>
                      <a:r>
                        <a:rPr lang="en-IN" sz="1400" b="1" i="0" u="none" strike="noStrike" dirty="0">
                          <a:solidFill>
                            <a:schemeClr val="bg1"/>
                          </a:solidFill>
                          <a:effectLst/>
                          <a:latin typeface="Calibri" panose="020F0502020204030204" pitchFamily="34" charset="0"/>
                        </a:rPr>
                        <a:t>RT_20</a:t>
                      </a:r>
                    </a:p>
                  </a:txBody>
                  <a:tcPr marL="7620" marR="7620" marT="7620" marB="0" anchor="b">
                    <a:lnR w="12700" cap="flat" cmpd="sng" algn="ctr">
                      <a:solidFill>
                        <a:schemeClr val="tx1"/>
                      </a:solidFill>
                      <a:prstDash val="solid"/>
                      <a:round/>
                      <a:headEnd type="none" w="med" len="med"/>
                      <a:tailEnd type="none" w="med" len="med"/>
                    </a:lnR>
                    <a:solidFill>
                      <a:schemeClr val="accent1"/>
                    </a:solidFill>
                  </a:tcPr>
                </a:tc>
                <a:tc>
                  <a:txBody>
                    <a:bodyPr/>
                    <a:lstStyle/>
                    <a:p>
                      <a:pPr algn="ctr" fontAlgn="b">
                        <a:buNone/>
                      </a:pPr>
                      <a:r>
                        <a:rPr lang="en-IN" sz="1400" b="1" i="0" u="none" strike="noStrike" dirty="0">
                          <a:solidFill>
                            <a:schemeClr val="bg1"/>
                          </a:solidFill>
                          <a:effectLst/>
                          <a:latin typeface="Calibri" panose="020F0502020204030204" pitchFamily="34" charset="0"/>
                        </a:rPr>
                        <a:t>37</a:t>
                      </a:r>
                    </a:p>
                  </a:txBody>
                  <a:tcPr marL="7620" marR="7620" marT="7620" marB="0" anchor="b">
                    <a:lnL w="12700" cap="flat" cmpd="sng" algn="ctr">
                      <a:solidFill>
                        <a:schemeClr val="tx1"/>
                      </a:solidFill>
                      <a:prstDash val="solid"/>
                      <a:round/>
                      <a:headEnd type="none" w="med" len="med"/>
                      <a:tailEnd type="none" w="med" len="med"/>
                    </a:lnL>
                    <a:solidFill>
                      <a:schemeClr val="accent1"/>
                    </a:solidFill>
                  </a:tcPr>
                </a:tc>
                <a:extLst>
                  <a:ext uri="{0D108BD9-81ED-4DB2-BD59-A6C34878D82A}">
                    <a16:rowId xmlns:a16="http://schemas.microsoft.com/office/drawing/2014/main" val="1956167601"/>
                  </a:ext>
                </a:extLst>
              </a:tr>
            </a:tbl>
          </a:graphicData>
        </a:graphic>
      </p:graphicFrame>
      <p:sp>
        <p:nvSpPr>
          <p:cNvPr id="10" name="TextBox 9">
            <a:extLst>
              <a:ext uri="{FF2B5EF4-FFF2-40B4-BE49-F238E27FC236}">
                <a16:creationId xmlns:a16="http://schemas.microsoft.com/office/drawing/2014/main" id="{F1D38AB4-9848-3749-3BE7-3AAE9A80A101}"/>
              </a:ext>
            </a:extLst>
          </p:cNvPr>
          <p:cNvSpPr txBox="1"/>
          <p:nvPr/>
        </p:nvSpPr>
        <p:spPr>
          <a:xfrm>
            <a:off x="1420150" y="2891538"/>
            <a:ext cx="3773790" cy="369332"/>
          </a:xfrm>
          <a:prstGeom prst="rect">
            <a:avLst/>
          </a:prstGeom>
          <a:noFill/>
        </p:spPr>
        <p:txBody>
          <a:bodyPr wrap="none" rtlCol="0">
            <a:spAutoFit/>
          </a:bodyPr>
          <a:lstStyle/>
          <a:p>
            <a:r>
              <a:rPr lang="en-US" dirty="0"/>
              <a:t> </a:t>
            </a:r>
            <a:r>
              <a:rPr lang="en-US" b="1" dirty="0">
                <a:latin typeface="Calibri" panose="020F0502020204030204" pitchFamily="34" charset="0"/>
                <a:cs typeface="Calibri" panose="020F0502020204030204" pitchFamily="34" charset="0"/>
              </a:rPr>
              <a:t>Average Traffic Delay(Min) per route </a:t>
            </a:r>
            <a:endParaRPr lang="en-IN" b="1"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ABB09474-A90B-96F3-4412-6F64C7E33BCD}"/>
              </a:ext>
            </a:extLst>
          </p:cNvPr>
          <p:cNvSpPr txBox="1"/>
          <p:nvPr/>
        </p:nvSpPr>
        <p:spPr>
          <a:xfrm>
            <a:off x="5144076" y="4950070"/>
            <a:ext cx="6100916" cy="646331"/>
          </a:xfrm>
          <a:prstGeom prst="rect">
            <a:avLst/>
          </a:prstGeom>
          <a:noFill/>
        </p:spPr>
        <p:txBody>
          <a:bodyPr wrap="square">
            <a:spAutoFit/>
          </a:bodyPr>
          <a:lstStyle/>
          <a:p>
            <a:r>
              <a:rPr lang="en-IN" dirty="0">
                <a:hlinkClick r:id="rId2"/>
              </a:rPr>
              <a:t>https://www.loom.com/share/b921e5e364d04bfea5ed003c4304e8bc</a:t>
            </a:r>
            <a:endParaRPr lang="en-IN" dirty="0"/>
          </a:p>
        </p:txBody>
      </p:sp>
      <p:sp>
        <p:nvSpPr>
          <p:cNvPr id="2" name="TextBox 1">
            <a:extLst>
              <a:ext uri="{FF2B5EF4-FFF2-40B4-BE49-F238E27FC236}">
                <a16:creationId xmlns:a16="http://schemas.microsoft.com/office/drawing/2014/main" id="{E5DE39E3-EDB4-48D6-480D-0236DC91A804}"/>
              </a:ext>
            </a:extLst>
          </p:cNvPr>
          <p:cNvSpPr txBox="1"/>
          <p:nvPr/>
        </p:nvSpPr>
        <p:spPr>
          <a:xfrm>
            <a:off x="5144076" y="3920804"/>
            <a:ext cx="4508863" cy="369332"/>
          </a:xfrm>
          <a:prstGeom prst="rect">
            <a:avLst/>
          </a:prstGeom>
          <a:noFill/>
        </p:spPr>
        <p:txBody>
          <a:bodyPr wrap="none" rtlCol="0">
            <a:spAutoFit/>
          </a:bodyPr>
          <a:lstStyle/>
          <a:p>
            <a:r>
              <a:rPr lang="en-US" dirty="0"/>
              <a:t>Please click the link below to access recording</a:t>
            </a:r>
            <a:endParaRPr lang="en-IN" dirty="0"/>
          </a:p>
        </p:txBody>
      </p:sp>
      <p:sp>
        <p:nvSpPr>
          <p:cNvPr id="6" name="Arrow: Down 5">
            <a:extLst>
              <a:ext uri="{FF2B5EF4-FFF2-40B4-BE49-F238E27FC236}">
                <a16:creationId xmlns:a16="http://schemas.microsoft.com/office/drawing/2014/main" id="{5CB7B931-4D97-00A6-D148-E6247A907DD7}"/>
              </a:ext>
            </a:extLst>
          </p:cNvPr>
          <p:cNvSpPr/>
          <p:nvPr/>
        </p:nvSpPr>
        <p:spPr>
          <a:xfrm>
            <a:off x="6969967" y="4357396"/>
            <a:ext cx="261257" cy="59267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941178946"/>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704</TotalTime>
  <Words>2776</Words>
  <Application>Microsoft Office PowerPoint</Application>
  <PresentationFormat>Widescreen</PresentationFormat>
  <Paragraphs>572</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Gill Sans MT</vt:lpstr>
      <vt:lpstr>Wingdings</vt:lpstr>
      <vt:lpstr>Gallery</vt:lpstr>
      <vt:lpstr>FLIPKART LOGISTICS OPTIMIZATION FOR DELIVERY ROUTES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Mohit Bokade</dc:creator>
  <cp:lastModifiedBy>Mohit Bokade</cp:lastModifiedBy>
  <cp:revision>76</cp:revision>
  <dcterms:created xsi:type="dcterms:W3CDTF">2025-11-01T06:18:00Z</dcterms:created>
  <dcterms:modified xsi:type="dcterms:W3CDTF">2025-11-03T11:42:56Z</dcterms:modified>
</cp:coreProperties>
</file>